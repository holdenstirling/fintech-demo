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EEE6"/>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CC785C"/>
          </a:solidFill>
          <a:ln w="12700">
            <a:solidFill>
              <a:srgbClr val="CC785C"/>
            </a:solidFill>
            <a:prstDash val="solid"/>
          </a:ln>
        </p:spPr>
      </p:sp>
      <p:sp>
        <p:nvSpPr>
          <p:cNvPr id="3" name="Shape 1"/>
          <p:cNvSpPr/>
          <p:nvPr/>
        </p:nvSpPr>
        <p:spPr>
          <a:xfrm>
            <a:off x="548640" y="548640"/>
            <a:ext cx="201168" cy="201168"/>
          </a:xfrm>
          <a:prstGeom prst="rect">
            <a:avLst/>
          </a:prstGeom>
          <a:solidFill>
            <a:srgbClr val="FFFFFF"/>
          </a:solidFill>
          <a:ln w="12700">
            <a:solidFill>
              <a:srgbClr val="FFFFFF"/>
            </a:solidFill>
            <a:prstDash val="solid"/>
          </a:ln>
        </p:spPr>
      </p:sp>
      <p:sp>
        <p:nvSpPr>
          <p:cNvPr id="4" name="Text 2"/>
          <p:cNvSpPr/>
          <p:nvPr/>
        </p:nvSpPr>
        <p:spPr>
          <a:xfrm>
            <a:off x="868680" y="475488"/>
            <a:ext cx="2743200" cy="36576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ANTHROPIC</a:t>
            </a:r>
            <a:endParaRPr lang="en-US" sz="1100" dirty="0"/>
          </a:p>
        </p:txBody>
      </p:sp>
      <p:sp>
        <p:nvSpPr>
          <p:cNvPr id="5" name="Text 3"/>
          <p:cNvSpPr/>
          <p:nvPr/>
        </p:nvSpPr>
        <p:spPr>
          <a:xfrm>
            <a:off x="4572000" y="2103120"/>
            <a:ext cx="7315200" cy="365760"/>
          </a:xfrm>
          <a:prstGeom prst="rect">
            <a:avLst/>
          </a:prstGeom>
          <a:noFill/>
          <a:ln/>
        </p:spPr>
        <p:txBody>
          <a:bodyPr wrap="square" rtlCol="0" anchor="ctr"/>
          <a:lstStyle/>
          <a:p>
            <a:pPr indent="0" marL="0">
              <a:buNone/>
            </a:pPr>
            <a:r>
              <a:rPr lang="en-US" sz="1200" b="1" spc="200" kern="0" dirty="0">
                <a:solidFill>
                  <a:srgbClr val="CC785C"/>
                </a:solidFill>
                <a:latin typeface="Calibri" pitchFamily="34" charset="0"/>
                <a:ea typeface="Calibri" pitchFamily="34" charset="-122"/>
                <a:cs typeface="Calibri" pitchFamily="34" charset="-120"/>
              </a:rPr>
              <a:t>A working session with FinTechCo</a:t>
            </a:r>
            <a:endParaRPr lang="en-US" sz="1200" dirty="0"/>
          </a:p>
        </p:txBody>
      </p:sp>
      <p:sp>
        <p:nvSpPr>
          <p:cNvPr id="6" name="Text 4"/>
          <p:cNvSpPr/>
          <p:nvPr/>
        </p:nvSpPr>
        <p:spPr>
          <a:xfrm>
            <a:off x="4572000" y="2514600"/>
            <a:ext cx="7315200" cy="914400"/>
          </a:xfrm>
          <a:prstGeom prst="rect">
            <a:avLst/>
          </a:prstGeom>
          <a:noFill/>
          <a:ln/>
        </p:spPr>
        <p:txBody>
          <a:bodyPr wrap="square" rtlCol="0" anchor="ctr"/>
          <a:lstStyle/>
          <a:p>
            <a:pPr indent="0" marL="0">
              <a:buNone/>
            </a:pPr>
            <a:r>
              <a:rPr lang="en-US" sz="5400" dirty="0">
                <a:solidFill>
                  <a:srgbClr val="1F1F1E"/>
                </a:solidFill>
                <a:latin typeface="Georgia" pitchFamily="34" charset="0"/>
                <a:ea typeface="Georgia" pitchFamily="34" charset="-122"/>
                <a:cs typeface="Georgia" pitchFamily="34" charset="-120"/>
              </a:rPr>
              <a:t>Claude Code</a:t>
            </a:r>
            <a:endParaRPr lang="en-US" sz="5400" dirty="0"/>
          </a:p>
        </p:txBody>
      </p:sp>
      <p:sp>
        <p:nvSpPr>
          <p:cNvPr id="7" name="Text 5"/>
          <p:cNvSpPr/>
          <p:nvPr/>
        </p:nvSpPr>
        <p:spPr>
          <a:xfrm>
            <a:off x="4572000" y="3566160"/>
            <a:ext cx="7132320" cy="1280160"/>
          </a:xfrm>
          <a:prstGeom prst="rect">
            <a:avLst/>
          </a:prstGeom>
          <a:noFill/>
          <a:ln/>
        </p:spPr>
        <p:txBody>
          <a:bodyPr wrap="square" rtlCol="0" anchor="ctr"/>
          <a:lstStyle/>
          <a:p>
            <a:pPr indent="0" marL="0">
              <a:lnSpc>
                <a:spcPct val="120000"/>
              </a:lnSpc>
              <a:buNone/>
            </a:pPr>
            <a:r>
              <a:rPr lang="en-US" sz="1800" dirty="0">
                <a:solidFill>
                  <a:srgbClr val="1F1F1E"/>
                </a:solidFill>
                <a:latin typeface="Calibri" pitchFamily="34" charset="0"/>
                <a:ea typeface="Calibri" pitchFamily="34" charset="-122"/>
                <a:cs typeface="Calibri" pitchFamily="34" charset="-120"/>
              </a:rPr>
              <a:t>How 180 engineers ship faster,</a:t>
            </a:r>
            <a:endParaRPr lang="en-US" sz="1800" dirty="0"/>
          </a:p>
          <a:p>
            <a:pPr indent="0" marL="0">
              <a:lnSpc>
                <a:spcPct val="120000"/>
              </a:lnSpc>
              <a:buNone/>
            </a:pPr>
            <a:r>
              <a:rPr lang="en-US" sz="1800" dirty="0">
                <a:solidFill>
                  <a:srgbClr val="1F1F1E"/>
                </a:solidFill>
                <a:latin typeface="Calibri" pitchFamily="34" charset="0"/>
                <a:ea typeface="Calibri" pitchFamily="34" charset="-122"/>
                <a:cs typeface="Calibri" pitchFamily="34" charset="-120"/>
              </a:rPr>
              <a:t>with the controls your auditors expect.</a:t>
            </a:r>
            <a:endParaRPr lang="en-US" sz="1800" dirty="0"/>
          </a:p>
        </p:txBody>
      </p:sp>
      <p:sp>
        <p:nvSpPr>
          <p:cNvPr id="8" name="Shape 6"/>
          <p:cNvSpPr/>
          <p:nvPr/>
        </p:nvSpPr>
        <p:spPr>
          <a:xfrm>
            <a:off x="4572000" y="5120640"/>
            <a:ext cx="2011680" cy="0"/>
          </a:xfrm>
          <a:prstGeom prst="line">
            <a:avLst/>
          </a:prstGeom>
          <a:noFill/>
          <a:ln w="25400">
            <a:solidFill>
              <a:srgbClr val="CC785C"/>
            </a:solidFill>
            <a:prstDash val="solid"/>
          </a:ln>
        </p:spPr>
      </p:sp>
      <p:sp>
        <p:nvSpPr>
          <p:cNvPr id="9" name="Text 7"/>
          <p:cNvSpPr/>
          <p:nvPr/>
        </p:nvSpPr>
        <p:spPr>
          <a:xfrm>
            <a:off x="4572000" y="5257800"/>
            <a:ext cx="4572000" cy="32004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Holden Ottolini</a:t>
            </a:r>
            <a:endParaRPr lang="en-US" sz="1400" dirty="0"/>
          </a:p>
        </p:txBody>
      </p:sp>
      <p:sp>
        <p:nvSpPr>
          <p:cNvPr id="10" name="Text 8"/>
          <p:cNvSpPr/>
          <p:nvPr/>
        </p:nvSpPr>
        <p:spPr>
          <a:xfrm>
            <a:off x="4572000" y="5532120"/>
            <a:ext cx="4572000" cy="274320"/>
          </a:xfrm>
          <a:prstGeom prst="rect">
            <a:avLst/>
          </a:prstGeom>
          <a:noFill/>
          <a:ln/>
        </p:spPr>
        <p:txBody>
          <a:bodyPr wrap="square" rtlCol="0" anchor="ctr"/>
          <a:lstStyle/>
          <a:p>
            <a:pPr indent="0" marL="0">
              <a:buNone/>
            </a:pPr>
            <a:r>
              <a:rPr lang="en-US" sz="1200" dirty="0">
                <a:solidFill>
                  <a:srgbClr val="6B6760"/>
                </a:solidFill>
                <a:latin typeface="Calibri" pitchFamily="34" charset="0"/>
                <a:ea typeface="Calibri" pitchFamily="34" charset="-122"/>
                <a:cs typeface="Calibri" pitchFamily="34" charset="-120"/>
              </a:rPr>
              <a:t>Solutions Engineering, Anthropic</a:t>
            </a:r>
            <a:endParaRPr lang="en-US" sz="1200" dirty="0"/>
          </a:p>
        </p:txBody>
      </p:sp>
      <p:sp>
        <p:nvSpPr>
          <p:cNvPr id="11" name="Text 9"/>
          <p:cNvSpPr/>
          <p:nvPr/>
        </p:nvSpPr>
        <p:spPr>
          <a:xfrm>
            <a:off x="4572000" y="5806440"/>
            <a:ext cx="4572000" cy="274320"/>
          </a:xfrm>
          <a:prstGeom prst="rect">
            <a:avLst/>
          </a:prstGeom>
          <a:noFill/>
          <a:ln/>
        </p:spPr>
        <p:txBody>
          <a:bodyPr wrap="square" rtlCol="0" anchor="ctr"/>
          <a:lstStyle/>
          <a:p>
            <a:pPr indent="0" marL="0">
              <a:buNone/>
            </a:pPr>
            <a:r>
              <a:rPr lang="en-US" sz="1200" dirty="0">
                <a:solidFill>
                  <a:srgbClr val="6B6760"/>
                </a:solidFill>
                <a:latin typeface="Calibri" pitchFamily="34" charset="0"/>
                <a:ea typeface="Calibri" pitchFamily="34" charset="-122"/>
                <a:cs typeface="Calibri" pitchFamily="34" charset="-120"/>
              </a:rPr>
              <a:t>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AGENDA  ·  40 MINUTES</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Here's how we'll use our time together.</a:t>
            </a:r>
            <a:endParaRPr lang="en-US" sz="3400" dirty="0"/>
          </a:p>
        </p:txBody>
      </p:sp>
      <p:sp>
        <p:nvSpPr>
          <p:cNvPr id="7" name="Text 5"/>
          <p:cNvSpPr/>
          <p:nvPr/>
        </p:nvSpPr>
        <p:spPr>
          <a:xfrm>
            <a:off x="502920" y="1828800"/>
            <a:ext cx="822960" cy="457200"/>
          </a:xfrm>
          <a:prstGeom prst="rect">
            <a:avLst/>
          </a:prstGeom>
          <a:noFill/>
          <a:ln/>
        </p:spPr>
        <p:txBody>
          <a:bodyPr wrap="square" rtlCol="0" anchor="ctr"/>
          <a:lstStyle/>
          <a:p>
            <a:pPr indent="0" marL="0">
              <a:buNone/>
            </a:pPr>
            <a:r>
              <a:rPr lang="en-US" sz="2800" i="1" dirty="0">
                <a:solidFill>
                  <a:srgbClr val="CC785C"/>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1417320" y="1828800"/>
            <a:ext cx="5669280" cy="411480"/>
          </a:xfrm>
          <a:prstGeom prst="rect">
            <a:avLst/>
          </a:prstGeom>
          <a:noFill/>
          <a:ln/>
        </p:spPr>
        <p:txBody>
          <a:bodyPr wrap="square" rtlCol="0" anchor="ctr"/>
          <a:lstStyle/>
          <a:p>
            <a:pPr indent="0" marL="0">
              <a:buNone/>
            </a:pPr>
            <a:r>
              <a:rPr lang="en-US" sz="1600" b="1" dirty="0">
                <a:solidFill>
                  <a:srgbClr val="1F1F1E"/>
                </a:solidFill>
                <a:latin typeface="Calibri" pitchFamily="34" charset="0"/>
                <a:ea typeface="Calibri" pitchFamily="34" charset="-122"/>
                <a:cs typeface="Calibri" pitchFamily="34" charset="-120"/>
              </a:rPr>
              <a:t>What is Claude Code?</a:t>
            </a:r>
            <a:endParaRPr lang="en-US" sz="1600" dirty="0"/>
          </a:p>
        </p:txBody>
      </p:sp>
      <p:sp>
        <p:nvSpPr>
          <p:cNvPr id="9" name="Text 7"/>
          <p:cNvSpPr/>
          <p:nvPr/>
        </p:nvSpPr>
        <p:spPr>
          <a:xfrm>
            <a:off x="1417320" y="2240280"/>
            <a:ext cx="10058400" cy="502920"/>
          </a:xfrm>
          <a:prstGeom prst="rect">
            <a:avLst/>
          </a:prstGeom>
          <a:noFill/>
          <a:ln/>
        </p:spPr>
        <p:txBody>
          <a:bodyPr wrap="square" rtlCol="0" anchor="ctr"/>
          <a:lstStyle/>
          <a:p>
            <a:pPr indent="0" marL="0">
              <a:lnSpc>
                <a:spcPct val="115000"/>
              </a:lnSpc>
              <a:buNone/>
            </a:pPr>
            <a:r>
              <a:rPr lang="en-US" sz="1150" dirty="0">
                <a:solidFill>
                  <a:srgbClr val="6B6760"/>
                </a:solidFill>
                <a:latin typeface="Calibri" pitchFamily="34" charset="0"/>
                <a:ea typeface="Calibri" pitchFamily="34" charset="-122"/>
                <a:cs typeface="Calibri" pitchFamily="34" charset="-120"/>
              </a:rPr>
              <a:t>A friendly, plain English introduction. We'll cover how it works, how it keeps your environment safe, and what makes it a good fit for a regulated team like yours.</a:t>
            </a:r>
            <a:endParaRPr lang="en-US" sz="1150" dirty="0"/>
          </a:p>
        </p:txBody>
      </p:sp>
      <p:sp>
        <p:nvSpPr>
          <p:cNvPr id="10" name="Text 8"/>
          <p:cNvSpPr/>
          <p:nvPr/>
        </p:nvSpPr>
        <p:spPr>
          <a:xfrm>
            <a:off x="502920" y="2761488"/>
            <a:ext cx="822960" cy="457200"/>
          </a:xfrm>
          <a:prstGeom prst="rect">
            <a:avLst/>
          </a:prstGeom>
          <a:noFill/>
          <a:ln/>
        </p:spPr>
        <p:txBody>
          <a:bodyPr wrap="square" rtlCol="0" anchor="ctr"/>
          <a:lstStyle/>
          <a:p>
            <a:pPr indent="0" marL="0">
              <a:buNone/>
            </a:pPr>
            <a:r>
              <a:rPr lang="en-US" sz="2800" i="1" dirty="0">
                <a:solidFill>
                  <a:srgbClr val="CC785C"/>
                </a:solidFill>
                <a:latin typeface="Georgia" pitchFamily="34" charset="0"/>
                <a:ea typeface="Georgia" pitchFamily="34" charset="-122"/>
                <a:cs typeface="Georgia" pitchFamily="34" charset="-120"/>
              </a:rPr>
              <a:t>02</a:t>
            </a:r>
            <a:endParaRPr lang="en-US" sz="2800" dirty="0"/>
          </a:p>
        </p:txBody>
      </p:sp>
      <p:sp>
        <p:nvSpPr>
          <p:cNvPr id="11" name="Text 9"/>
          <p:cNvSpPr/>
          <p:nvPr/>
        </p:nvSpPr>
        <p:spPr>
          <a:xfrm>
            <a:off x="1417320" y="2761488"/>
            <a:ext cx="5669280" cy="411480"/>
          </a:xfrm>
          <a:prstGeom prst="rect">
            <a:avLst/>
          </a:prstGeom>
          <a:noFill/>
          <a:ln/>
        </p:spPr>
        <p:txBody>
          <a:bodyPr wrap="square" rtlCol="0" anchor="ctr"/>
          <a:lstStyle/>
          <a:p>
            <a:pPr indent="0" marL="0">
              <a:buNone/>
            </a:pPr>
            <a:r>
              <a:rPr lang="en-US" sz="1600" b="1" dirty="0">
                <a:solidFill>
                  <a:srgbClr val="1F1F1E"/>
                </a:solidFill>
                <a:latin typeface="Calibri" pitchFamily="34" charset="0"/>
                <a:ea typeface="Calibri" pitchFamily="34" charset="-122"/>
                <a:cs typeface="Calibri" pitchFamily="34" charset="-120"/>
              </a:rPr>
              <a:t>Why are we here today?</a:t>
            </a:r>
            <a:endParaRPr lang="en-US" sz="1600" dirty="0"/>
          </a:p>
        </p:txBody>
      </p:sp>
      <p:sp>
        <p:nvSpPr>
          <p:cNvPr id="12" name="Text 10"/>
          <p:cNvSpPr/>
          <p:nvPr/>
        </p:nvSpPr>
        <p:spPr>
          <a:xfrm>
            <a:off x="1417320" y="3172968"/>
            <a:ext cx="10058400" cy="502920"/>
          </a:xfrm>
          <a:prstGeom prst="rect">
            <a:avLst/>
          </a:prstGeom>
          <a:noFill/>
          <a:ln/>
        </p:spPr>
        <p:txBody>
          <a:bodyPr wrap="square" rtlCol="0" anchor="ctr"/>
          <a:lstStyle/>
          <a:p>
            <a:pPr indent="0" marL="0">
              <a:lnSpc>
                <a:spcPct val="115000"/>
              </a:lnSpc>
              <a:buNone/>
            </a:pPr>
            <a:r>
              <a:rPr lang="en-US" sz="1150" dirty="0">
                <a:solidFill>
                  <a:srgbClr val="6B6760"/>
                </a:solidFill>
                <a:latin typeface="Calibri" pitchFamily="34" charset="0"/>
                <a:ea typeface="Calibri" pitchFamily="34" charset="-122"/>
                <a:cs typeface="Calibri" pitchFamily="34" charset="-120"/>
              </a:rPr>
              <a:t>A short conversation about what you're actually trying to solve for. The more I understand your world, the more useful the rest of our time will be.</a:t>
            </a:r>
            <a:endParaRPr lang="en-US" sz="1150" dirty="0"/>
          </a:p>
        </p:txBody>
      </p:sp>
      <p:sp>
        <p:nvSpPr>
          <p:cNvPr id="13" name="Text 11"/>
          <p:cNvSpPr/>
          <p:nvPr/>
        </p:nvSpPr>
        <p:spPr>
          <a:xfrm>
            <a:off x="502920" y="3694176"/>
            <a:ext cx="822960" cy="457200"/>
          </a:xfrm>
          <a:prstGeom prst="rect">
            <a:avLst/>
          </a:prstGeom>
          <a:noFill/>
          <a:ln/>
        </p:spPr>
        <p:txBody>
          <a:bodyPr wrap="square" rtlCol="0" anchor="ctr"/>
          <a:lstStyle/>
          <a:p>
            <a:pPr indent="0" marL="0">
              <a:buNone/>
            </a:pPr>
            <a:r>
              <a:rPr lang="en-US" sz="2800" i="1" dirty="0">
                <a:solidFill>
                  <a:srgbClr val="CC785C"/>
                </a:solidFill>
                <a:latin typeface="Georgia" pitchFamily="34" charset="0"/>
                <a:ea typeface="Georgia" pitchFamily="34" charset="-122"/>
                <a:cs typeface="Georgia" pitchFamily="34" charset="-120"/>
              </a:rPr>
              <a:t>03</a:t>
            </a:r>
            <a:endParaRPr lang="en-US" sz="2800" dirty="0"/>
          </a:p>
        </p:txBody>
      </p:sp>
      <p:sp>
        <p:nvSpPr>
          <p:cNvPr id="14" name="Text 12"/>
          <p:cNvSpPr/>
          <p:nvPr/>
        </p:nvSpPr>
        <p:spPr>
          <a:xfrm>
            <a:off x="1417320" y="3694176"/>
            <a:ext cx="5669280" cy="411480"/>
          </a:xfrm>
          <a:prstGeom prst="rect">
            <a:avLst/>
          </a:prstGeom>
          <a:noFill/>
          <a:ln/>
        </p:spPr>
        <p:txBody>
          <a:bodyPr wrap="square" rtlCol="0" anchor="ctr"/>
          <a:lstStyle/>
          <a:p>
            <a:pPr indent="0" marL="0">
              <a:buNone/>
            </a:pPr>
            <a:r>
              <a:rPr lang="en-US" sz="1600" b="1" dirty="0">
                <a:solidFill>
                  <a:srgbClr val="1F1F1E"/>
                </a:solidFill>
                <a:latin typeface="Calibri" pitchFamily="34" charset="0"/>
                <a:ea typeface="Calibri" pitchFamily="34" charset="-122"/>
                <a:cs typeface="Calibri" pitchFamily="34" charset="-120"/>
              </a:rPr>
              <a:t>Discovery session</a:t>
            </a:r>
            <a:endParaRPr lang="en-US" sz="1600" dirty="0"/>
          </a:p>
        </p:txBody>
      </p:sp>
      <p:sp>
        <p:nvSpPr>
          <p:cNvPr id="15" name="Text 13"/>
          <p:cNvSpPr/>
          <p:nvPr/>
        </p:nvSpPr>
        <p:spPr>
          <a:xfrm>
            <a:off x="1417320" y="4105656"/>
            <a:ext cx="10058400" cy="502920"/>
          </a:xfrm>
          <a:prstGeom prst="rect">
            <a:avLst/>
          </a:prstGeom>
          <a:noFill/>
          <a:ln/>
        </p:spPr>
        <p:txBody>
          <a:bodyPr wrap="square" rtlCol="0" anchor="ctr"/>
          <a:lstStyle/>
          <a:p>
            <a:pPr indent="0" marL="0">
              <a:lnSpc>
                <a:spcPct val="115000"/>
              </a:lnSpc>
              <a:buNone/>
            </a:pPr>
            <a:r>
              <a:rPr lang="en-US" sz="1150" dirty="0">
                <a:solidFill>
                  <a:srgbClr val="6B6760"/>
                </a:solidFill>
                <a:latin typeface="Calibri" pitchFamily="34" charset="0"/>
                <a:ea typeface="Calibri" pitchFamily="34" charset="-122"/>
                <a:cs typeface="Calibri" pitchFamily="34" charset="-120"/>
              </a:rPr>
              <a:t>Five questions. I'll listen more than I talk, and whatever you share will shape the demo so it feels relevant to you.</a:t>
            </a:r>
            <a:endParaRPr lang="en-US" sz="1150" dirty="0"/>
          </a:p>
        </p:txBody>
      </p:sp>
      <p:sp>
        <p:nvSpPr>
          <p:cNvPr id="16" name="Text 14"/>
          <p:cNvSpPr/>
          <p:nvPr/>
        </p:nvSpPr>
        <p:spPr>
          <a:xfrm>
            <a:off x="502920" y="4626864"/>
            <a:ext cx="822960" cy="457200"/>
          </a:xfrm>
          <a:prstGeom prst="rect">
            <a:avLst/>
          </a:prstGeom>
          <a:noFill/>
          <a:ln/>
        </p:spPr>
        <p:txBody>
          <a:bodyPr wrap="square" rtlCol="0" anchor="ctr"/>
          <a:lstStyle/>
          <a:p>
            <a:pPr indent="0" marL="0">
              <a:buNone/>
            </a:pPr>
            <a:r>
              <a:rPr lang="en-US" sz="2800" i="1" dirty="0">
                <a:solidFill>
                  <a:srgbClr val="CC785C"/>
                </a:solidFill>
                <a:latin typeface="Georgia" pitchFamily="34" charset="0"/>
                <a:ea typeface="Georgia" pitchFamily="34" charset="-122"/>
                <a:cs typeface="Georgia" pitchFamily="34" charset="-120"/>
              </a:rPr>
              <a:t>04</a:t>
            </a:r>
            <a:endParaRPr lang="en-US" sz="2800" dirty="0"/>
          </a:p>
        </p:txBody>
      </p:sp>
      <p:sp>
        <p:nvSpPr>
          <p:cNvPr id="17" name="Text 15"/>
          <p:cNvSpPr/>
          <p:nvPr/>
        </p:nvSpPr>
        <p:spPr>
          <a:xfrm>
            <a:off x="1417320" y="4626864"/>
            <a:ext cx="5669280" cy="411480"/>
          </a:xfrm>
          <a:prstGeom prst="rect">
            <a:avLst/>
          </a:prstGeom>
          <a:noFill/>
          <a:ln/>
        </p:spPr>
        <p:txBody>
          <a:bodyPr wrap="square" rtlCol="0" anchor="ctr"/>
          <a:lstStyle/>
          <a:p>
            <a:pPr indent="0" marL="0">
              <a:buNone/>
            </a:pPr>
            <a:r>
              <a:rPr lang="en-US" sz="1600" b="1" dirty="0">
                <a:solidFill>
                  <a:srgbClr val="1F1F1E"/>
                </a:solidFill>
                <a:latin typeface="Calibri" pitchFamily="34" charset="0"/>
                <a:ea typeface="Calibri" pitchFamily="34" charset="-122"/>
                <a:cs typeface="Calibri" pitchFamily="34" charset="-120"/>
              </a:rPr>
              <a:t>Live demo</a:t>
            </a:r>
            <a:endParaRPr lang="en-US" sz="1600" dirty="0"/>
          </a:p>
        </p:txBody>
      </p:sp>
      <p:sp>
        <p:nvSpPr>
          <p:cNvPr id="18" name="Text 16"/>
          <p:cNvSpPr/>
          <p:nvPr/>
        </p:nvSpPr>
        <p:spPr>
          <a:xfrm>
            <a:off x="1417320" y="5038344"/>
            <a:ext cx="10058400" cy="502920"/>
          </a:xfrm>
          <a:prstGeom prst="rect">
            <a:avLst/>
          </a:prstGeom>
          <a:noFill/>
          <a:ln/>
        </p:spPr>
        <p:txBody>
          <a:bodyPr wrap="square" rtlCol="0" anchor="ctr"/>
          <a:lstStyle/>
          <a:p>
            <a:pPr indent="0" marL="0">
              <a:lnSpc>
                <a:spcPct val="115000"/>
              </a:lnSpc>
              <a:buNone/>
            </a:pPr>
            <a:r>
              <a:rPr lang="en-US" sz="1150" dirty="0">
                <a:solidFill>
                  <a:srgbClr val="6B6760"/>
                </a:solidFill>
                <a:latin typeface="Calibri" pitchFamily="34" charset="0"/>
                <a:ea typeface="Calibri" pitchFamily="34" charset="-122"/>
                <a:cs typeface="Calibri" pitchFamily="34" charset="-120"/>
              </a:rPr>
              <a:t>Twelve minutes on a real codebase. We'll watch ROI, safety, and governance show up naturally as we go, rather than listing them on slides.</a:t>
            </a:r>
            <a:endParaRPr lang="en-US" sz="1150" dirty="0"/>
          </a:p>
        </p:txBody>
      </p:sp>
      <p:sp>
        <p:nvSpPr>
          <p:cNvPr id="19" name="Text 17"/>
          <p:cNvSpPr/>
          <p:nvPr/>
        </p:nvSpPr>
        <p:spPr>
          <a:xfrm>
            <a:off x="502920" y="5559552"/>
            <a:ext cx="822960" cy="457200"/>
          </a:xfrm>
          <a:prstGeom prst="rect">
            <a:avLst/>
          </a:prstGeom>
          <a:noFill/>
          <a:ln/>
        </p:spPr>
        <p:txBody>
          <a:bodyPr wrap="square" rtlCol="0" anchor="ctr"/>
          <a:lstStyle/>
          <a:p>
            <a:pPr indent="0" marL="0">
              <a:buNone/>
            </a:pPr>
            <a:r>
              <a:rPr lang="en-US" sz="2800" i="1" dirty="0">
                <a:solidFill>
                  <a:srgbClr val="CC785C"/>
                </a:solidFill>
                <a:latin typeface="Georgia" pitchFamily="34" charset="0"/>
                <a:ea typeface="Georgia" pitchFamily="34" charset="-122"/>
                <a:cs typeface="Georgia" pitchFamily="34" charset="-120"/>
              </a:rPr>
              <a:t>05</a:t>
            </a:r>
            <a:endParaRPr lang="en-US" sz="2800" dirty="0"/>
          </a:p>
        </p:txBody>
      </p:sp>
      <p:sp>
        <p:nvSpPr>
          <p:cNvPr id="20" name="Text 18"/>
          <p:cNvSpPr/>
          <p:nvPr/>
        </p:nvSpPr>
        <p:spPr>
          <a:xfrm>
            <a:off x="1417320" y="5559552"/>
            <a:ext cx="5669280" cy="411480"/>
          </a:xfrm>
          <a:prstGeom prst="rect">
            <a:avLst/>
          </a:prstGeom>
          <a:noFill/>
          <a:ln/>
        </p:spPr>
        <p:txBody>
          <a:bodyPr wrap="square" rtlCol="0" anchor="ctr"/>
          <a:lstStyle/>
          <a:p>
            <a:pPr indent="0" marL="0">
              <a:buNone/>
            </a:pPr>
            <a:r>
              <a:rPr lang="en-US" sz="1600" b="1" dirty="0">
                <a:solidFill>
                  <a:srgbClr val="1F1F1E"/>
                </a:solidFill>
                <a:latin typeface="Calibri" pitchFamily="34" charset="0"/>
                <a:ea typeface="Calibri" pitchFamily="34" charset="-122"/>
                <a:cs typeface="Calibri" pitchFamily="34" charset="-120"/>
              </a:rPr>
              <a:t>Rollout and next steps</a:t>
            </a:r>
            <a:endParaRPr lang="en-US" sz="1600" dirty="0"/>
          </a:p>
        </p:txBody>
      </p:sp>
      <p:sp>
        <p:nvSpPr>
          <p:cNvPr id="21" name="Text 19"/>
          <p:cNvSpPr/>
          <p:nvPr/>
        </p:nvSpPr>
        <p:spPr>
          <a:xfrm>
            <a:off x="1417320" y="5971032"/>
            <a:ext cx="10058400" cy="502920"/>
          </a:xfrm>
          <a:prstGeom prst="rect">
            <a:avLst/>
          </a:prstGeom>
          <a:noFill/>
          <a:ln/>
        </p:spPr>
        <p:txBody>
          <a:bodyPr wrap="square" rtlCol="0" anchor="ctr"/>
          <a:lstStyle/>
          <a:p>
            <a:pPr indent="0" marL="0">
              <a:lnSpc>
                <a:spcPct val="115000"/>
              </a:lnSpc>
              <a:buNone/>
            </a:pPr>
            <a:r>
              <a:rPr lang="en-US" sz="1150" dirty="0">
                <a:solidFill>
                  <a:srgbClr val="6B6760"/>
                </a:solidFill>
                <a:latin typeface="Calibri" pitchFamily="34" charset="0"/>
                <a:ea typeface="Calibri" pitchFamily="34" charset="-122"/>
                <a:cs typeface="Calibri" pitchFamily="34" charset="-120"/>
              </a:rPr>
              <a:t>A three-phase pilot plan, a simple way to measure success, and three asks. None of them need procurement today.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WHAT IS CLAUDE CODE</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A coding agent that works the way a senior engineer does.</a:t>
            </a:r>
            <a:endParaRPr lang="en-US" sz="3400" dirty="0"/>
          </a:p>
        </p:txBody>
      </p:sp>
      <p:sp>
        <p:nvSpPr>
          <p:cNvPr id="7" name="Text 5"/>
          <p:cNvSpPr/>
          <p:nvPr/>
        </p:nvSpPr>
        <p:spPr>
          <a:xfrm>
            <a:off x="502920" y="1691640"/>
            <a:ext cx="11247120" cy="1005840"/>
          </a:xfrm>
          <a:prstGeom prst="rect">
            <a:avLst/>
          </a:prstGeom>
          <a:noFill/>
          <a:ln/>
        </p:spPr>
        <p:txBody>
          <a:bodyPr wrap="square" rtlCol="0" anchor="ctr"/>
          <a:lstStyle/>
          <a:p>
            <a:pPr indent="0" marL="0">
              <a:lnSpc>
                <a:spcPct val="130000"/>
              </a:lnSpc>
              <a:buNone/>
            </a:pPr>
            <a:r>
              <a:rPr lang="en-US" sz="1400" dirty="0">
                <a:solidFill>
                  <a:srgbClr val="1F1F1E"/>
                </a:solidFill>
                <a:latin typeface="Calibri" pitchFamily="34" charset="0"/>
                <a:ea typeface="Calibri" pitchFamily="34" charset="-122"/>
                <a:cs typeface="Calibri" pitchFamily="34" charset="-120"/>
              </a:rPr>
              <a:t>Claude Code is a coding assistant that works alongside your engineers. It reads the whole codebase, thinks through a change before touching anything, and double-checks its own work against your tests. It feels a little less like using a tool, and a little more like pairing with a thoughtful engineer who already knows every file.</a:t>
            </a:r>
            <a:endParaRPr lang="en-US" sz="1400" dirty="0"/>
          </a:p>
        </p:txBody>
      </p:sp>
      <p:sp>
        <p:nvSpPr>
          <p:cNvPr id="8" name="Shape 6"/>
          <p:cNvSpPr/>
          <p:nvPr/>
        </p:nvSpPr>
        <p:spPr>
          <a:xfrm>
            <a:off x="502920" y="2926080"/>
            <a:ext cx="3657600" cy="2926080"/>
          </a:xfrm>
          <a:prstGeom prst="rect">
            <a:avLst/>
          </a:prstGeom>
          <a:solidFill>
            <a:srgbClr val="E8E4D8"/>
          </a:solidFill>
          <a:ln w="9525">
            <a:solidFill>
              <a:srgbClr val="D6D1C4"/>
            </a:solidFill>
            <a:prstDash val="solid"/>
          </a:ln>
        </p:spPr>
      </p:sp>
      <p:sp>
        <p:nvSpPr>
          <p:cNvPr id="9" name="Shape 7"/>
          <p:cNvSpPr/>
          <p:nvPr/>
        </p:nvSpPr>
        <p:spPr>
          <a:xfrm>
            <a:off x="502920" y="2926080"/>
            <a:ext cx="91440" cy="2926080"/>
          </a:xfrm>
          <a:prstGeom prst="rect">
            <a:avLst/>
          </a:prstGeom>
          <a:solidFill>
            <a:srgbClr val="CC785C"/>
          </a:solidFill>
          <a:ln w="12700">
            <a:solidFill>
              <a:srgbClr val="CC785C"/>
            </a:solidFill>
            <a:prstDash val="solid"/>
          </a:ln>
        </p:spPr>
      </p:sp>
      <p:sp>
        <p:nvSpPr>
          <p:cNvPr id="10" name="Text 8"/>
          <p:cNvSpPr/>
          <p:nvPr/>
        </p:nvSpPr>
        <p:spPr>
          <a:xfrm>
            <a:off x="777240" y="3017520"/>
            <a:ext cx="914400" cy="365760"/>
          </a:xfrm>
          <a:prstGeom prst="rect">
            <a:avLst/>
          </a:prstGeom>
          <a:noFill/>
          <a:ln/>
        </p:spPr>
        <p:txBody>
          <a:bodyPr wrap="square" rtlCol="0" anchor="ctr"/>
          <a:lstStyle/>
          <a:p>
            <a:pPr indent="0" marL="0">
              <a:buNone/>
            </a:pPr>
            <a:r>
              <a:rPr lang="en-US" sz="1400" i="1" dirty="0">
                <a:solidFill>
                  <a:srgbClr val="CC785C"/>
                </a:solidFill>
                <a:latin typeface="Georgia" pitchFamily="34" charset="0"/>
                <a:ea typeface="Georgia" pitchFamily="34" charset="-122"/>
                <a:cs typeface="Georgia" pitchFamily="34" charset="-120"/>
              </a:rPr>
              <a:t>01</a:t>
            </a:r>
            <a:endParaRPr lang="en-US" sz="1400" dirty="0"/>
          </a:p>
        </p:txBody>
      </p:sp>
      <p:sp>
        <p:nvSpPr>
          <p:cNvPr id="11" name="Text 9"/>
          <p:cNvSpPr/>
          <p:nvPr/>
        </p:nvSpPr>
        <p:spPr>
          <a:xfrm>
            <a:off x="777240" y="3337560"/>
            <a:ext cx="3200400" cy="548640"/>
          </a:xfrm>
          <a:prstGeom prst="rect">
            <a:avLst/>
          </a:prstGeom>
          <a:noFill/>
          <a:ln/>
        </p:spPr>
        <p:txBody>
          <a:bodyPr wrap="square" rtlCol="0" anchor="ctr"/>
          <a:lstStyle/>
          <a:p>
            <a:pPr indent="0" marL="0">
              <a:buNone/>
            </a:pPr>
            <a:r>
              <a:rPr lang="en-US" sz="1500" b="1" dirty="0">
                <a:solidFill>
                  <a:srgbClr val="1F1F1E"/>
                </a:solidFill>
                <a:latin typeface="Calibri" pitchFamily="34" charset="0"/>
                <a:ea typeface="Calibri" pitchFamily="34" charset="-122"/>
                <a:cs typeface="Calibri" pitchFamily="34" charset="-120"/>
              </a:rPr>
              <a:t>It reads your whole codebase</a:t>
            </a:r>
            <a:endParaRPr lang="en-US" sz="1500" dirty="0"/>
          </a:p>
        </p:txBody>
      </p:sp>
      <p:sp>
        <p:nvSpPr>
          <p:cNvPr id="12" name="Text 10"/>
          <p:cNvSpPr/>
          <p:nvPr/>
        </p:nvSpPr>
        <p:spPr>
          <a:xfrm>
            <a:off x="777240" y="3931920"/>
            <a:ext cx="3200400" cy="182880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Not just the open file. It understands your structure, your git history, and how your services talk to each other, the way a senior engineer would before suggesting a change.</a:t>
            </a:r>
            <a:endParaRPr lang="en-US" sz="1150" dirty="0"/>
          </a:p>
        </p:txBody>
      </p:sp>
      <p:sp>
        <p:nvSpPr>
          <p:cNvPr id="13" name="Shape 11"/>
          <p:cNvSpPr/>
          <p:nvPr/>
        </p:nvSpPr>
        <p:spPr>
          <a:xfrm>
            <a:off x="4389120" y="2926080"/>
            <a:ext cx="3657600" cy="2926080"/>
          </a:xfrm>
          <a:prstGeom prst="rect">
            <a:avLst/>
          </a:prstGeom>
          <a:solidFill>
            <a:srgbClr val="E8E4D8"/>
          </a:solidFill>
          <a:ln w="9525">
            <a:solidFill>
              <a:srgbClr val="D6D1C4"/>
            </a:solidFill>
            <a:prstDash val="solid"/>
          </a:ln>
        </p:spPr>
      </p:sp>
      <p:sp>
        <p:nvSpPr>
          <p:cNvPr id="14" name="Shape 12"/>
          <p:cNvSpPr/>
          <p:nvPr/>
        </p:nvSpPr>
        <p:spPr>
          <a:xfrm>
            <a:off x="4389120" y="2926080"/>
            <a:ext cx="91440" cy="2926080"/>
          </a:xfrm>
          <a:prstGeom prst="rect">
            <a:avLst/>
          </a:prstGeom>
          <a:solidFill>
            <a:srgbClr val="CC785C"/>
          </a:solidFill>
          <a:ln w="12700">
            <a:solidFill>
              <a:srgbClr val="CC785C"/>
            </a:solidFill>
            <a:prstDash val="solid"/>
          </a:ln>
        </p:spPr>
      </p:sp>
      <p:sp>
        <p:nvSpPr>
          <p:cNvPr id="15" name="Text 13"/>
          <p:cNvSpPr/>
          <p:nvPr/>
        </p:nvSpPr>
        <p:spPr>
          <a:xfrm>
            <a:off x="4663440" y="3017520"/>
            <a:ext cx="914400" cy="365760"/>
          </a:xfrm>
          <a:prstGeom prst="rect">
            <a:avLst/>
          </a:prstGeom>
          <a:noFill/>
          <a:ln/>
        </p:spPr>
        <p:txBody>
          <a:bodyPr wrap="square" rtlCol="0" anchor="ctr"/>
          <a:lstStyle/>
          <a:p>
            <a:pPr indent="0" marL="0">
              <a:buNone/>
            </a:pPr>
            <a:r>
              <a:rPr lang="en-US" sz="1400" i="1" dirty="0">
                <a:solidFill>
                  <a:srgbClr val="CC785C"/>
                </a:solidFill>
                <a:latin typeface="Georgia" pitchFamily="34" charset="0"/>
                <a:ea typeface="Georgia" pitchFamily="34" charset="-122"/>
                <a:cs typeface="Georgia" pitchFamily="34" charset="-120"/>
              </a:rPr>
              <a:t>02</a:t>
            </a:r>
            <a:endParaRPr lang="en-US" sz="1400" dirty="0"/>
          </a:p>
        </p:txBody>
      </p:sp>
      <p:sp>
        <p:nvSpPr>
          <p:cNvPr id="16" name="Text 14"/>
          <p:cNvSpPr/>
          <p:nvPr/>
        </p:nvSpPr>
        <p:spPr>
          <a:xfrm>
            <a:off x="4663440" y="3337560"/>
            <a:ext cx="3200400" cy="548640"/>
          </a:xfrm>
          <a:prstGeom prst="rect">
            <a:avLst/>
          </a:prstGeom>
          <a:noFill/>
          <a:ln/>
        </p:spPr>
        <p:txBody>
          <a:bodyPr wrap="square" rtlCol="0" anchor="ctr"/>
          <a:lstStyle/>
          <a:p>
            <a:pPr indent="0" marL="0">
              <a:buNone/>
            </a:pPr>
            <a:r>
              <a:rPr lang="en-US" sz="1500" b="1" dirty="0">
                <a:solidFill>
                  <a:srgbClr val="1F1F1E"/>
                </a:solidFill>
                <a:latin typeface="Calibri" pitchFamily="34" charset="0"/>
                <a:ea typeface="Calibri" pitchFamily="34" charset="-122"/>
                <a:cs typeface="Calibri" pitchFamily="34" charset="-120"/>
              </a:rPr>
              <a:t>It plans before it acts</a:t>
            </a:r>
            <a:endParaRPr lang="en-US" sz="1500" dirty="0"/>
          </a:p>
        </p:txBody>
      </p:sp>
      <p:sp>
        <p:nvSpPr>
          <p:cNvPr id="17" name="Text 15"/>
          <p:cNvSpPr/>
          <p:nvPr/>
        </p:nvSpPr>
        <p:spPr>
          <a:xfrm>
            <a:off x="4663440" y="3931920"/>
            <a:ext cx="3200400" cy="182880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Every proposed change is shown to you first. You see exactly what will happen, approve what feels right, and decline anything that doesn't. Nothing ever happens quietly in the background.</a:t>
            </a:r>
            <a:endParaRPr lang="en-US" sz="1150" dirty="0"/>
          </a:p>
        </p:txBody>
      </p:sp>
      <p:sp>
        <p:nvSpPr>
          <p:cNvPr id="18" name="Shape 16"/>
          <p:cNvSpPr/>
          <p:nvPr/>
        </p:nvSpPr>
        <p:spPr>
          <a:xfrm>
            <a:off x="8275320" y="2926080"/>
            <a:ext cx="3657600" cy="2926080"/>
          </a:xfrm>
          <a:prstGeom prst="rect">
            <a:avLst/>
          </a:prstGeom>
          <a:solidFill>
            <a:srgbClr val="E8E4D8"/>
          </a:solidFill>
          <a:ln w="9525">
            <a:solidFill>
              <a:srgbClr val="D6D1C4"/>
            </a:solidFill>
            <a:prstDash val="solid"/>
          </a:ln>
        </p:spPr>
      </p:sp>
      <p:sp>
        <p:nvSpPr>
          <p:cNvPr id="19" name="Shape 17"/>
          <p:cNvSpPr/>
          <p:nvPr/>
        </p:nvSpPr>
        <p:spPr>
          <a:xfrm>
            <a:off x="8275320" y="2926080"/>
            <a:ext cx="91440" cy="2926080"/>
          </a:xfrm>
          <a:prstGeom prst="rect">
            <a:avLst/>
          </a:prstGeom>
          <a:solidFill>
            <a:srgbClr val="CC785C"/>
          </a:solidFill>
          <a:ln w="12700">
            <a:solidFill>
              <a:srgbClr val="CC785C"/>
            </a:solidFill>
            <a:prstDash val="solid"/>
          </a:ln>
        </p:spPr>
      </p:sp>
      <p:sp>
        <p:nvSpPr>
          <p:cNvPr id="20" name="Text 18"/>
          <p:cNvSpPr/>
          <p:nvPr/>
        </p:nvSpPr>
        <p:spPr>
          <a:xfrm>
            <a:off x="8549640" y="3017520"/>
            <a:ext cx="914400" cy="365760"/>
          </a:xfrm>
          <a:prstGeom prst="rect">
            <a:avLst/>
          </a:prstGeom>
          <a:noFill/>
          <a:ln/>
        </p:spPr>
        <p:txBody>
          <a:bodyPr wrap="square" rtlCol="0" anchor="ctr"/>
          <a:lstStyle/>
          <a:p>
            <a:pPr indent="0" marL="0">
              <a:buNone/>
            </a:pPr>
            <a:r>
              <a:rPr lang="en-US" sz="1400" i="1" dirty="0">
                <a:solidFill>
                  <a:srgbClr val="CC785C"/>
                </a:solidFill>
                <a:latin typeface="Georgia" pitchFamily="34" charset="0"/>
                <a:ea typeface="Georgia" pitchFamily="34" charset="-122"/>
                <a:cs typeface="Georgia" pitchFamily="34" charset="-120"/>
              </a:rPr>
              <a:t>03</a:t>
            </a:r>
            <a:endParaRPr lang="en-US" sz="1400" dirty="0"/>
          </a:p>
        </p:txBody>
      </p:sp>
      <p:sp>
        <p:nvSpPr>
          <p:cNvPr id="21" name="Text 19"/>
          <p:cNvSpPr/>
          <p:nvPr/>
        </p:nvSpPr>
        <p:spPr>
          <a:xfrm>
            <a:off x="8549640" y="3337560"/>
            <a:ext cx="3200400" cy="548640"/>
          </a:xfrm>
          <a:prstGeom prst="rect">
            <a:avLst/>
          </a:prstGeom>
          <a:noFill/>
          <a:ln/>
        </p:spPr>
        <p:txBody>
          <a:bodyPr wrap="square" rtlCol="0" anchor="ctr"/>
          <a:lstStyle/>
          <a:p>
            <a:pPr indent="0" marL="0">
              <a:buNone/>
            </a:pPr>
            <a:r>
              <a:rPr lang="en-US" sz="1500" b="1" dirty="0">
                <a:solidFill>
                  <a:srgbClr val="1F1F1E"/>
                </a:solidFill>
                <a:latin typeface="Calibri" pitchFamily="34" charset="0"/>
                <a:ea typeface="Calibri" pitchFamily="34" charset="-122"/>
                <a:cs typeface="Calibri" pitchFamily="34" charset="-120"/>
              </a:rPr>
              <a:t>It checks its own work</a:t>
            </a:r>
            <a:endParaRPr lang="en-US" sz="1500" dirty="0"/>
          </a:p>
        </p:txBody>
      </p:sp>
      <p:sp>
        <p:nvSpPr>
          <p:cNvPr id="22" name="Text 20"/>
          <p:cNvSpPr/>
          <p:nvPr/>
        </p:nvSpPr>
        <p:spPr>
          <a:xfrm>
            <a:off x="8549640" y="3931920"/>
            <a:ext cx="3200400" cy="182880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Your test suite runs automatically after every change. If something breaks, Claude spots it, fixes it, and shows you what changed. You're always in the loop.</a:t>
            </a:r>
            <a:endParaRPr lang="en-US" sz="1150" dirty="0"/>
          </a:p>
        </p:txBody>
      </p:sp>
      <p:sp>
        <p:nvSpPr>
          <p:cNvPr id="23" name="Text 21"/>
          <p:cNvSpPr/>
          <p:nvPr/>
        </p:nvSpPr>
        <p:spPr>
          <a:xfrm>
            <a:off x="502920" y="5989320"/>
            <a:ext cx="11247120" cy="320040"/>
          </a:xfrm>
          <a:prstGeom prst="rect">
            <a:avLst/>
          </a:prstGeom>
          <a:noFill/>
          <a:ln/>
        </p:spPr>
        <p:txBody>
          <a:bodyPr wrap="square" rtlCol="0" anchor="ctr"/>
          <a:lstStyle/>
          <a:p>
            <a:pPr indent="0" marL="0">
              <a:buNone/>
            </a:pPr>
            <a:r>
              <a:rPr lang="en-US" sz="1050" i="1" dirty="0">
                <a:solidFill>
                  <a:srgbClr val="6B6760"/>
                </a:solidFill>
                <a:latin typeface="Calibri" pitchFamily="34" charset="0"/>
                <a:ea typeface="Calibri" pitchFamily="34" charset="-122"/>
                <a:cs typeface="Calibri" pitchFamily="34" charset="-120"/>
              </a:rPr>
              <a:t>Built by Anthropic. Safety is part of the design. We're SOC 2 Type II, and our agreement contractually says we won't train on your code.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WHAT I'M HEARING</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Four things on FinTechCo's plate, from what you've shared so far.</a:t>
            </a:r>
            <a:endParaRPr lang="en-US" sz="3400" dirty="0"/>
          </a:p>
        </p:txBody>
      </p:sp>
      <p:sp>
        <p:nvSpPr>
          <p:cNvPr id="7" name="Text 5"/>
          <p:cNvSpPr/>
          <p:nvPr/>
        </p:nvSpPr>
        <p:spPr>
          <a:xfrm>
            <a:off x="502920" y="1737360"/>
            <a:ext cx="11247120" cy="457200"/>
          </a:xfrm>
          <a:prstGeom prst="rect">
            <a:avLst/>
          </a:prstGeom>
          <a:noFill/>
          <a:ln/>
        </p:spPr>
        <p:txBody>
          <a:bodyPr wrap="square" rtlCol="0" anchor="ctr"/>
          <a:lstStyle/>
          <a:p>
            <a:pPr indent="0" marL="0">
              <a:buNone/>
            </a:pPr>
            <a:r>
              <a:rPr lang="en-US" sz="1300" i="1" dirty="0">
                <a:solidFill>
                  <a:srgbClr val="6B6760"/>
                </a:solidFill>
                <a:latin typeface="Calibri" pitchFamily="34" charset="0"/>
                <a:ea typeface="Calibri" pitchFamily="34" charset="-122"/>
                <a:cs typeface="Calibri" pitchFamily="34" charset="-120"/>
              </a:rPr>
              <a:t>Correct me where I'm wrong. This is the most valuable thirty seconds of the call.</a:t>
            </a:r>
            <a:endParaRPr lang="en-US" sz="1300" dirty="0"/>
          </a:p>
        </p:txBody>
      </p:sp>
      <p:sp>
        <p:nvSpPr>
          <p:cNvPr id="8" name="Shape 6"/>
          <p:cNvSpPr/>
          <p:nvPr/>
        </p:nvSpPr>
        <p:spPr>
          <a:xfrm>
            <a:off x="502920" y="2514600"/>
            <a:ext cx="73152" cy="822960"/>
          </a:xfrm>
          <a:prstGeom prst="rect">
            <a:avLst/>
          </a:prstGeom>
          <a:solidFill>
            <a:srgbClr val="CC785C"/>
          </a:solidFill>
          <a:ln w="12700">
            <a:solidFill>
              <a:srgbClr val="CC785C"/>
            </a:solidFill>
            <a:prstDash val="solid"/>
          </a:ln>
        </p:spPr>
      </p:sp>
      <p:sp>
        <p:nvSpPr>
          <p:cNvPr id="9" name="Text 7"/>
          <p:cNvSpPr/>
          <p:nvPr/>
        </p:nvSpPr>
        <p:spPr>
          <a:xfrm>
            <a:off x="777240" y="2514600"/>
            <a:ext cx="10515600" cy="32004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A regulated environment</a:t>
            </a:r>
            <a:endParaRPr lang="en-US" sz="1400" dirty="0"/>
          </a:p>
        </p:txBody>
      </p:sp>
      <p:sp>
        <p:nvSpPr>
          <p:cNvPr id="10" name="Text 8"/>
          <p:cNvSpPr/>
          <p:nvPr/>
        </p:nvSpPr>
        <p:spPr>
          <a:xfrm>
            <a:off x="777240" y="2834640"/>
            <a:ext cx="10789920" cy="50292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You live with PCI DSS and FFIEC oversight every day. Any new tool has to earn its seat at the table, especially one that gets near production code.</a:t>
            </a:r>
            <a:endParaRPr lang="en-US" sz="1150" dirty="0"/>
          </a:p>
        </p:txBody>
      </p:sp>
      <p:sp>
        <p:nvSpPr>
          <p:cNvPr id="11" name="Shape 9"/>
          <p:cNvSpPr/>
          <p:nvPr/>
        </p:nvSpPr>
        <p:spPr>
          <a:xfrm>
            <a:off x="502920" y="3456432"/>
            <a:ext cx="73152" cy="822960"/>
          </a:xfrm>
          <a:prstGeom prst="rect">
            <a:avLst/>
          </a:prstGeom>
          <a:solidFill>
            <a:srgbClr val="CC785C"/>
          </a:solidFill>
          <a:ln w="12700">
            <a:solidFill>
              <a:srgbClr val="CC785C"/>
            </a:solidFill>
            <a:prstDash val="solid"/>
          </a:ln>
        </p:spPr>
      </p:sp>
      <p:sp>
        <p:nvSpPr>
          <p:cNvPr id="12" name="Text 10"/>
          <p:cNvSpPr/>
          <p:nvPr/>
        </p:nvSpPr>
        <p:spPr>
          <a:xfrm>
            <a:off x="777240" y="3456432"/>
            <a:ext cx="10515600" cy="32004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180 engineers, three very different jobs</a:t>
            </a:r>
            <a:endParaRPr lang="en-US" sz="1400" dirty="0"/>
          </a:p>
        </p:txBody>
      </p:sp>
      <p:sp>
        <p:nvSpPr>
          <p:cNvPr id="13" name="Text 11"/>
          <p:cNvSpPr/>
          <p:nvPr/>
        </p:nvSpPr>
        <p:spPr>
          <a:xfrm>
            <a:off x="777240" y="3776472"/>
            <a:ext cx="10789920" cy="50292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Your software engineers, SREs, and data scientists each face a different bottleneck. Fair to say the answer can't be one-size-fits-all.</a:t>
            </a:r>
            <a:endParaRPr lang="en-US" sz="1150" dirty="0"/>
          </a:p>
        </p:txBody>
      </p:sp>
      <p:sp>
        <p:nvSpPr>
          <p:cNvPr id="14" name="Shape 12"/>
          <p:cNvSpPr/>
          <p:nvPr/>
        </p:nvSpPr>
        <p:spPr>
          <a:xfrm>
            <a:off x="502920" y="4398264"/>
            <a:ext cx="73152" cy="822960"/>
          </a:xfrm>
          <a:prstGeom prst="rect">
            <a:avLst/>
          </a:prstGeom>
          <a:solidFill>
            <a:srgbClr val="CC785C"/>
          </a:solidFill>
          <a:ln w="12700">
            <a:solidFill>
              <a:srgbClr val="CC785C"/>
            </a:solidFill>
            <a:prstDash val="solid"/>
          </a:ln>
        </p:spPr>
      </p:sp>
      <p:sp>
        <p:nvSpPr>
          <p:cNvPr id="15" name="Text 13"/>
          <p:cNvSpPr/>
          <p:nvPr/>
        </p:nvSpPr>
        <p:spPr>
          <a:xfrm>
            <a:off x="777240" y="4398264"/>
            <a:ext cx="10515600" cy="32004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An active P1 that shouldn't have happened</a:t>
            </a:r>
            <a:endParaRPr lang="en-US" sz="1400" dirty="0"/>
          </a:p>
        </p:txBody>
      </p:sp>
      <p:sp>
        <p:nvSpPr>
          <p:cNvPr id="16" name="Text 14"/>
          <p:cNvSpPr/>
          <p:nvPr/>
        </p:nvSpPr>
        <p:spPr>
          <a:xfrm>
            <a:off x="777240" y="4718304"/>
            <a:ext cx="10789920" cy="50292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Two customers were double-charged, and the ticket has been open three days. That hints at something worth looking at in cycle time and review signal.</a:t>
            </a:r>
            <a:endParaRPr lang="en-US" sz="1150" dirty="0"/>
          </a:p>
        </p:txBody>
      </p:sp>
      <p:sp>
        <p:nvSpPr>
          <p:cNvPr id="17" name="Shape 15"/>
          <p:cNvSpPr/>
          <p:nvPr/>
        </p:nvSpPr>
        <p:spPr>
          <a:xfrm>
            <a:off x="502920" y="5340096"/>
            <a:ext cx="73152" cy="822960"/>
          </a:xfrm>
          <a:prstGeom prst="rect">
            <a:avLst/>
          </a:prstGeom>
          <a:solidFill>
            <a:srgbClr val="CC785C"/>
          </a:solidFill>
          <a:ln w="12700">
            <a:solidFill>
              <a:srgbClr val="CC785C"/>
            </a:solidFill>
            <a:prstDash val="solid"/>
          </a:ln>
        </p:spPr>
      </p:sp>
      <p:sp>
        <p:nvSpPr>
          <p:cNvPr id="18" name="Text 16"/>
          <p:cNvSpPr/>
          <p:nvPr/>
        </p:nvSpPr>
        <p:spPr>
          <a:xfrm>
            <a:off x="777240" y="5340096"/>
            <a:ext cx="10515600" cy="32004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Pressure to move faster without giving up control</a:t>
            </a:r>
            <a:endParaRPr lang="en-US" sz="1400" dirty="0"/>
          </a:p>
        </p:txBody>
      </p:sp>
      <p:sp>
        <p:nvSpPr>
          <p:cNvPr id="19" name="Text 17"/>
          <p:cNvSpPr/>
          <p:nvPr/>
        </p:nvSpPr>
        <p:spPr>
          <a:xfrm>
            <a:off x="777240" y="5660136"/>
            <a:ext cx="10789920" cy="50292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Leadership wants velocity. Audit wants evidence. Both answers really do need to come from the same system, otherwise adoption tends to stall.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DISCOVERY</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Five questions before I show you anything.</a:t>
            </a:r>
            <a:endParaRPr lang="en-US" sz="3400" dirty="0"/>
          </a:p>
        </p:txBody>
      </p:sp>
      <p:sp>
        <p:nvSpPr>
          <p:cNvPr id="7" name="Text 5"/>
          <p:cNvSpPr/>
          <p:nvPr/>
        </p:nvSpPr>
        <p:spPr>
          <a:xfrm>
            <a:off x="502920" y="1828800"/>
            <a:ext cx="731520" cy="5029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Q1</a:t>
            </a:r>
            <a:endParaRPr lang="en-US" sz="2200" dirty="0"/>
          </a:p>
        </p:txBody>
      </p:sp>
      <p:sp>
        <p:nvSpPr>
          <p:cNvPr id="8" name="Text 6"/>
          <p:cNvSpPr/>
          <p:nvPr/>
        </p:nvSpPr>
        <p:spPr>
          <a:xfrm>
            <a:off x="1325880" y="1874520"/>
            <a:ext cx="10332720" cy="502920"/>
          </a:xfrm>
          <a:prstGeom prst="rect">
            <a:avLst/>
          </a:prstGeom>
          <a:noFill/>
          <a:ln/>
        </p:spPr>
        <p:txBody>
          <a:bodyPr wrap="square" rtlCol="0" anchor="ctr"/>
          <a:lstStyle/>
          <a:p>
            <a:pPr indent="0" marL="0">
              <a:buNone/>
            </a:pPr>
            <a:r>
              <a:rPr lang="en-US" sz="1500" dirty="0">
                <a:solidFill>
                  <a:srgbClr val="1F1F1E"/>
                </a:solidFill>
                <a:latin typeface="Calibri" pitchFamily="34" charset="0"/>
                <a:ea typeface="Calibri" pitchFamily="34" charset="-122"/>
                <a:cs typeface="Calibri" pitchFamily="34" charset="-120"/>
              </a:rPr>
              <a:t>What does your code review process look like today, and where does it tend to slow down?</a:t>
            </a:r>
            <a:endParaRPr lang="en-US" sz="1500" dirty="0"/>
          </a:p>
        </p:txBody>
      </p:sp>
      <p:sp>
        <p:nvSpPr>
          <p:cNvPr id="9" name="Shape 7"/>
          <p:cNvSpPr/>
          <p:nvPr/>
        </p:nvSpPr>
        <p:spPr>
          <a:xfrm>
            <a:off x="1325880" y="2514600"/>
            <a:ext cx="10332720" cy="0"/>
          </a:xfrm>
          <a:prstGeom prst="line">
            <a:avLst/>
          </a:prstGeom>
          <a:noFill/>
          <a:ln w="9525">
            <a:solidFill>
              <a:srgbClr val="D6D1C4"/>
            </a:solidFill>
            <a:prstDash val="solid"/>
          </a:ln>
        </p:spPr>
      </p:sp>
      <p:sp>
        <p:nvSpPr>
          <p:cNvPr id="10" name="Text 8"/>
          <p:cNvSpPr/>
          <p:nvPr/>
        </p:nvSpPr>
        <p:spPr>
          <a:xfrm>
            <a:off x="502920" y="2651760"/>
            <a:ext cx="731520" cy="5029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Q2</a:t>
            </a:r>
            <a:endParaRPr lang="en-US" sz="2200" dirty="0"/>
          </a:p>
        </p:txBody>
      </p:sp>
      <p:sp>
        <p:nvSpPr>
          <p:cNvPr id="11" name="Text 9"/>
          <p:cNvSpPr/>
          <p:nvPr/>
        </p:nvSpPr>
        <p:spPr>
          <a:xfrm>
            <a:off x="1325880" y="2697480"/>
            <a:ext cx="10332720" cy="502920"/>
          </a:xfrm>
          <a:prstGeom prst="rect">
            <a:avLst/>
          </a:prstGeom>
          <a:noFill/>
          <a:ln/>
        </p:spPr>
        <p:txBody>
          <a:bodyPr wrap="square" rtlCol="0" anchor="ctr"/>
          <a:lstStyle/>
          <a:p>
            <a:pPr indent="0" marL="0">
              <a:buNone/>
            </a:pPr>
            <a:r>
              <a:rPr lang="en-US" sz="1500" dirty="0">
                <a:solidFill>
                  <a:srgbClr val="1F1F1E"/>
                </a:solidFill>
                <a:latin typeface="Calibri" pitchFamily="34" charset="0"/>
                <a:ea typeface="Calibri" pitchFamily="34" charset="-122"/>
                <a:cs typeface="Calibri" pitchFamily="34" charset="-120"/>
              </a:rPr>
              <a:t>When a P1 incident happens, what's harder for your SREs, finding the issue or actually fixing it?</a:t>
            </a:r>
            <a:endParaRPr lang="en-US" sz="1500" dirty="0"/>
          </a:p>
        </p:txBody>
      </p:sp>
      <p:sp>
        <p:nvSpPr>
          <p:cNvPr id="12" name="Shape 10"/>
          <p:cNvSpPr/>
          <p:nvPr/>
        </p:nvSpPr>
        <p:spPr>
          <a:xfrm>
            <a:off x="1325880" y="3337560"/>
            <a:ext cx="10332720" cy="0"/>
          </a:xfrm>
          <a:prstGeom prst="line">
            <a:avLst/>
          </a:prstGeom>
          <a:noFill/>
          <a:ln w="9525">
            <a:solidFill>
              <a:srgbClr val="D6D1C4"/>
            </a:solidFill>
            <a:prstDash val="solid"/>
          </a:ln>
        </p:spPr>
      </p:sp>
      <p:sp>
        <p:nvSpPr>
          <p:cNvPr id="13" name="Text 11"/>
          <p:cNvSpPr/>
          <p:nvPr/>
        </p:nvSpPr>
        <p:spPr>
          <a:xfrm>
            <a:off x="502920" y="3474720"/>
            <a:ext cx="731520" cy="5029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Q3</a:t>
            </a:r>
            <a:endParaRPr lang="en-US" sz="2200" dirty="0"/>
          </a:p>
        </p:txBody>
      </p:sp>
      <p:sp>
        <p:nvSpPr>
          <p:cNvPr id="14" name="Text 12"/>
          <p:cNvSpPr/>
          <p:nvPr/>
        </p:nvSpPr>
        <p:spPr>
          <a:xfrm>
            <a:off x="1325880" y="3520440"/>
            <a:ext cx="10332720" cy="502920"/>
          </a:xfrm>
          <a:prstGeom prst="rect">
            <a:avLst/>
          </a:prstGeom>
          <a:noFill/>
          <a:ln/>
        </p:spPr>
        <p:txBody>
          <a:bodyPr wrap="square" rtlCol="0" anchor="ctr"/>
          <a:lstStyle/>
          <a:p>
            <a:pPr indent="0" marL="0">
              <a:buNone/>
            </a:pPr>
            <a:r>
              <a:rPr lang="en-US" sz="1500" dirty="0">
                <a:solidFill>
                  <a:srgbClr val="1F1F1E"/>
                </a:solidFill>
                <a:latin typeface="Calibri" pitchFamily="34" charset="0"/>
                <a:ea typeface="Calibri" pitchFamily="34" charset="-122"/>
                <a:cs typeface="Calibri" pitchFamily="34" charset="-120"/>
              </a:rPr>
              <a:t>Are any of your engineers already playing with AI tools, even unofficially?</a:t>
            </a:r>
            <a:endParaRPr lang="en-US" sz="1500" dirty="0"/>
          </a:p>
        </p:txBody>
      </p:sp>
      <p:sp>
        <p:nvSpPr>
          <p:cNvPr id="15" name="Shape 13"/>
          <p:cNvSpPr/>
          <p:nvPr/>
        </p:nvSpPr>
        <p:spPr>
          <a:xfrm>
            <a:off x="1325880" y="4160520"/>
            <a:ext cx="10332720" cy="0"/>
          </a:xfrm>
          <a:prstGeom prst="line">
            <a:avLst/>
          </a:prstGeom>
          <a:noFill/>
          <a:ln w="9525">
            <a:solidFill>
              <a:srgbClr val="D6D1C4"/>
            </a:solidFill>
            <a:prstDash val="solid"/>
          </a:ln>
        </p:spPr>
      </p:sp>
      <p:sp>
        <p:nvSpPr>
          <p:cNvPr id="16" name="Text 14"/>
          <p:cNvSpPr/>
          <p:nvPr/>
        </p:nvSpPr>
        <p:spPr>
          <a:xfrm>
            <a:off x="502920" y="4297680"/>
            <a:ext cx="731520" cy="5029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Q4</a:t>
            </a:r>
            <a:endParaRPr lang="en-US" sz="2200" dirty="0"/>
          </a:p>
        </p:txBody>
      </p:sp>
      <p:sp>
        <p:nvSpPr>
          <p:cNvPr id="17" name="Text 15"/>
          <p:cNvSpPr/>
          <p:nvPr/>
        </p:nvSpPr>
        <p:spPr>
          <a:xfrm>
            <a:off x="1325880" y="4343400"/>
            <a:ext cx="10332720" cy="502920"/>
          </a:xfrm>
          <a:prstGeom prst="rect">
            <a:avLst/>
          </a:prstGeom>
          <a:noFill/>
          <a:ln/>
        </p:spPr>
        <p:txBody>
          <a:bodyPr wrap="square" rtlCol="0" anchor="ctr"/>
          <a:lstStyle/>
          <a:p>
            <a:pPr indent="0" marL="0">
              <a:buNone/>
            </a:pPr>
            <a:r>
              <a:rPr lang="en-US" sz="1500" dirty="0">
                <a:solidFill>
                  <a:srgbClr val="1F1F1E"/>
                </a:solidFill>
                <a:latin typeface="Calibri" pitchFamily="34" charset="0"/>
                <a:ea typeface="Calibri" pitchFamily="34" charset="-122"/>
                <a:cs typeface="Calibri" pitchFamily="34" charset="-120"/>
              </a:rPr>
              <a:t>From a security perspective, what's your biggest concern about bringing a tool like this in?</a:t>
            </a:r>
            <a:endParaRPr lang="en-US" sz="1500" dirty="0"/>
          </a:p>
        </p:txBody>
      </p:sp>
      <p:sp>
        <p:nvSpPr>
          <p:cNvPr id="18" name="Shape 16"/>
          <p:cNvSpPr/>
          <p:nvPr/>
        </p:nvSpPr>
        <p:spPr>
          <a:xfrm>
            <a:off x="1325880" y="4983480"/>
            <a:ext cx="10332720" cy="0"/>
          </a:xfrm>
          <a:prstGeom prst="line">
            <a:avLst/>
          </a:prstGeom>
          <a:noFill/>
          <a:ln w="9525">
            <a:solidFill>
              <a:srgbClr val="D6D1C4"/>
            </a:solidFill>
            <a:prstDash val="solid"/>
          </a:ln>
        </p:spPr>
      </p:sp>
      <p:sp>
        <p:nvSpPr>
          <p:cNvPr id="19" name="Text 17"/>
          <p:cNvSpPr/>
          <p:nvPr/>
        </p:nvSpPr>
        <p:spPr>
          <a:xfrm>
            <a:off x="502920" y="5120640"/>
            <a:ext cx="731520" cy="5029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Q5</a:t>
            </a:r>
            <a:endParaRPr lang="en-US" sz="2200" dirty="0"/>
          </a:p>
        </p:txBody>
      </p:sp>
      <p:sp>
        <p:nvSpPr>
          <p:cNvPr id="20" name="Text 18"/>
          <p:cNvSpPr/>
          <p:nvPr/>
        </p:nvSpPr>
        <p:spPr>
          <a:xfrm>
            <a:off x="1325880" y="5166360"/>
            <a:ext cx="10332720" cy="502920"/>
          </a:xfrm>
          <a:prstGeom prst="rect">
            <a:avLst/>
          </a:prstGeom>
          <a:noFill/>
          <a:ln/>
        </p:spPr>
        <p:txBody>
          <a:bodyPr wrap="square" rtlCol="0" anchor="ctr"/>
          <a:lstStyle/>
          <a:p>
            <a:pPr indent="0" marL="0">
              <a:buNone/>
            </a:pPr>
            <a:r>
              <a:rPr lang="en-US" sz="1500" dirty="0">
                <a:solidFill>
                  <a:srgbClr val="1F1F1E"/>
                </a:solidFill>
                <a:latin typeface="Calibri" pitchFamily="34" charset="0"/>
                <a:ea typeface="Calibri" pitchFamily="34" charset="-122"/>
                <a:cs typeface="Calibri" pitchFamily="34" charset="-120"/>
              </a:rPr>
              <a:t>What would success look like for you 90 days from now?</a:t>
            </a:r>
            <a:endParaRPr lang="en-US" sz="1500" dirty="0"/>
          </a:p>
        </p:txBody>
      </p:sp>
      <p:sp>
        <p:nvSpPr>
          <p:cNvPr id="21" name="Shape 19"/>
          <p:cNvSpPr/>
          <p:nvPr/>
        </p:nvSpPr>
        <p:spPr>
          <a:xfrm>
            <a:off x="1325880" y="5806440"/>
            <a:ext cx="10332720" cy="0"/>
          </a:xfrm>
          <a:prstGeom prst="line">
            <a:avLst/>
          </a:prstGeom>
          <a:noFill/>
          <a:ln w="9525">
            <a:solidFill>
              <a:srgbClr val="D6D1C4"/>
            </a:solidFill>
            <a:prstDash val="solid"/>
          </a:ln>
        </p:spPr>
      </p:sp>
      <p:sp>
        <p:nvSpPr>
          <p:cNvPr id="22" name="Text 20"/>
          <p:cNvSpPr/>
          <p:nvPr/>
        </p:nvSpPr>
        <p:spPr>
          <a:xfrm>
            <a:off x="502920" y="5897880"/>
            <a:ext cx="11247120" cy="457200"/>
          </a:xfrm>
          <a:prstGeom prst="rect">
            <a:avLst/>
          </a:prstGeom>
          <a:noFill/>
          <a:ln/>
        </p:spPr>
        <p:txBody>
          <a:bodyPr wrap="square" rtlCol="0" anchor="ctr"/>
          <a:lstStyle/>
          <a:p>
            <a:pPr indent="0" marL="0">
              <a:lnSpc>
                <a:spcPct val="130000"/>
              </a:lnSpc>
              <a:buNone/>
            </a:pPr>
            <a:r>
              <a:rPr lang="en-US" sz="1150" i="1" dirty="0">
                <a:solidFill>
                  <a:srgbClr val="6B6760"/>
                </a:solidFill>
                <a:latin typeface="Calibri" pitchFamily="34" charset="0"/>
                <a:ea typeface="Calibri" pitchFamily="34" charset="-122"/>
                <a:cs typeface="Calibri" pitchFamily="34" charset="-120"/>
              </a:rPr>
              <a:t>I'll play back what I'm hearing before we move on. If I've got something wrong, please stop me. I'd much rather be corrected now than talk past you for the next thirty minutes.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WHO THIS HELPS AT FINTECHCO</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Three teams. Three different bottlenecks. One tool.</a:t>
            </a:r>
            <a:endParaRPr lang="en-US" sz="3400" dirty="0"/>
          </a:p>
        </p:txBody>
      </p:sp>
      <p:sp>
        <p:nvSpPr>
          <p:cNvPr id="7" name="Shape 5"/>
          <p:cNvSpPr/>
          <p:nvPr/>
        </p:nvSpPr>
        <p:spPr>
          <a:xfrm>
            <a:off x="502920" y="1828800"/>
            <a:ext cx="3657600" cy="868680"/>
          </a:xfrm>
          <a:prstGeom prst="rect">
            <a:avLst/>
          </a:prstGeom>
          <a:solidFill>
            <a:srgbClr val="CC785C"/>
          </a:solidFill>
          <a:ln w="12700">
            <a:solidFill>
              <a:srgbClr val="CC785C"/>
            </a:solidFill>
            <a:prstDash val="solid"/>
          </a:ln>
        </p:spPr>
      </p:sp>
      <p:sp>
        <p:nvSpPr>
          <p:cNvPr id="8" name="Text 6"/>
          <p:cNvSpPr/>
          <p:nvPr/>
        </p:nvSpPr>
        <p:spPr>
          <a:xfrm>
            <a:off x="777240" y="1874520"/>
            <a:ext cx="3200400" cy="50292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120</a:t>
            </a:r>
            <a:endParaRPr lang="en-US" sz="3200" dirty="0"/>
          </a:p>
        </p:txBody>
      </p:sp>
      <p:sp>
        <p:nvSpPr>
          <p:cNvPr id="9" name="Text 7"/>
          <p:cNvSpPr/>
          <p:nvPr/>
        </p:nvSpPr>
        <p:spPr>
          <a:xfrm>
            <a:off x="777240" y="2331720"/>
            <a:ext cx="320040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Software Engineers</a:t>
            </a:r>
            <a:endParaRPr lang="en-US" sz="1200" dirty="0"/>
          </a:p>
        </p:txBody>
      </p:sp>
      <p:sp>
        <p:nvSpPr>
          <p:cNvPr id="10" name="Shape 8"/>
          <p:cNvSpPr/>
          <p:nvPr/>
        </p:nvSpPr>
        <p:spPr>
          <a:xfrm>
            <a:off x="502920" y="2697480"/>
            <a:ext cx="3657600" cy="3246120"/>
          </a:xfrm>
          <a:prstGeom prst="rect">
            <a:avLst/>
          </a:prstGeom>
          <a:solidFill>
            <a:srgbClr val="E8E4D8"/>
          </a:solidFill>
          <a:ln w="9525">
            <a:solidFill>
              <a:srgbClr val="D6D1C4"/>
            </a:solidFill>
            <a:prstDash val="solid"/>
          </a:ln>
        </p:spPr>
      </p:sp>
      <p:sp>
        <p:nvSpPr>
          <p:cNvPr id="11" name="Text 9"/>
          <p:cNvSpPr/>
          <p:nvPr/>
        </p:nvSpPr>
        <p:spPr>
          <a:xfrm>
            <a:off x="777240" y="2834640"/>
            <a:ext cx="3200400" cy="274320"/>
          </a:xfrm>
          <a:prstGeom prst="rect">
            <a:avLst/>
          </a:prstGeom>
          <a:noFill/>
          <a:ln/>
        </p:spPr>
        <p:txBody>
          <a:bodyPr wrap="square" rtlCol="0" anchor="ctr"/>
          <a:lstStyle/>
          <a:p>
            <a:pPr indent="0" marL="0">
              <a:buNone/>
            </a:pPr>
            <a:r>
              <a:rPr lang="en-US" sz="950" b="1" spc="200" kern="0" dirty="0">
                <a:solidFill>
                  <a:srgbClr val="6B6760"/>
                </a:solidFill>
                <a:latin typeface="Calibri" pitchFamily="34" charset="0"/>
                <a:ea typeface="Calibri" pitchFamily="34" charset="-122"/>
                <a:cs typeface="Calibri" pitchFamily="34" charset="-120"/>
              </a:rPr>
              <a:t>TODAY</a:t>
            </a:r>
            <a:endParaRPr lang="en-US" sz="950" dirty="0"/>
          </a:p>
        </p:txBody>
      </p:sp>
      <p:sp>
        <p:nvSpPr>
          <p:cNvPr id="12" name="Text 10"/>
          <p:cNvSpPr/>
          <p:nvPr/>
        </p:nvSpPr>
        <p:spPr>
          <a:xfrm>
            <a:off x="777240" y="3108960"/>
            <a:ext cx="3200400" cy="123444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A week of meetings and Slack messages before a new engineer feels safe touching code they didn't write.</a:t>
            </a:r>
            <a:endParaRPr lang="en-US" sz="1150" dirty="0"/>
          </a:p>
        </p:txBody>
      </p:sp>
      <p:sp>
        <p:nvSpPr>
          <p:cNvPr id="13" name="Shape 11"/>
          <p:cNvSpPr/>
          <p:nvPr/>
        </p:nvSpPr>
        <p:spPr>
          <a:xfrm>
            <a:off x="777240" y="4343400"/>
            <a:ext cx="3108960" cy="0"/>
          </a:xfrm>
          <a:prstGeom prst="line">
            <a:avLst/>
          </a:prstGeom>
          <a:noFill/>
          <a:ln w="9525">
            <a:solidFill>
              <a:srgbClr val="D6D1C4"/>
            </a:solidFill>
            <a:prstDash val="solid"/>
          </a:ln>
        </p:spPr>
      </p:sp>
      <p:sp>
        <p:nvSpPr>
          <p:cNvPr id="14" name="Text 12"/>
          <p:cNvSpPr/>
          <p:nvPr/>
        </p:nvSpPr>
        <p:spPr>
          <a:xfrm>
            <a:off x="777240" y="4434840"/>
            <a:ext cx="3200400" cy="274320"/>
          </a:xfrm>
          <a:prstGeom prst="rect">
            <a:avLst/>
          </a:prstGeom>
          <a:noFill/>
          <a:ln/>
        </p:spPr>
        <p:txBody>
          <a:bodyPr wrap="square" rtlCol="0" anchor="ctr"/>
          <a:lstStyle/>
          <a:p>
            <a:pPr indent="0" marL="0">
              <a:buNone/>
            </a:pPr>
            <a:r>
              <a:rPr lang="en-US" sz="950" b="1" spc="200" kern="0" dirty="0">
                <a:solidFill>
                  <a:srgbClr val="CC785C"/>
                </a:solidFill>
                <a:latin typeface="Calibri" pitchFamily="34" charset="0"/>
                <a:ea typeface="Calibri" pitchFamily="34" charset="-122"/>
                <a:cs typeface="Calibri" pitchFamily="34" charset="-120"/>
              </a:rPr>
              <a:t>WITH CLAUDE CODE</a:t>
            </a:r>
            <a:endParaRPr lang="en-US" sz="950" dirty="0"/>
          </a:p>
        </p:txBody>
      </p:sp>
      <p:sp>
        <p:nvSpPr>
          <p:cNvPr id="15" name="Text 13"/>
          <p:cNvSpPr/>
          <p:nvPr/>
        </p:nvSpPr>
        <p:spPr>
          <a:xfrm>
            <a:off x="777240" y="4709160"/>
            <a:ext cx="3200400" cy="118872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A new engineer can be productive in a day instead of a week, and senior engineers stop being the review bottleneck.</a:t>
            </a:r>
            <a:endParaRPr lang="en-US" sz="1150" dirty="0"/>
          </a:p>
        </p:txBody>
      </p:sp>
      <p:sp>
        <p:nvSpPr>
          <p:cNvPr id="16" name="Shape 14"/>
          <p:cNvSpPr/>
          <p:nvPr/>
        </p:nvSpPr>
        <p:spPr>
          <a:xfrm>
            <a:off x="4389120" y="1828800"/>
            <a:ext cx="3657600" cy="868680"/>
          </a:xfrm>
          <a:prstGeom prst="rect">
            <a:avLst/>
          </a:prstGeom>
          <a:solidFill>
            <a:srgbClr val="CC785C"/>
          </a:solidFill>
          <a:ln w="12700">
            <a:solidFill>
              <a:srgbClr val="CC785C"/>
            </a:solidFill>
            <a:prstDash val="solid"/>
          </a:ln>
        </p:spPr>
      </p:sp>
      <p:sp>
        <p:nvSpPr>
          <p:cNvPr id="17" name="Text 15"/>
          <p:cNvSpPr/>
          <p:nvPr/>
        </p:nvSpPr>
        <p:spPr>
          <a:xfrm>
            <a:off x="4663440" y="1874520"/>
            <a:ext cx="3200400" cy="50292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20</a:t>
            </a:r>
            <a:endParaRPr lang="en-US" sz="3200" dirty="0"/>
          </a:p>
        </p:txBody>
      </p:sp>
      <p:sp>
        <p:nvSpPr>
          <p:cNvPr id="18" name="Text 16"/>
          <p:cNvSpPr/>
          <p:nvPr/>
        </p:nvSpPr>
        <p:spPr>
          <a:xfrm>
            <a:off x="4663440" y="2331720"/>
            <a:ext cx="320040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SREs</a:t>
            </a:r>
            <a:endParaRPr lang="en-US" sz="1200" dirty="0"/>
          </a:p>
        </p:txBody>
      </p:sp>
      <p:sp>
        <p:nvSpPr>
          <p:cNvPr id="19" name="Shape 17"/>
          <p:cNvSpPr/>
          <p:nvPr/>
        </p:nvSpPr>
        <p:spPr>
          <a:xfrm>
            <a:off x="4389120" y="2697480"/>
            <a:ext cx="3657600" cy="3246120"/>
          </a:xfrm>
          <a:prstGeom prst="rect">
            <a:avLst/>
          </a:prstGeom>
          <a:solidFill>
            <a:srgbClr val="E8E4D8"/>
          </a:solidFill>
          <a:ln w="9525">
            <a:solidFill>
              <a:srgbClr val="D6D1C4"/>
            </a:solidFill>
            <a:prstDash val="solid"/>
          </a:ln>
        </p:spPr>
      </p:sp>
      <p:sp>
        <p:nvSpPr>
          <p:cNvPr id="20" name="Text 18"/>
          <p:cNvSpPr/>
          <p:nvPr/>
        </p:nvSpPr>
        <p:spPr>
          <a:xfrm>
            <a:off x="4663440" y="2834640"/>
            <a:ext cx="3200400" cy="274320"/>
          </a:xfrm>
          <a:prstGeom prst="rect">
            <a:avLst/>
          </a:prstGeom>
          <a:noFill/>
          <a:ln/>
        </p:spPr>
        <p:txBody>
          <a:bodyPr wrap="square" rtlCol="0" anchor="ctr"/>
          <a:lstStyle/>
          <a:p>
            <a:pPr indent="0" marL="0">
              <a:buNone/>
            </a:pPr>
            <a:r>
              <a:rPr lang="en-US" sz="950" b="1" spc="200" kern="0" dirty="0">
                <a:solidFill>
                  <a:srgbClr val="6B6760"/>
                </a:solidFill>
                <a:latin typeface="Calibri" pitchFamily="34" charset="0"/>
                <a:ea typeface="Calibri" pitchFamily="34" charset="-122"/>
                <a:cs typeface="Calibri" pitchFamily="34" charset="-120"/>
              </a:rPr>
              <a:t>TODAY</a:t>
            </a:r>
            <a:endParaRPr lang="en-US" sz="950" dirty="0"/>
          </a:p>
        </p:txBody>
      </p:sp>
      <p:sp>
        <p:nvSpPr>
          <p:cNvPr id="21" name="Text 19"/>
          <p:cNvSpPr/>
          <p:nvPr/>
        </p:nvSpPr>
        <p:spPr>
          <a:xfrm>
            <a:off x="4663440" y="3108960"/>
            <a:ext cx="3200400" cy="123444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About 45 minutes between an alert firing and knowing where to look, usually in a service someone else owns and is asleep.</a:t>
            </a:r>
            <a:endParaRPr lang="en-US" sz="1150" dirty="0"/>
          </a:p>
        </p:txBody>
      </p:sp>
      <p:sp>
        <p:nvSpPr>
          <p:cNvPr id="22" name="Shape 20"/>
          <p:cNvSpPr/>
          <p:nvPr/>
        </p:nvSpPr>
        <p:spPr>
          <a:xfrm>
            <a:off x="4663440" y="4343400"/>
            <a:ext cx="3108960" cy="0"/>
          </a:xfrm>
          <a:prstGeom prst="line">
            <a:avLst/>
          </a:prstGeom>
          <a:noFill/>
          <a:ln w="9525">
            <a:solidFill>
              <a:srgbClr val="D6D1C4"/>
            </a:solidFill>
            <a:prstDash val="solid"/>
          </a:ln>
        </p:spPr>
      </p:sp>
      <p:sp>
        <p:nvSpPr>
          <p:cNvPr id="23" name="Text 21"/>
          <p:cNvSpPr/>
          <p:nvPr/>
        </p:nvSpPr>
        <p:spPr>
          <a:xfrm>
            <a:off x="4663440" y="4434840"/>
            <a:ext cx="3200400" cy="274320"/>
          </a:xfrm>
          <a:prstGeom prst="rect">
            <a:avLst/>
          </a:prstGeom>
          <a:noFill/>
          <a:ln/>
        </p:spPr>
        <p:txBody>
          <a:bodyPr wrap="square" rtlCol="0" anchor="ctr"/>
          <a:lstStyle/>
          <a:p>
            <a:pPr indent="0" marL="0">
              <a:buNone/>
            </a:pPr>
            <a:r>
              <a:rPr lang="en-US" sz="950" b="1" spc="200" kern="0" dirty="0">
                <a:solidFill>
                  <a:srgbClr val="CC785C"/>
                </a:solidFill>
                <a:latin typeface="Calibri" pitchFamily="34" charset="0"/>
                <a:ea typeface="Calibri" pitchFamily="34" charset="-122"/>
                <a:cs typeface="Calibri" pitchFamily="34" charset="-120"/>
              </a:rPr>
              <a:t>WITH CLAUDE CODE</a:t>
            </a:r>
            <a:endParaRPr lang="en-US" sz="950" dirty="0"/>
          </a:p>
        </p:txBody>
      </p:sp>
      <p:sp>
        <p:nvSpPr>
          <p:cNvPr id="24" name="Text 22"/>
          <p:cNvSpPr/>
          <p:nvPr/>
        </p:nvSpPr>
        <p:spPr>
          <a:xfrm>
            <a:off x="4663440" y="4709160"/>
            <a:ext cx="3200400" cy="118872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That gap can close to around 15 minutes. It's often the clearest ROI signal we see in a pilot.</a:t>
            </a:r>
            <a:endParaRPr lang="en-US" sz="1150" dirty="0"/>
          </a:p>
        </p:txBody>
      </p:sp>
      <p:sp>
        <p:nvSpPr>
          <p:cNvPr id="25" name="Shape 23"/>
          <p:cNvSpPr/>
          <p:nvPr/>
        </p:nvSpPr>
        <p:spPr>
          <a:xfrm>
            <a:off x="8275320" y="1828800"/>
            <a:ext cx="3657600" cy="868680"/>
          </a:xfrm>
          <a:prstGeom prst="rect">
            <a:avLst/>
          </a:prstGeom>
          <a:solidFill>
            <a:srgbClr val="CC785C"/>
          </a:solidFill>
          <a:ln w="12700">
            <a:solidFill>
              <a:srgbClr val="CC785C"/>
            </a:solidFill>
            <a:prstDash val="solid"/>
          </a:ln>
        </p:spPr>
      </p:sp>
      <p:sp>
        <p:nvSpPr>
          <p:cNvPr id="26" name="Text 24"/>
          <p:cNvSpPr/>
          <p:nvPr/>
        </p:nvSpPr>
        <p:spPr>
          <a:xfrm>
            <a:off x="8549640" y="1874520"/>
            <a:ext cx="3200400" cy="50292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40</a:t>
            </a:r>
            <a:endParaRPr lang="en-US" sz="3200" dirty="0"/>
          </a:p>
        </p:txBody>
      </p:sp>
      <p:sp>
        <p:nvSpPr>
          <p:cNvPr id="27" name="Text 25"/>
          <p:cNvSpPr/>
          <p:nvPr/>
        </p:nvSpPr>
        <p:spPr>
          <a:xfrm>
            <a:off x="8549640" y="2331720"/>
            <a:ext cx="320040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Data Scientists</a:t>
            </a:r>
            <a:endParaRPr lang="en-US" sz="1200" dirty="0"/>
          </a:p>
        </p:txBody>
      </p:sp>
      <p:sp>
        <p:nvSpPr>
          <p:cNvPr id="28" name="Shape 26"/>
          <p:cNvSpPr/>
          <p:nvPr/>
        </p:nvSpPr>
        <p:spPr>
          <a:xfrm>
            <a:off x="8275320" y="2697480"/>
            <a:ext cx="3657600" cy="3246120"/>
          </a:xfrm>
          <a:prstGeom prst="rect">
            <a:avLst/>
          </a:prstGeom>
          <a:solidFill>
            <a:srgbClr val="E8E4D8"/>
          </a:solidFill>
          <a:ln w="9525">
            <a:solidFill>
              <a:srgbClr val="D6D1C4"/>
            </a:solidFill>
            <a:prstDash val="solid"/>
          </a:ln>
        </p:spPr>
      </p:sp>
      <p:sp>
        <p:nvSpPr>
          <p:cNvPr id="29" name="Text 27"/>
          <p:cNvSpPr/>
          <p:nvPr/>
        </p:nvSpPr>
        <p:spPr>
          <a:xfrm>
            <a:off x="8549640" y="2834640"/>
            <a:ext cx="3200400" cy="274320"/>
          </a:xfrm>
          <a:prstGeom prst="rect">
            <a:avLst/>
          </a:prstGeom>
          <a:noFill/>
          <a:ln/>
        </p:spPr>
        <p:txBody>
          <a:bodyPr wrap="square" rtlCol="0" anchor="ctr"/>
          <a:lstStyle/>
          <a:p>
            <a:pPr indent="0" marL="0">
              <a:buNone/>
            </a:pPr>
            <a:r>
              <a:rPr lang="en-US" sz="950" b="1" spc="200" kern="0" dirty="0">
                <a:solidFill>
                  <a:srgbClr val="6B6760"/>
                </a:solidFill>
                <a:latin typeface="Calibri" pitchFamily="34" charset="0"/>
                <a:ea typeface="Calibri" pitchFamily="34" charset="-122"/>
                <a:cs typeface="Calibri" pitchFamily="34" charset="-120"/>
              </a:rPr>
              <a:t>TODAY</a:t>
            </a:r>
            <a:endParaRPr lang="en-US" sz="950" dirty="0"/>
          </a:p>
        </p:txBody>
      </p:sp>
      <p:sp>
        <p:nvSpPr>
          <p:cNvPr id="30" name="Text 28"/>
          <p:cNvSpPr/>
          <p:nvPr/>
        </p:nvSpPr>
        <p:spPr>
          <a:xfrm>
            <a:off x="8549640" y="3108960"/>
            <a:ext cx="3200400" cy="123444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Often blocked on boilerplate like API integrations, dashboards, and pipeline scaffolding. They have the ideas; they're waiting on engineering bandwidth.</a:t>
            </a:r>
            <a:endParaRPr lang="en-US" sz="1150" dirty="0"/>
          </a:p>
        </p:txBody>
      </p:sp>
      <p:sp>
        <p:nvSpPr>
          <p:cNvPr id="31" name="Shape 29"/>
          <p:cNvSpPr/>
          <p:nvPr/>
        </p:nvSpPr>
        <p:spPr>
          <a:xfrm>
            <a:off x="8549640" y="4343400"/>
            <a:ext cx="3108960" cy="0"/>
          </a:xfrm>
          <a:prstGeom prst="line">
            <a:avLst/>
          </a:prstGeom>
          <a:noFill/>
          <a:ln w="9525">
            <a:solidFill>
              <a:srgbClr val="D6D1C4"/>
            </a:solidFill>
            <a:prstDash val="solid"/>
          </a:ln>
        </p:spPr>
      </p:sp>
      <p:sp>
        <p:nvSpPr>
          <p:cNvPr id="32" name="Text 30"/>
          <p:cNvSpPr/>
          <p:nvPr/>
        </p:nvSpPr>
        <p:spPr>
          <a:xfrm>
            <a:off x="8549640" y="4434840"/>
            <a:ext cx="3200400" cy="274320"/>
          </a:xfrm>
          <a:prstGeom prst="rect">
            <a:avLst/>
          </a:prstGeom>
          <a:noFill/>
          <a:ln/>
        </p:spPr>
        <p:txBody>
          <a:bodyPr wrap="square" rtlCol="0" anchor="ctr"/>
          <a:lstStyle/>
          <a:p>
            <a:pPr indent="0" marL="0">
              <a:buNone/>
            </a:pPr>
            <a:r>
              <a:rPr lang="en-US" sz="950" b="1" spc="200" kern="0" dirty="0">
                <a:solidFill>
                  <a:srgbClr val="CC785C"/>
                </a:solidFill>
                <a:latin typeface="Calibri" pitchFamily="34" charset="0"/>
                <a:ea typeface="Calibri" pitchFamily="34" charset="-122"/>
                <a:cs typeface="Calibri" pitchFamily="34" charset="-120"/>
              </a:rPr>
              <a:t>WITH CLAUDE CODE</a:t>
            </a:r>
            <a:endParaRPr lang="en-US" sz="950" dirty="0"/>
          </a:p>
        </p:txBody>
      </p:sp>
      <p:sp>
        <p:nvSpPr>
          <p:cNvPr id="33" name="Text 31"/>
          <p:cNvSpPr/>
          <p:nvPr/>
        </p:nvSpPr>
        <p:spPr>
          <a:xfrm>
            <a:off x="8549640" y="4709160"/>
            <a:ext cx="3200400" cy="118872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They get to ship the work they were actually hired to do, and you don't need to add headcount to get there.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SAFETY, SECURITY, AND GOVERNANCE</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Designed for a regulated environment from the start.</a:t>
            </a:r>
            <a:endParaRPr lang="en-US" sz="3400" dirty="0"/>
          </a:p>
        </p:txBody>
      </p:sp>
      <p:sp>
        <p:nvSpPr>
          <p:cNvPr id="7" name="Text 5"/>
          <p:cNvSpPr/>
          <p:nvPr/>
        </p:nvSpPr>
        <p:spPr>
          <a:xfrm>
            <a:off x="502920" y="1691640"/>
            <a:ext cx="11247120" cy="365760"/>
          </a:xfrm>
          <a:prstGeom prst="rect">
            <a:avLst/>
          </a:prstGeom>
          <a:noFill/>
          <a:ln/>
        </p:spPr>
        <p:txBody>
          <a:bodyPr wrap="square"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SOC 2 Type II   ·   PCI DSS aware   ·   FFIEC ready   ·   Contractually no training on your code</a:t>
            </a:r>
            <a:endParaRPr lang="en-US" sz="1200" dirty="0"/>
          </a:p>
        </p:txBody>
      </p:sp>
      <p:sp>
        <p:nvSpPr>
          <p:cNvPr id="8" name="Shape 6"/>
          <p:cNvSpPr/>
          <p:nvPr/>
        </p:nvSpPr>
        <p:spPr>
          <a:xfrm>
            <a:off x="502920" y="2240280"/>
            <a:ext cx="5532120" cy="2011680"/>
          </a:xfrm>
          <a:prstGeom prst="rect">
            <a:avLst/>
          </a:prstGeom>
          <a:solidFill>
            <a:srgbClr val="E8E4D8"/>
          </a:solidFill>
          <a:ln w="9525">
            <a:solidFill>
              <a:srgbClr val="D6D1C4"/>
            </a:solidFill>
            <a:prstDash val="solid"/>
          </a:ln>
        </p:spPr>
      </p:sp>
      <p:sp>
        <p:nvSpPr>
          <p:cNvPr id="9" name="Shape 7"/>
          <p:cNvSpPr/>
          <p:nvPr/>
        </p:nvSpPr>
        <p:spPr>
          <a:xfrm>
            <a:off x="502920" y="2240280"/>
            <a:ext cx="5532120" cy="73152"/>
          </a:xfrm>
          <a:prstGeom prst="rect">
            <a:avLst/>
          </a:prstGeom>
          <a:solidFill>
            <a:srgbClr val="CC785C"/>
          </a:solidFill>
          <a:ln w="12700">
            <a:solidFill>
              <a:srgbClr val="CC785C"/>
            </a:solidFill>
            <a:prstDash val="solid"/>
          </a:ln>
        </p:spPr>
      </p:sp>
      <p:sp>
        <p:nvSpPr>
          <p:cNvPr id="10" name="Text 8"/>
          <p:cNvSpPr/>
          <p:nvPr/>
        </p:nvSpPr>
        <p:spPr>
          <a:xfrm>
            <a:off x="777240" y="246888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Your code stays on your machine.</a:t>
            </a:r>
            <a:endParaRPr lang="en-US" sz="1400" dirty="0"/>
          </a:p>
        </p:txBody>
      </p:sp>
      <p:sp>
        <p:nvSpPr>
          <p:cNvPr id="11" name="Text 9"/>
          <p:cNvSpPr/>
          <p:nvPr/>
        </p:nvSpPr>
        <p:spPr>
          <a:xfrm>
            <a:off x="777240" y="2926080"/>
            <a:ext cx="5074920" cy="12344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Claude Code runs locally. Source files are read on your device, and only the session prompt goes to the API. Nothing is uploaded in bulk, and nothing is kept after the session ends.</a:t>
            </a:r>
            <a:endParaRPr lang="en-US" sz="1150" dirty="0"/>
          </a:p>
        </p:txBody>
      </p:sp>
      <p:sp>
        <p:nvSpPr>
          <p:cNvPr id="12" name="Shape 10"/>
          <p:cNvSpPr/>
          <p:nvPr/>
        </p:nvSpPr>
        <p:spPr>
          <a:xfrm>
            <a:off x="6263640" y="2240280"/>
            <a:ext cx="5532120" cy="2011680"/>
          </a:xfrm>
          <a:prstGeom prst="rect">
            <a:avLst/>
          </a:prstGeom>
          <a:solidFill>
            <a:srgbClr val="E8E4D8"/>
          </a:solidFill>
          <a:ln w="9525">
            <a:solidFill>
              <a:srgbClr val="D6D1C4"/>
            </a:solidFill>
            <a:prstDash val="solid"/>
          </a:ln>
        </p:spPr>
      </p:sp>
      <p:sp>
        <p:nvSpPr>
          <p:cNvPr id="13" name="Shape 11"/>
          <p:cNvSpPr/>
          <p:nvPr/>
        </p:nvSpPr>
        <p:spPr>
          <a:xfrm>
            <a:off x="6263640" y="2240280"/>
            <a:ext cx="5532120" cy="73152"/>
          </a:xfrm>
          <a:prstGeom prst="rect">
            <a:avLst/>
          </a:prstGeom>
          <a:solidFill>
            <a:srgbClr val="CC785C"/>
          </a:solidFill>
          <a:ln w="12700">
            <a:solidFill>
              <a:srgbClr val="CC785C"/>
            </a:solidFill>
            <a:prstDash val="solid"/>
          </a:ln>
        </p:spPr>
      </p:sp>
      <p:sp>
        <p:nvSpPr>
          <p:cNvPr id="14" name="Text 12"/>
          <p:cNvSpPr/>
          <p:nvPr/>
        </p:nvSpPr>
        <p:spPr>
          <a:xfrm>
            <a:off x="6537960" y="246888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Nothing ships without your approval.</a:t>
            </a:r>
            <a:endParaRPr lang="en-US" sz="1400" dirty="0"/>
          </a:p>
        </p:txBody>
      </p:sp>
      <p:sp>
        <p:nvSpPr>
          <p:cNvPr id="15" name="Text 13"/>
          <p:cNvSpPr/>
          <p:nvPr/>
        </p:nvSpPr>
        <p:spPr>
          <a:xfrm>
            <a:off x="6537960" y="2926080"/>
            <a:ext cx="5074920" cy="12344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Every change Claude proposes is shown to the engineer first, as a full diff, line by line. They choose to approve or decline. There's no silent auto-apply anywhere in the workflow.</a:t>
            </a:r>
            <a:endParaRPr lang="en-US" sz="1150" dirty="0"/>
          </a:p>
        </p:txBody>
      </p:sp>
      <p:sp>
        <p:nvSpPr>
          <p:cNvPr id="16" name="Shape 14"/>
          <p:cNvSpPr/>
          <p:nvPr/>
        </p:nvSpPr>
        <p:spPr>
          <a:xfrm>
            <a:off x="502920" y="4434840"/>
            <a:ext cx="5532120" cy="2011680"/>
          </a:xfrm>
          <a:prstGeom prst="rect">
            <a:avLst/>
          </a:prstGeom>
          <a:solidFill>
            <a:srgbClr val="E8E4D8"/>
          </a:solidFill>
          <a:ln w="9525">
            <a:solidFill>
              <a:srgbClr val="D6D1C4"/>
            </a:solidFill>
            <a:prstDash val="solid"/>
          </a:ln>
        </p:spPr>
      </p:sp>
      <p:sp>
        <p:nvSpPr>
          <p:cNvPr id="17" name="Shape 15"/>
          <p:cNvSpPr/>
          <p:nvPr/>
        </p:nvSpPr>
        <p:spPr>
          <a:xfrm>
            <a:off x="502920" y="4434840"/>
            <a:ext cx="5532120" cy="73152"/>
          </a:xfrm>
          <a:prstGeom prst="rect">
            <a:avLst/>
          </a:prstGeom>
          <a:solidFill>
            <a:srgbClr val="CC785C"/>
          </a:solidFill>
          <a:ln w="12700">
            <a:solidFill>
              <a:srgbClr val="CC785C"/>
            </a:solidFill>
            <a:prstDash val="solid"/>
          </a:ln>
        </p:spPr>
      </p:sp>
      <p:sp>
        <p:nvSpPr>
          <p:cNvPr id="18" name="Text 16"/>
          <p:cNvSpPr/>
          <p:nvPr/>
        </p:nvSpPr>
        <p:spPr>
          <a:xfrm>
            <a:off x="777240" y="466344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Your rules, applied automatically.</a:t>
            </a:r>
            <a:endParaRPr lang="en-US" sz="1400" dirty="0"/>
          </a:p>
        </p:txBody>
      </p:sp>
      <p:sp>
        <p:nvSpPr>
          <p:cNvPr id="19" name="Text 17"/>
          <p:cNvSpPr/>
          <p:nvPr/>
        </p:nvSpPr>
        <p:spPr>
          <a:xfrm>
            <a:off x="777240" y="5120640"/>
            <a:ext cx="5074920" cy="12344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CLAUDE.md is your policy, written in plain English and committed to the repo. Governance hooks quietly run your tests on every change. Same standards for every engineer, every time.</a:t>
            </a:r>
            <a:endParaRPr lang="en-US" sz="1150" dirty="0"/>
          </a:p>
        </p:txBody>
      </p:sp>
      <p:sp>
        <p:nvSpPr>
          <p:cNvPr id="20" name="Shape 18"/>
          <p:cNvSpPr/>
          <p:nvPr/>
        </p:nvSpPr>
        <p:spPr>
          <a:xfrm>
            <a:off x="6263640" y="4434840"/>
            <a:ext cx="5532120" cy="2011680"/>
          </a:xfrm>
          <a:prstGeom prst="rect">
            <a:avLst/>
          </a:prstGeom>
          <a:solidFill>
            <a:srgbClr val="E8E4D8"/>
          </a:solidFill>
          <a:ln w="9525">
            <a:solidFill>
              <a:srgbClr val="D6D1C4"/>
            </a:solidFill>
            <a:prstDash val="solid"/>
          </a:ln>
        </p:spPr>
      </p:sp>
      <p:sp>
        <p:nvSpPr>
          <p:cNvPr id="21" name="Shape 19"/>
          <p:cNvSpPr/>
          <p:nvPr/>
        </p:nvSpPr>
        <p:spPr>
          <a:xfrm>
            <a:off x="6263640" y="4434840"/>
            <a:ext cx="5532120" cy="73152"/>
          </a:xfrm>
          <a:prstGeom prst="rect">
            <a:avLst/>
          </a:prstGeom>
          <a:solidFill>
            <a:srgbClr val="CC785C"/>
          </a:solidFill>
          <a:ln w="12700">
            <a:solidFill>
              <a:srgbClr val="CC785C"/>
            </a:solidFill>
            <a:prstDash val="solid"/>
          </a:ln>
        </p:spPr>
      </p:sp>
      <p:sp>
        <p:nvSpPr>
          <p:cNvPr id="22" name="Text 20"/>
          <p:cNvSpPr/>
          <p:nvPr/>
        </p:nvSpPr>
        <p:spPr>
          <a:xfrm>
            <a:off x="6537960" y="466344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A clean audit trail, by default.</a:t>
            </a:r>
            <a:endParaRPr lang="en-US" sz="1400" dirty="0"/>
          </a:p>
        </p:txBody>
      </p:sp>
      <p:sp>
        <p:nvSpPr>
          <p:cNvPr id="23" name="Text 21"/>
          <p:cNvSpPr/>
          <p:nvPr/>
        </p:nvSpPr>
        <p:spPr>
          <a:xfrm>
            <a:off x="6537960" y="5120640"/>
            <a:ext cx="5074920" cy="12344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Every tool call lives in the session transcript, and every commit is still attributed to the engineer who made it. Your auditors see a clear chain of custody, not a black box.</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ARCHITECTURE  ·  AT A GLANCE</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How Claude Code runs inside your environment.</a:t>
            </a:r>
            <a:endParaRPr lang="en-US" sz="3400" dirty="0"/>
          </a:p>
        </p:txBody>
      </p:sp>
      <p:sp>
        <p:nvSpPr>
          <p:cNvPr id="7" name="Text 5"/>
          <p:cNvSpPr/>
          <p:nvPr/>
        </p:nvSpPr>
        <p:spPr>
          <a:xfrm>
            <a:off x="502920" y="1691640"/>
            <a:ext cx="11247120" cy="502920"/>
          </a:xfrm>
          <a:prstGeom prst="rect">
            <a:avLst/>
          </a:prstGeom>
          <a:noFill/>
          <a:ln/>
        </p:spPr>
        <p:txBody>
          <a:bodyPr wrap="square" rtlCol="0" anchor="ctr"/>
          <a:lstStyle/>
          <a:p>
            <a:pPr indent="0" marL="0">
              <a:lnSpc>
                <a:spcPct val="130000"/>
              </a:lnSpc>
              <a:buNone/>
            </a:pPr>
            <a:r>
              <a:rPr lang="en-US" sz="1250" i="1" dirty="0">
                <a:solidFill>
                  <a:srgbClr val="6B6760"/>
                </a:solidFill>
                <a:latin typeface="Calibri" pitchFamily="34" charset="0"/>
                <a:ea typeface="Calibri" pitchFamily="34" charset="-122"/>
                <a:cs typeface="Calibri" pitchFamily="34" charset="-120"/>
              </a:rPr>
              <a:t>One picture for your security team. Everything that leaves the laptop is a session prompt over HTTPS. Nothing is stored, nothing is trained on, and every write action waits for a human.</a:t>
            </a:r>
            <a:endParaRPr lang="en-US" sz="1250" dirty="0"/>
          </a:p>
        </p:txBody>
      </p:sp>
      <p:sp>
        <p:nvSpPr>
          <p:cNvPr id="8" name="Shape 6"/>
          <p:cNvSpPr/>
          <p:nvPr/>
        </p:nvSpPr>
        <p:spPr>
          <a:xfrm>
            <a:off x="502920" y="2514600"/>
            <a:ext cx="1600200" cy="1143000"/>
          </a:xfrm>
          <a:prstGeom prst="roundRect">
            <a:avLst>
              <a:gd name="adj" fmla="val 8000"/>
            </a:avLst>
          </a:prstGeom>
          <a:solidFill>
            <a:srgbClr val="E8E4D8"/>
          </a:solidFill>
          <a:ln w="15875">
            <a:solidFill>
              <a:srgbClr val="CC785C"/>
            </a:solidFill>
            <a:prstDash val="solid"/>
          </a:ln>
        </p:spPr>
      </p:sp>
      <p:sp>
        <p:nvSpPr>
          <p:cNvPr id="9" name="Text 7"/>
          <p:cNvSpPr/>
          <p:nvPr/>
        </p:nvSpPr>
        <p:spPr>
          <a:xfrm>
            <a:off x="548640" y="2651760"/>
            <a:ext cx="1508760" cy="640080"/>
          </a:xfrm>
          <a:prstGeom prst="rect">
            <a:avLst/>
          </a:prstGeom>
          <a:noFill/>
          <a:ln/>
        </p:spPr>
        <p:txBody>
          <a:bodyPr wrap="square" rtlCol="0" anchor="t"/>
          <a:lstStyle/>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Engineer's</a:t>
            </a:r>
            <a:endParaRPr lang="en-US" sz="1150" dirty="0"/>
          </a:p>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laptop</a:t>
            </a:r>
            <a:endParaRPr lang="en-US" sz="1150" dirty="0"/>
          </a:p>
        </p:txBody>
      </p:sp>
      <p:sp>
        <p:nvSpPr>
          <p:cNvPr id="10" name="Text 8"/>
          <p:cNvSpPr/>
          <p:nvPr/>
        </p:nvSpPr>
        <p:spPr>
          <a:xfrm>
            <a:off x="548640" y="3291840"/>
            <a:ext cx="1508760" cy="320040"/>
          </a:xfrm>
          <a:prstGeom prst="rect">
            <a:avLst/>
          </a:prstGeom>
          <a:noFill/>
          <a:ln/>
        </p:spPr>
        <p:txBody>
          <a:bodyPr wrap="square" rtlCol="0" anchor="ctr"/>
          <a:lstStyle/>
          <a:p>
            <a:pPr algn="ctr" indent="0" marL="0">
              <a:buNone/>
            </a:pPr>
            <a:r>
              <a:rPr lang="en-US" sz="950" i="1" dirty="0">
                <a:solidFill>
                  <a:srgbClr val="6B6760"/>
                </a:solidFill>
                <a:latin typeface="Calibri" pitchFamily="34" charset="0"/>
                <a:ea typeface="Calibri" pitchFamily="34" charset="-122"/>
                <a:cs typeface="Calibri" pitchFamily="34" charset="-120"/>
              </a:rPr>
              <a:t>Local only</a:t>
            </a:r>
            <a:endParaRPr lang="en-US" sz="950" dirty="0"/>
          </a:p>
        </p:txBody>
      </p:sp>
      <p:sp>
        <p:nvSpPr>
          <p:cNvPr id="11" name="Shape 9"/>
          <p:cNvSpPr/>
          <p:nvPr/>
        </p:nvSpPr>
        <p:spPr>
          <a:xfrm>
            <a:off x="2121408" y="3086100"/>
            <a:ext cx="292608" cy="0"/>
          </a:xfrm>
          <a:prstGeom prst="line">
            <a:avLst/>
          </a:prstGeom>
          <a:noFill/>
          <a:ln w="19050">
            <a:solidFill>
              <a:srgbClr val="CC785C"/>
            </a:solidFill>
            <a:prstDash val="solid"/>
            <a:tailEnd type="triangle"/>
          </a:ln>
        </p:spPr>
      </p:sp>
      <p:sp>
        <p:nvSpPr>
          <p:cNvPr id="12" name="Shape 10"/>
          <p:cNvSpPr/>
          <p:nvPr/>
        </p:nvSpPr>
        <p:spPr>
          <a:xfrm>
            <a:off x="2432304" y="2514600"/>
            <a:ext cx="1600200" cy="1143000"/>
          </a:xfrm>
          <a:prstGeom prst="roundRect">
            <a:avLst>
              <a:gd name="adj" fmla="val 8000"/>
            </a:avLst>
          </a:prstGeom>
          <a:solidFill>
            <a:srgbClr val="E8E4D8"/>
          </a:solidFill>
          <a:ln w="15875">
            <a:solidFill>
              <a:srgbClr val="CC785C"/>
            </a:solidFill>
            <a:prstDash val="solid"/>
          </a:ln>
        </p:spPr>
      </p:sp>
      <p:sp>
        <p:nvSpPr>
          <p:cNvPr id="13" name="Text 11"/>
          <p:cNvSpPr/>
          <p:nvPr/>
        </p:nvSpPr>
        <p:spPr>
          <a:xfrm>
            <a:off x="2478024" y="2651760"/>
            <a:ext cx="1508760" cy="640080"/>
          </a:xfrm>
          <a:prstGeom prst="rect">
            <a:avLst/>
          </a:prstGeom>
          <a:noFill/>
          <a:ln/>
        </p:spPr>
        <p:txBody>
          <a:bodyPr wrap="square" rtlCol="0" anchor="t"/>
          <a:lstStyle/>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CLAUDE.md</a:t>
            </a:r>
            <a:endParaRPr lang="en-US" sz="1150" dirty="0"/>
          </a:p>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policy</a:t>
            </a:r>
            <a:endParaRPr lang="en-US" sz="1150" dirty="0"/>
          </a:p>
        </p:txBody>
      </p:sp>
      <p:sp>
        <p:nvSpPr>
          <p:cNvPr id="14" name="Text 12"/>
          <p:cNvSpPr/>
          <p:nvPr/>
        </p:nvSpPr>
        <p:spPr>
          <a:xfrm>
            <a:off x="2478024" y="3291840"/>
            <a:ext cx="1508760" cy="320040"/>
          </a:xfrm>
          <a:prstGeom prst="rect">
            <a:avLst/>
          </a:prstGeom>
          <a:noFill/>
          <a:ln/>
        </p:spPr>
        <p:txBody>
          <a:bodyPr wrap="square" rtlCol="0" anchor="ctr"/>
          <a:lstStyle/>
          <a:p>
            <a:pPr algn="ctr" indent="0" marL="0">
              <a:buNone/>
            </a:pPr>
            <a:r>
              <a:rPr lang="en-US" sz="950" i="1" dirty="0">
                <a:solidFill>
                  <a:srgbClr val="6B6760"/>
                </a:solidFill>
                <a:latin typeface="Calibri" pitchFamily="34" charset="0"/>
                <a:ea typeface="Calibri" pitchFamily="34" charset="-122"/>
                <a:cs typeface="Calibri" pitchFamily="34" charset="-120"/>
              </a:rPr>
              <a:t>Version controlled</a:t>
            </a:r>
            <a:endParaRPr lang="en-US" sz="950" dirty="0"/>
          </a:p>
        </p:txBody>
      </p:sp>
      <p:sp>
        <p:nvSpPr>
          <p:cNvPr id="15" name="Shape 13"/>
          <p:cNvSpPr/>
          <p:nvPr/>
        </p:nvSpPr>
        <p:spPr>
          <a:xfrm>
            <a:off x="4050792" y="3086100"/>
            <a:ext cx="292608" cy="0"/>
          </a:xfrm>
          <a:prstGeom prst="line">
            <a:avLst/>
          </a:prstGeom>
          <a:noFill/>
          <a:ln w="19050">
            <a:solidFill>
              <a:srgbClr val="CC785C"/>
            </a:solidFill>
            <a:prstDash val="solid"/>
            <a:tailEnd type="triangle"/>
          </a:ln>
        </p:spPr>
      </p:sp>
      <p:sp>
        <p:nvSpPr>
          <p:cNvPr id="16" name="Shape 14"/>
          <p:cNvSpPr/>
          <p:nvPr/>
        </p:nvSpPr>
        <p:spPr>
          <a:xfrm>
            <a:off x="4361688" y="2514600"/>
            <a:ext cx="1600200" cy="1143000"/>
          </a:xfrm>
          <a:prstGeom prst="roundRect">
            <a:avLst>
              <a:gd name="adj" fmla="val 8000"/>
            </a:avLst>
          </a:prstGeom>
          <a:solidFill>
            <a:srgbClr val="E8E4D8"/>
          </a:solidFill>
          <a:ln w="15875">
            <a:solidFill>
              <a:srgbClr val="CC785C"/>
            </a:solidFill>
            <a:prstDash val="solid"/>
          </a:ln>
        </p:spPr>
      </p:sp>
      <p:sp>
        <p:nvSpPr>
          <p:cNvPr id="17" name="Text 15"/>
          <p:cNvSpPr/>
          <p:nvPr/>
        </p:nvSpPr>
        <p:spPr>
          <a:xfrm>
            <a:off x="4407408" y="2651760"/>
            <a:ext cx="1508760" cy="640080"/>
          </a:xfrm>
          <a:prstGeom prst="rect">
            <a:avLst/>
          </a:prstGeom>
          <a:noFill/>
          <a:ln/>
        </p:spPr>
        <p:txBody>
          <a:bodyPr wrap="square" rtlCol="0" anchor="t"/>
          <a:lstStyle/>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Claude Code</a:t>
            </a:r>
            <a:endParaRPr lang="en-US" sz="1150" dirty="0"/>
          </a:p>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CLI</a:t>
            </a:r>
            <a:endParaRPr lang="en-US" sz="1150" dirty="0"/>
          </a:p>
        </p:txBody>
      </p:sp>
      <p:sp>
        <p:nvSpPr>
          <p:cNvPr id="18" name="Text 16"/>
          <p:cNvSpPr/>
          <p:nvPr/>
        </p:nvSpPr>
        <p:spPr>
          <a:xfrm>
            <a:off x="4407408" y="3291840"/>
            <a:ext cx="1508760" cy="320040"/>
          </a:xfrm>
          <a:prstGeom prst="rect">
            <a:avLst/>
          </a:prstGeom>
          <a:noFill/>
          <a:ln/>
        </p:spPr>
        <p:txBody>
          <a:bodyPr wrap="square" rtlCol="0" anchor="ctr"/>
          <a:lstStyle/>
          <a:p>
            <a:pPr algn="ctr" indent="0" marL="0">
              <a:buNone/>
            </a:pPr>
            <a:r>
              <a:rPr lang="en-US" sz="950" i="1" dirty="0">
                <a:solidFill>
                  <a:srgbClr val="6B6760"/>
                </a:solidFill>
                <a:latin typeface="Calibri" pitchFamily="34" charset="0"/>
                <a:ea typeface="Calibri" pitchFamily="34" charset="-122"/>
                <a:cs typeface="Calibri" pitchFamily="34" charset="-120"/>
              </a:rPr>
              <a:t>Reads, plans</a:t>
            </a:r>
            <a:endParaRPr lang="en-US" sz="950" dirty="0"/>
          </a:p>
        </p:txBody>
      </p:sp>
      <p:sp>
        <p:nvSpPr>
          <p:cNvPr id="19" name="Shape 17"/>
          <p:cNvSpPr/>
          <p:nvPr/>
        </p:nvSpPr>
        <p:spPr>
          <a:xfrm>
            <a:off x="5980176" y="3086100"/>
            <a:ext cx="292608" cy="0"/>
          </a:xfrm>
          <a:prstGeom prst="line">
            <a:avLst/>
          </a:prstGeom>
          <a:noFill/>
          <a:ln w="19050">
            <a:solidFill>
              <a:srgbClr val="CC785C"/>
            </a:solidFill>
            <a:prstDash val="solid"/>
            <a:tailEnd type="triangle"/>
          </a:ln>
        </p:spPr>
      </p:sp>
      <p:sp>
        <p:nvSpPr>
          <p:cNvPr id="20" name="Shape 18"/>
          <p:cNvSpPr/>
          <p:nvPr/>
        </p:nvSpPr>
        <p:spPr>
          <a:xfrm>
            <a:off x="6291072" y="2514600"/>
            <a:ext cx="1600200" cy="1143000"/>
          </a:xfrm>
          <a:prstGeom prst="roundRect">
            <a:avLst>
              <a:gd name="adj" fmla="val 8000"/>
            </a:avLst>
          </a:prstGeom>
          <a:solidFill>
            <a:srgbClr val="E8E4D8"/>
          </a:solidFill>
          <a:ln w="15875">
            <a:solidFill>
              <a:srgbClr val="CC785C"/>
            </a:solidFill>
            <a:prstDash val="solid"/>
          </a:ln>
        </p:spPr>
      </p:sp>
      <p:sp>
        <p:nvSpPr>
          <p:cNvPr id="21" name="Text 19"/>
          <p:cNvSpPr/>
          <p:nvPr/>
        </p:nvSpPr>
        <p:spPr>
          <a:xfrm>
            <a:off x="6336792" y="2651760"/>
            <a:ext cx="1508760" cy="640080"/>
          </a:xfrm>
          <a:prstGeom prst="rect">
            <a:avLst/>
          </a:prstGeom>
          <a:noFill/>
          <a:ln/>
        </p:spPr>
        <p:txBody>
          <a:bodyPr wrap="square" rtlCol="0" anchor="t"/>
          <a:lstStyle/>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Safety Gate</a:t>
            </a:r>
            <a:endParaRPr lang="en-US" sz="1150" dirty="0"/>
          </a:p>
        </p:txBody>
      </p:sp>
      <p:sp>
        <p:nvSpPr>
          <p:cNvPr id="22" name="Text 20"/>
          <p:cNvSpPr/>
          <p:nvPr/>
        </p:nvSpPr>
        <p:spPr>
          <a:xfrm>
            <a:off x="6336792" y="3291840"/>
            <a:ext cx="1508760" cy="320040"/>
          </a:xfrm>
          <a:prstGeom prst="rect">
            <a:avLst/>
          </a:prstGeom>
          <a:noFill/>
          <a:ln/>
        </p:spPr>
        <p:txBody>
          <a:bodyPr wrap="square" rtlCol="0" anchor="ctr"/>
          <a:lstStyle/>
          <a:p>
            <a:pPr algn="ctr" indent="0" marL="0">
              <a:buNone/>
            </a:pPr>
            <a:r>
              <a:rPr lang="en-US" sz="950" i="1" dirty="0">
                <a:solidFill>
                  <a:srgbClr val="6B6760"/>
                </a:solidFill>
                <a:latin typeface="Calibri" pitchFamily="34" charset="0"/>
                <a:ea typeface="Calibri" pitchFamily="34" charset="-122"/>
                <a:cs typeface="Calibri" pitchFamily="34" charset="-120"/>
              </a:rPr>
              <a:t>Human approval</a:t>
            </a:r>
            <a:endParaRPr lang="en-US" sz="950" dirty="0"/>
          </a:p>
        </p:txBody>
      </p:sp>
      <p:sp>
        <p:nvSpPr>
          <p:cNvPr id="23" name="Shape 21"/>
          <p:cNvSpPr/>
          <p:nvPr/>
        </p:nvSpPr>
        <p:spPr>
          <a:xfrm>
            <a:off x="7909560" y="3086100"/>
            <a:ext cx="292608" cy="0"/>
          </a:xfrm>
          <a:prstGeom prst="line">
            <a:avLst/>
          </a:prstGeom>
          <a:noFill/>
          <a:ln w="19050">
            <a:solidFill>
              <a:srgbClr val="CC785C"/>
            </a:solidFill>
            <a:prstDash val="solid"/>
            <a:tailEnd type="triangle"/>
          </a:ln>
        </p:spPr>
      </p:sp>
      <p:sp>
        <p:nvSpPr>
          <p:cNvPr id="24" name="Shape 22"/>
          <p:cNvSpPr/>
          <p:nvPr/>
        </p:nvSpPr>
        <p:spPr>
          <a:xfrm>
            <a:off x="8220456" y="2514600"/>
            <a:ext cx="1600200" cy="1143000"/>
          </a:xfrm>
          <a:prstGeom prst="roundRect">
            <a:avLst>
              <a:gd name="adj" fmla="val 8000"/>
            </a:avLst>
          </a:prstGeom>
          <a:solidFill>
            <a:srgbClr val="E8E4D8"/>
          </a:solidFill>
          <a:ln w="15875">
            <a:solidFill>
              <a:srgbClr val="CC785C"/>
            </a:solidFill>
            <a:prstDash val="solid"/>
          </a:ln>
        </p:spPr>
      </p:sp>
      <p:sp>
        <p:nvSpPr>
          <p:cNvPr id="25" name="Text 23"/>
          <p:cNvSpPr/>
          <p:nvPr/>
        </p:nvSpPr>
        <p:spPr>
          <a:xfrm>
            <a:off x="8266176" y="2651760"/>
            <a:ext cx="1508760" cy="640080"/>
          </a:xfrm>
          <a:prstGeom prst="rect">
            <a:avLst/>
          </a:prstGeom>
          <a:noFill/>
          <a:ln/>
        </p:spPr>
        <p:txBody>
          <a:bodyPr wrap="square" rtlCol="0" anchor="t"/>
          <a:lstStyle/>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Tests run</a:t>
            </a:r>
            <a:endParaRPr lang="en-US" sz="1150" dirty="0"/>
          </a:p>
        </p:txBody>
      </p:sp>
      <p:sp>
        <p:nvSpPr>
          <p:cNvPr id="26" name="Text 24"/>
          <p:cNvSpPr/>
          <p:nvPr/>
        </p:nvSpPr>
        <p:spPr>
          <a:xfrm>
            <a:off x="8266176" y="3291840"/>
            <a:ext cx="1508760" cy="320040"/>
          </a:xfrm>
          <a:prstGeom prst="rect">
            <a:avLst/>
          </a:prstGeom>
          <a:noFill/>
          <a:ln/>
        </p:spPr>
        <p:txBody>
          <a:bodyPr wrap="square" rtlCol="0" anchor="ctr"/>
          <a:lstStyle/>
          <a:p>
            <a:pPr algn="ctr" indent="0" marL="0">
              <a:buNone/>
            </a:pPr>
            <a:r>
              <a:rPr lang="en-US" sz="950" i="1" dirty="0">
                <a:solidFill>
                  <a:srgbClr val="6B6760"/>
                </a:solidFill>
                <a:latin typeface="Calibri" pitchFamily="34" charset="0"/>
                <a:ea typeface="Calibri" pitchFamily="34" charset="-122"/>
                <a:cs typeface="Calibri" pitchFamily="34" charset="-120"/>
              </a:rPr>
              <a:t>Governance hook</a:t>
            </a:r>
            <a:endParaRPr lang="en-US" sz="950" dirty="0"/>
          </a:p>
        </p:txBody>
      </p:sp>
      <p:sp>
        <p:nvSpPr>
          <p:cNvPr id="27" name="Shape 25"/>
          <p:cNvSpPr/>
          <p:nvPr/>
        </p:nvSpPr>
        <p:spPr>
          <a:xfrm>
            <a:off x="9838944" y="3086100"/>
            <a:ext cx="292608" cy="0"/>
          </a:xfrm>
          <a:prstGeom prst="line">
            <a:avLst/>
          </a:prstGeom>
          <a:noFill/>
          <a:ln w="19050">
            <a:solidFill>
              <a:srgbClr val="CC785C"/>
            </a:solidFill>
            <a:prstDash val="solid"/>
            <a:tailEnd type="triangle"/>
          </a:ln>
        </p:spPr>
      </p:sp>
      <p:sp>
        <p:nvSpPr>
          <p:cNvPr id="28" name="Shape 26"/>
          <p:cNvSpPr/>
          <p:nvPr/>
        </p:nvSpPr>
        <p:spPr>
          <a:xfrm>
            <a:off x="10149840" y="2514600"/>
            <a:ext cx="1600200" cy="1143000"/>
          </a:xfrm>
          <a:prstGeom prst="roundRect">
            <a:avLst>
              <a:gd name="adj" fmla="val 8000"/>
            </a:avLst>
          </a:prstGeom>
          <a:solidFill>
            <a:srgbClr val="E8E4D8"/>
          </a:solidFill>
          <a:ln w="15875">
            <a:solidFill>
              <a:srgbClr val="CC785C"/>
            </a:solidFill>
            <a:prstDash val="solid"/>
          </a:ln>
        </p:spPr>
      </p:sp>
      <p:sp>
        <p:nvSpPr>
          <p:cNvPr id="29" name="Text 27"/>
          <p:cNvSpPr/>
          <p:nvPr/>
        </p:nvSpPr>
        <p:spPr>
          <a:xfrm>
            <a:off x="10195560" y="2651760"/>
            <a:ext cx="1508760" cy="640080"/>
          </a:xfrm>
          <a:prstGeom prst="rect">
            <a:avLst/>
          </a:prstGeom>
          <a:noFill/>
          <a:ln/>
        </p:spPr>
        <p:txBody>
          <a:bodyPr wrap="square" rtlCol="0" anchor="t"/>
          <a:lstStyle/>
          <a:p>
            <a:pPr algn="ctr" indent="0" marL="0">
              <a:lnSpc>
                <a:spcPct val="115000"/>
              </a:lnSpc>
              <a:buNone/>
            </a:pPr>
            <a:r>
              <a:rPr lang="en-US" sz="1150" b="1" dirty="0">
                <a:solidFill>
                  <a:srgbClr val="1F1F1E"/>
                </a:solidFill>
                <a:latin typeface="Calibri" pitchFamily="34" charset="0"/>
                <a:ea typeface="Calibri" pitchFamily="34" charset="-122"/>
                <a:cs typeface="Calibri" pitchFamily="34" charset="-120"/>
              </a:rPr>
              <a:t>Git commit</a:t>
            </a:r>
            <a:endParaRPr lang="en-US" sz="1150" dirty="0"/>
          </a:p>
        </p:txBody>
      </p:sp>
      <p:sp>
        <p:nvSpPr>
          <p:cNvPr id="30" name="Text 28"/>
          <p:cNvSpPr/>
          <p:nvPr/>
        </p:nvSpPr>
        <p:spPr>
          <a:xfrm>
            <a:off x="10195560" y="3291840"/>
            <a:ext cx="1508760" cy="320040"/>
          </a:xfrm>
          <a:prstGeom prst="rect">
            <a:avLst/>
          </a:prstGeom>
          <a:noFill/>
          <a:ln/>
        </p:spPr>
        <p:txBody>
          <a:bodyPr wrap="square" rtlCol="0" anchor="ctr"/>
          <a:lstStyle/>
          <a:p>
            <a:pPr algn="ctr" indent="0" marL="0">
              <a:buNone/>
            </a:pPr>
            <a:r>
              <a:rPr lang="en-US" sz="950" i="1" dirty="0">
                <a:solidFill>
                  <a:srgbClr val="6B6760"/>
                </a:solidFill>
                <a:latin typeface="Calibri" pitchFamily="34" charset="0"/>
                <a:ea typeface="Calibri" pitchFamily="34" charset="-122"/>
                <a:cs typeface="Calibri" pitchFamily="34" charset="-120"/>
              </a:rPr>
              <a:t>Attributed to engineer</a:t>
            </a:r>
            <a:endParaRPr lang="en-US" sz="950" dirty="0"/>
          </a:p>
        </p:txBody>
      </p:sp>
      <p:sp>
        <p:nvSpPr>
          <p:cNvPr id="31" name="Shape 29"/>
          <p:cNvSpPr/>
          <p:nvPr/>
        </p:nvSpPr>
        <p:spPr>
          <a:xfrm>
            <a:off x="5161788" y="3657600"/>
            <a:ext cx="0" cy="502920"/>
          </a:xfrm>
          <a:prstGeom prst="line">
            <a:avLst/>
          </a:prstGeom>
          <a:noFill/>
          <a:ln w="12700">
            <a:solidFill>
              <a:srgbClr val="6B6760"/>
            </a:solidFill>
            <a:prstDash val="dash"/>
          </a:ln>
        </p:spPr>
      </p:sp>
      <p:sp>
        <p:nvSpPr>
          <p:cNvPr id="32" name="Shape 30"/>
          <p:cNvSpPr/>
          <p:nvPr/>
        </p:nvSpPr>
        <p:spPr>
          <a:xfrm>
            <a:off x="3396996" y="4160520"/>
            <a:ext cx="3529584" cy="685800"/>
          </a:xfrm>
          <a:prstGeom prst="roundRect">
            <a:avLst>
              <a:gd name="adj" fmla="val 10667"/>
            </a:avLst>
          </a:prstGeom>
          <a:solidFill>
            <a:srgbClr val="1F1F1E"/>
          </a:solidFill>
          <a:ln w="12700">
            <a:solidFill>
              <a:srgbClr val="1F1F1E"/>
            </a:solidFill>
            <a:prstDash val="solid"/>
          </a:ln>
        </p:spPr>
      </p:sp>
      <p:sp>
        <p:nvSpPr>
          <p:cNvPr id="33" name="Text 31"/>
          <p:cNvSpPr/>
          <p:nvPr/>
        </p:nvSpPr>
        <p:spPr>
          <a:xfrm>
            <a:off x="3396996" y="4270248"/>
            <a:ext cx="3529584"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api.anthropic.com   ·   HTTPS only   ·   Not trained on</a:t>
            </a:r>
            <a:endParaRPr lang="en-US" sz="1200" dirty="0"/>
          </a:p>
        </p:txBody>
      </p:sp>
      <p:sp>
        <p:nvSpPr>
          <p:cNvPr id="34" name="Shape 32"/>
          <p:cNvSpPr/>
          <p:nvPr/>
        </p:nvSpPr>
        <p:spPr>
          <a:xfrm>
            <a:off x="502920" y="5303520"/>
            <a:ext cx="45720" cy="822960"/>
          </a:xfrm>
          <a:prstGeom prst="rect">
            <a:avLst/>
          </a:prstGeom>
          <a:solidFill>
            <a:srgbClr val="CC785C"/>
          </a:solidFill>
          <a:ln w="12700">
            <a:solidFill>
              <a:srgbClr val="CC785C"/>
            </a:solidFill>
            <a:prstDash val="solid"/>
          </a:ln>
        </p:spPr>
      </p:sp>
      <p:sp>
        <p:nvSpPr>
          <p:cNvPr id="35" name="Text 33"/>
          <p:cNvSpPr/>
          <p:nvPr/>
        </p:nvSpPr>
        <p:spPr>
          <a:xfrm>
            <a:off x="640080" y="5303520"/>
            <a:ext cx="2560320" cy="32004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Code stays local</a:t>
            </a:r>
            <a:endParaRPr lang="en-US" sz="1150" dirty="0"/>
          </a:p>
        </p:txBody>
      </p:sp>
      <p:sp>
        <p:nvSpPr>
          <p:cNvPr id="36" name="Text 34"/>
          <p:cNvSpPr/>
          <p:nvPr/>
        </p:nvSpPr>
        <p:spPr>
          <a:xfrm>
            <a:off x="640080" y="5623560"/>
            <a:ext cx="2560320" cy="548640"/>
          </a:xfrm>
          <a:prstGeom prst="rect">
            <a:avLst/>
          </a:prstGeom>
          <a:noFill/>
          <a:ln/>
        </p:spPr>
        <p:txBody>
          <a:bodyPr wrap="square" rtlCol="0" anchor="ctr"/>
          <a:lstStyle/>
          <a:p>
            <a:pPr indent="0" marL="0">
              <a:lnSpc>
                <a:spcPct val="125000"/>
              </a:lnSpc>
              <a:buNone/>
            </a:pPr>
            <a:r>
              <a:rPr lang="en-US" sz="1000" dirty="0">
                <a:solidFill>
                  <a:srgbClr val="6B6760"/>
                </a:solidFill>
                <a:latin typeface="Calibri" pitchFamily="34" charset="0"/>
                <a:ea typeface="Calibri" pitchFamily="34" charset="-122"/>
                <a:cs typeface="Calibri" pitchFamily="34" charset="-120"/>
              </a:rPr>
              <a:t>Source files are never uploaded in bulk.</a:t>
            </a:r>
            <a:endParaRPr lang="en-US" sz="1000" dirty="0"/>
          </a:p>
        </p:txBody>
      </p:sp>
      <p:sp>
        <p:nvSpPr>
          <p:cNvPr id="37" name="Shape 35"/>
          <p:cNvSpPr/>
          <p:nvPr/>
        </p:nvSpPr>
        <p:spPr>
          <a:xfrm>
            <a:off x="3337560" y="5303520"/>
            <a:ext cx="45720" cy="822960"/>
          </a:xfrm>
          <a:prstGeom prst="rect">
            <a:avLst/>
          </a:prstGeom>
          <a:solidFill>
            <a:srgbClr val="CC785C"/>
          </a:solidFill>
          <a:ln w="12700">
            <a:solidFill>
              <a:srgbClr val="CC785C"/>
            </a:solidFill>
            <a:prstDash val="solid"/>
          </a:ln>
        </p:spPr>
      </p:sp>
      <p:sp>
        <p:nvSpPr>
          <p:cNvPr id="38" name="Text 36"/>
          <p:cNvSpPr/>
          <p:nvPr/>
        </p:nvSpPr>
        <p:spPr>
          <a:xfrm>
            <a:off x="3474720" y="5303520"/>
            <a:ext cx="2560320" cy="32004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Only prompts transit</a:t>
            </a:r>
            <a:endParaRPr lang="en-US" sz="1150" dirty="0"/>
          </a:p>
        </p:txBody>
      </p:sp>
      <p:sp>
        <p:nvSpPr>
          <p:cNvPr id="39" name="Text 37"/>
          <p:cNvSpPr/>
          <p:nvPr/>
        </p:nvSpPr>
        <p:spPr>
          <a:xfrm>
            <a:off x="3474720" y="5623560"/>
            <a:ext cx="2560320" cy="548640"/>
          </a:xfrm>
          <a:prstGeom prst="rect">
            <a:avLst/>
          </a:prstGeom>
          <a:noFill/>
          <a:ln/>
        </p:spPr>
        <p:txBody>
          <a:bodyPr wrap="square" rtlCol="0" anchor="ctr"/>
          <a:lstStyle/>
          <a:p>
            <a:pPr indent="0" marL="0">
              <a:lnSpc>
                <a:spcPct val="125000"/>
              </a:lnSpc>
              <a:buNone/>
            </a:pPr>
            <a:r>
              <a:rPr lang="en-US" sz="1000" dirty="0">
                <a:solidFill>
                  <a:srgbClr val="6B6760"/>
                </a:solidFill>
                <a:latin typeface="Calibri" pitchFamily="34" charset="0"/>
                <a:ea typeface="Calibri" pitchFamily="34" charset="-122"/>
                <a:cs typeface="Calibri" pitchFamily="34" charset="-120"/>
              </a:rPr>
              <a:t>Session text over HTTPS. Nothing persisted.</a:t>
            </a:r>
            <a:endParaRPr lang="en-US" sz="1000" dirty="0"/>
          </a:p>
        </p:txBody>
      </p:sp>
      <p:sp>
        <p:nvSpPr>
          <p:cNvPr id="40" name="Shape 38"/>
          <p:cNvSpPr/>
          <p:nvPr/>
        </p:nvSpPr>
        <p:spPr>
          <a:xfrm>
            <a:off x="6172200" y="5303520"/>
            <a:ext cx="45720" cy="822960"/>
          </a:xfrm>
          <a:prstGeom prst="rect">
            <a:avLst/>
          </a:prstGeom>
          <a:solidFill>
            <a:srgbClr val="CC785C"/>
          </a:solidFill>
          <a:ln w="12700">
            <a:solidFill>
              <a:srgbClr val="CC785C"/>
            </a:solidFill>
            <a:prstDash val="solid"/>
          </a:ln>
        </p:spPr>
      </p:sp>
      <p:sp>
        <p:nvSpPr>
          <p:cNvPr id="41" name="Text 39"/>
          <p:cNvSpPr/>
          <p:nvPr/>
        </p:nvSpPr>
        <p:spPr>
          <a:xfrm>
            <a:off x="6309360" y="5303520"/>
            <a:ext cx="2560320" cy="32004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Human approves every write</a:t>
            </a:r>
            <a:endParaRPr lang="en-US" sz="1150" dirty="0"/>
          </a:p>
        </p:txBody>
      </p:sp>
      <p:sp>
        <p:nvSpPr>
          <p:cNvPr id="42" name="Text 40"/>
          <p:cNvSpPr/>
          <p:nvPr/>
        </p:nvSpPr>
        <p:spPr>
          <a:xfrm>
            <a:off x="6309360" y="5623560"/>
            <a:ext cx="2560320" cy="548640"/>
          </a:xfrm>
          <a:prstGeom prst="rect">
            <a:avLst/>
          </a:prstGeom>
          <a:noFill/>
          <a:ln/>
        </p:spPr>
        <p:txBody>
          <a:bodyPr wrap="square" rtlCol="0" anchor="ctr"/>
          <a:lstStyle/>
          <a:p>
            <a:pPr indent="0" marL="0">
              <a:lnSpc>
                <a:spcPct val="125000"/>
              </a:lnSpc>
              <a:buNone/>
            </a:pPr>
            <a:r>
              <a:rPr lang="en-US" sz="1000" dirty="0">
                <a:solidFill>
                  <a:srgbClr val="6B6760"/>
                </a:solidFill>
                <a:latin typeface="Calibri" pitchFamily="34" charset="0"/>
                <a:ea typeface="Calibri" pitchFamily="34" charset="-122"/>
                <a:cs typeface="Calibri" pitchFamily="34" charset="-120"/>
              </a:rPr>
              <a:t>Safety Gate opens before any file change.</a:t>
            </a:r>
            <a:endParaRPr lang="en-US" sz="1000" dirty="0"/>
          </a:p>
        </p:txBody>
      </p:sp>
      <p:sp>
        <p:nvSpPr>
          <p:cNvPr id="43" name="Shape 41"/>
          <p:cNvSpPr/>
          <p:nvPr/>
        </p:nvSpPr>
        <p:spPr>
          <a:xfrm>
            <a:off x="9006840" y="5303520"/>
            <a:ext cx="45720" cy="822960"/>
          </a:xfrm>
          <a:prstGeom prst="rect">
            <a:avLst/>
          </a:prstGeom>
          <a:solidFill>
            <a:srgbClr val="CC785C"/>
          </a:solidFill>
          <a:ln w="12700">
            <a:solidFill>
              <a:srgbClr val="CC785C"/>
            </a:solidFill>
            <a:prstDash val="solid"/>
          </a:ln>
        </p:spPr>
      </p:sp>
      <p:sp>
        <p:nvSpPr>
          <p:cNvPr id="44" name="Text 42"/>
          <p:cNvSpPr/>
          <p:nvPr/>
        </p:nvSpPr>
        <p:spPr>
          <a:xfrm>
            <a:off x="9144000" y="5303520"/>
            <a:ext cx="2560320" cy="32004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Commits stay attributed</a:t>
            </a:r>
            <a:endParaRPr lang="en-US" sz="1150" dirty="0"/>
          </a:p>
        </p:txBody>
      </p:sp>
      <p:sp>
        <p:nvSpPr>
          <p:cNvPr id="45" name="Text 43"/>
          <p:cNvSpPr/>
          <p:nvPr/>
        </p:nvSpPr>
        <p:spPr>
          <a:xfrm>
            <a:off x="9144000" y="5623560"/>
            <a:ext cx="2560320" cy="548640"/>
          </a:xfrm>
          <a:prstGeom prst="rect">
            <a:avLst/>
          </a:prstGeom>
          <a:noFill/>
          <a:ln/>
        </p:spPr>
        <p:txBody>
          <a:bodyPr wrap="square" rtlCol="0" anchor="ctr"/>
          <a:lstStyle/>
          <a:p>
            <a:pPr indent="0" marL="0">
              <a:lnSpc>
                <a:spcPct val="125000"/>
              </a:lnSpc>
              <a:buNone/>
            </a:pPr>
            <a:r>
              <a:rPr lang="en-US" sz="1000" dirty="0">
                <a:solidFill>
                  <a:srgbClr val="6B6760"/>
                </a:solidFill>
                <a:latin typeface="Calibri" pitchFamily="34" charset="0"/>
                <a:ea typeface="Calibri" pitchFamily="34" charset="-122"/>
                <a:cs typeface="Calibri" pitchFamily="34" charset="-120"/>
              </a:rPr>
              <a:t>Your git history shows the engineer, not the bot.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F1E"/>
        </a:solidFill>
      </p:bgPr>
    </p:bg>
    <p:spTree>
      <p:nvGrpSpPr>
        <p:cNvPr id="1" name=""/>
        <p:cNvGrpSpPr/>
        <p:nvPr/>
      </p:nvGrpSpPr>
      <p:grpSpPr>
        <a:xfrm>
          <a:off x="0" y="0"/>
          <a:ext cx="0" cy="0"/>
          <a:chOff x="0" y="0"/>
          <a:chExt cx="0" cy="0"/>
        </a:xfrm>
      </p:grpSpPr>
      <p:sp>
        <p:nvSpPr>
          <p:cNvPr id="2" name="Shape 0"/>
          <p:cNvSpPr/>
          <p:nvPr/>
        </p:nvSpPr>
        <p:spPr>
          <a:xfrm>
            <a:off x="457200" y="457200"/>
            <a:ext cx="164592" cy="164592"/>
          </a:xfrm>
          <a:prstGeom prst="rect">
            <a:avLst/>
          </a:prstGeom>
          <a:solidFill>
            <a:srgbClr val="CC785C"/>
          </a:solidFill>
          <a:ln w="12700">
            <a:solidFill>
              <a:srgbClr val="CC785C"/>
            </a:solidFill>
            <a:prstDash val="solid"/>
          </a:ln>
        </p:spPr>
      </p:sp>
      <p:sp>
        <p:nvSpPr>
          <p:cNvPr id="3" name="Text 1"/>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LIVE DEMO</a:t>
            </a:r>
            <a:endParaRPr lang="en-US" sz="1100" dirty="0"/>
          </a:p>
        </p:txBody>
      </p:sp>
      <p:sp>
        <p:nvSpPr>
          <p:cNvPr id="4" name="Text 2"/>
          <p:cNvSpPr/>
          <p:nvPr/>
        </p:nvSpPr>
        <p:spPr>
          <a:xfrm>
            <a:off x="457200" y="1280160"/>
            <a:ext cx="11247120" cy="914400"/>
          </a:xfrm>
          <a:prstGeom prst="rect">
            <a:avLst/>
          </a:prstGeom>
          <a:noFill/>
          <a:ln/>
        </p:spPr>
        <p:txBody>
          <a:bodyPr wrap="square" rtlCol="0" anchor="ctr"/>
          <a:lstStyle/>
          <a:p>
            <a:pPr indent="0" marL="0">
              <a:buNone/>
            </a:pPr>
            <a:r>
              <a:rPr lang="en-US" sz="3800" dirty="0">
                <a:solidFill>
                  <a:srgbClr val="FFFFFF"/>
                </a:solidFill>
                <a:latin typeface="Georgia" pitchFamily="34" charset="0"/>
                <a:ea typeface="Georgia" pitchFamily="34" charset="-122"/>
                <a:cs typeface="Georgia" pitchFamily="34" charset="-120"/>
              </a:rPr>
              <a:t>Let's walk through a morning with Claude Code.</a:t>
            </a:r>
            <a:endParaRPr lang="en-US" sz="3800" dirty="0"/>
          </a:p>
        </p:txBody>
      </p:sp>
      <p:sp>
        <p:nvSpPr>
          <p:cNvPr id="5" name="Text 3"/>
          <p:cNvSpPr/>
          <p:nvPr/>
        </p:nvSpPr>
        <p:spPr>
          <a:xfrm>
            <a:off x="457200" y="2194560"/>
            <a:ext cx="11247120" cy="457200"/>
          </a:xfrm>
          <a:prstGeom prst="rect">
            <a:avLst/>
          </a:prstGeom>
          <a:noFill/>
          <a:ln/>
        </p:spPr>
        <p:txBody>
          <a:bodyPr wrap="square" rtlCol="0" anchor="ctr"/>
          <a:lstStyle/>
          <a:p>
            <a:pPr indent="0" marL="0">
              <a:buNone/>
            </a:pPr>
            <a:r>
              <a:rPr lang="en-US" sz="1500" i="1" dirty="0">
                <a:solidFill>
                  <a:srgbClr val="B9B4AA"/>
                </a:solidFill>
                <a:latin typeface="Calibri" pitchFamily="34" charset="0"/>
                <a:ea typeface="Calibri" pitchFamily="34" charset="-122"/>
                <a:cs typeface="Calibri" pitchFamily="34" charset="-120"/>
              </a:rPr>
              <a:t>Twelve minutes on a real codebase, looking at four things your teams would actually do on day one.</a:t>
            </a:r>
            <a:endParaRPr lang="en-US" sz="1500" dirty="0"/>
          </a:p>
        </p:txBody>
      </p:sp>
      <p:sp>
        <p:nvSpPr>
          <p:cNvPr id="6" name="Text 4"/>
          <p:cNvSpPr/>
          <p:nvPr/>
        </p:nvSpPr>
        <p:spPr>
          <a:xfrm>
            <a:off x="457200" y="2926080"/>
            <a:ext cx="685800" cy="731520"/>
          </a:xfrm>
          <a:prstGeom prst="rect">
            <a:avLst/>
          </a:prstGeom>
          <a:noFill/>
          <a:ln/>
        </p:spPr>
        <p:txBody>
          <a:bodyPr wrap="square" rtlCol="0" anchor="ctr"/>
          <a:lstStyle/>
          <a:p>
            <a:pPr indent="0" marL="0">
              <a:buNone/>
            </a:pPr>
            <a:r>
              <a:rPr lang="en-US" sz="2400" i="1" dirty="0">
                <a:solidFill>
                  <a:srgbClr val="CC785C"/>
                </a:solidFill>
                <a:latin typeface="Georgia" pitchFamily="34" charset="0"/>
                <a:ea typeface="Georgia" pitchFamily="34" charset="-122"/>
                <a:cs typeface="Georgia" pitchFamily="34" charset="-120"/>
              </a:rPr>
              <a:t>01</a:t>
            </a:r>
            <a:endParaRPr lang="en-US" sz="2400" dirty="0"/>
          </a:p>
        </p:txBody>
      </p:sp>
      <p:sp>
        <p:nvSpPr>
          <p:cNvPr id="7" name="Text 5"/>
          <p:cNvSpPr/>
          <p:nvPr/>
        </p:nvSpPr>
        <p:spPr>
          <a:xfrm>
            <a:off x="1234440" y="2926080"/>
            <a:ext cx="38404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Codebase walkthrough</a:t>
            </a:r>
            <a:endParaRPr lang="en-US" sz="1400" dirty="0"/>
          </a:p>
        </p:txBody>
      </p:sp>
      <p:sp>
        <p:nvSpPr>
          <p:cNvPr id="8" name="Text 6"/>
          <p:cNvSpPr/>
          <p:nvPr/>
        </p:nvSpPr>
        <p:spPr>
          <a:xfrm>
            <a:off x="5212080" y="2926080"/>
            <a:ext cx="6583680" cy="777240"/>
          </a:xfrm>
          <a:prstGeom prst="rect">
            <a:avLst/>
          </a:prstGeom>
          <a:noFill/>
          <a:ln/>
        </p:spPr>
        <p:txBody>
          <a:bodyPr wrap="square" rtlCol="0" anchor="ctr"/>
          <a:lstStyle/>
          <a:p>
            <a:pPr indent="0" marL="0">
              <a:lnSpc>
                <a:spcPct val="125000"/>
              </a:lnSpc>
              <a:buNone/>
            </a:pPr>
            <a:r>
              <a:rPr lang="en-US" sz="1150" dirty="0">
                <a:solidFill>
                  <a:srgbClr val="D6D1C4"/>
                </a:solidFill>
                <a:latin typeface="Calibri" pitchFamily="34" charset="0"/>
                <a:ea typeface="Calibri" pitchFamily="34" charset="-122"/>
                <a:cs typeface="Calibri" pitchFamily="34" charset="-120"/>
              </a:rPr>
              <a:t>A new engineer's first morning. Claude reads through the payment system and explains it back in under two minutes.</a:t>
            </a:r>
            <a:endParaRPr lang="en-US" sz="1150" dirty="0"/>
          </a:p>
        </p:txBody>
      </p:sp>
      <p:sp>
        <p:nvSpPr>
          <p:cNvPr id="9" name="Shape 7"/>
          <p:cNvSpPr/>
          <p:nvPr/>
        </p:nvSpPr>
        <p:spPr>
          <a:xfrm>
            <a:off x="457200" y="3703320"/>
            <a:ext cx="11247120" cy="0"/>
          </a:xfrm>
          <a:prstGeom prst="line">
            <a:avLst/>
          </a:prstGeom>
          <a:noFill/>
          <a:ln w="9525">
            <a:solidFill>
              <a:srgbClr val="3A3A38"/>
            </a:solidFill>
            <a:prstDash val="solid"/>
          </a:ln>
        </p:spPr>
      </p:sp>
      <p:sp>
        <p:nvSpPr>
          <p:cNvPr id="10" name="Text 8"/>
          <p:cNvSpPr/>
          <p:nvPr/>
        </p:nvSpPr>
        <p:spPr>
          <a:xfrm>
            <a:off x="457200" y="3794760"/>
            <a:ext cx="685800" cy="731520"/>
          </a:xfrm>
          <a:prstGeom prst="rect">
            <a:avLst/>
          </a:prstGeom>
          <a:noFill/>
          <a:ln/>
        </p:spPr>
        <p:txBody>
          <a:bodyPr wrap="square" rtlCol="0" anchor="ctr"/>
          <a:lstStyle/>
          <a:p>
            <a:pPr indent="0" marL="0">
              <a:buNone/>
            </a:pPr>
            <a:r>
              <a:rPr lang="en-US" sz="2400" i="1" dirty="0">
                <a:solidFill>
                  <a:srgbClr val="CC785C"/>
                </a:solidFill>
                <a:latin typeface="Georgia" pitchFamily="34" charset="0"/>
                <a:ea typeface="Georgia" pitchFamily="34" charset="-122"/>
                <a:cs typeface="Georgia" pitchFamily="34" charset="-120"/>
              </a:rPr>
              <a:t>02</a:t>
            </a:r>
            <a:endParaRPr lang="en-US" sz="2400" dirty="0"/>
          </a:p>
        </p:txBody>
      </p:sp>
      <p:sp>
        <p:nvSpPr>
          <p:cNvPr id="11" name="Text 9"/>
          <p:cNvSpPr/>
          <p:nvPr/>
        </p:nvSpPr>
        <p:spPr>
          <a:xfrm>
            <a:off x="1234440" y="3794760"/>
            <a:ext cx="38404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Security audit</a:t>
            </a:r>
            <a:endParaRPr lang="en-US" sz="1400" dirty="0"/>
          </a:p>
        </p:txBody>
      </p:sp>
      <p:sp>
        <p:nvSpPr>
          <p:cNvPr id="12" name="Text 10"/>
          <p:cNvSpPr/>
          <p:nvPr/>
        </p:nvSpPr>
        <p:spPr>
          <a:xfrm>
            <a:off x="5212080" y="3794760"/>
            <a:ext cx="6583680" cy="777240"/>
          </a:xfrm>
          <a:prstGeom prst="rect">
            <a:avLst/>
          </a:prstGeom>
          <a:noFill/>
          <a:ln/>
        </p:spPr>
        <p:txBody>
          <a:bodyPr wrap="square" rtlCol="0" anchor="ctr"/>
          <a:lstStyle/>
          <a:p>
            <a:pPr indent="0" marL="0">
              <a:lnSpc>
                <a:spcPct val="125000"/>
              </a:lnSpc>
              <a:buNone/>
            </a:pPr>
            <a:r>
              <a:rPr lang="en-US" sz="1150" dirty="0">
                <a:solidFill>
                  <a:srgbClr val="D6D1C4"/>
                </a:solidFill>
                <a:latin typeface="Calibri" pitchFamily="34" charset="0"/>
                <a:ea typeface="Calibri" pitchFamily="34" charset="-122"/>
                <a:cs typeface="Calibri" pitchFamily="34" charset="-120"/>
              </a:rPr>
              <a:t>Around 45 seconds to surface three hardcoded production secrets, a SQL injection, and an unauthenticated admin endpoint.</a:t>
            </a:r>
            <a:endParaRPr lang="en-US" sz="1150" dirty="0"/>
          </a:p>
        </p:txBody>
      </p:sp>
      <p:sp>
        <p:nvSpPr>
          <p:cNvPr id="13" name="Shape 11"/>
          <p:cNvSpPr/>
          <p:nvPr/>
        </p:nvSpPr>
        <p:spPr>
          <a:xfrm>
            <a:off x="457200" y="4572000"/>
            <a:ext cx="11247120" cy="0"/>
          </a:xfrm>
          <a:prstGeom prst="line">
            <a:avLst/>
          </a:prstGeom>
          <a:noFill/>
          <a:ln w="9525">
            <a:solidFill>
              <a:srgbClr val="3A3A38"/>
            </a:solidFill>
            <a:prstDash val="solid"/>
          </a:ln>
        </p:spPr>
      </p:sp>
      <p:sp>
        <p:nvSpPr>
          <p:cNvPr id="14" name="Text 12"/>
          <p:cNvSpPr/>
          <p:nvPr/>
        </p:nvSpPr>
        <p:spPr>
          <a:xfrm>
            <a:off x="457200" y="4663440"/>
            <a:ext cx="685800" cy="731520"/>
          </a:xfrm>
          <a:prstGeom prst="rect">
            <a:avLst/>
          </a:prstGeom>
          <a:noFill/>
          <a:ln/>
        </p:spPr>
        <p:txBody>
          <a:bodyPr wrap="square" rtlCol="0" anchor="ctr"/>
          <a:lstStyle/>
          <a:p>
            <a:pPr indent="0" marL="0">
              <a:buNone/>
            </a:pPr>
            <a:r>
              <a:rPr lang="en-US" sz="2400" i="1" dirty="0">
                <a:solidFill>
                  <a:srgbClr val="CC785C"/>
                </a:solidFill>
                <a:latin typeface="Georgia" pitchFamily="34" charset="0"/>
                <a:ea typeface="Georgia" pitchFamily="34" charset="-122"/>
                <a:cs typeface="Georgia" pitchFamily="34" charset="-120"/>
              </a:rPr>
              <a:t>03</a:t>
            </a:r>
            <a:endParaRPr lang="en-US" sz="2400" dirty="0"/>
          </a:p>
        </p:txBody>
      </p:sp>
      <p:sp>
        <p:nvSpPr>
          <p:cNvPr id="15" name="Text 13"/>
          <p:cNvSpPr/>
          <p:nvPr/>
        </p:nvSpPr>
        <p:spPr>
          <a:xfrm>
            <a:off x="1234440" y="4663440"/>
            <a:ext cx="38404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Bug fix with Safety Gate</a:t>
            </a:r>
            <a:endParaRPr lang="en-US" sz="1400" dirty="0"/>
          </a:p>
        </p:txBody>
      </p:sp>
      <p:sp>
        <p:nvSpPr>
          <p:cNvPr id="16" name="Text 14"/>
          <p:cNvSpPr/>
          <p:nvPr/>
        </p:nvSpPr>
        <p:spPr>
          <a:xfrm>
            <a:off x="5212080" y="4663440"/>
            <a:ext cx="6583680" cy="777240"/>
          </a:xfrm>
          <a:prstGeom prst="rect">
            <a:avLst/>
          </a:prstGeom>
          <a:noFill/>
          <a:ln/>
        </p:spPr>
        <p:txBody>
          <a:bodyPr wrap="square" rtlCol="0" anchor="ctr"/>
          <a:lstStyle/>
          <a:p>
            <a:pPr indent="0" marL="0">
              <a:lnSpc>
                <a:spcPct val="125000"/>
              </a:lnSpc>
              <a:buNone/>
            </a:pPr>
            <a:r>
              <a:rPr lang="en-US" sz="1150" dirty="0">
                <a:solidFill>
                  <a:srgbClr val="D6D1C4"/>
                </a:solidFill>
                <a:latin typeface="Calibri" pitchFamily="34" charset="0"/>
                <a:ea typeface="Calibri" pitchFamily="34" charset="-122"/>
                <a:cs typeface="Calibri" pitchFamily="34" charset="-120"/>
              </a:rPr>
              <a:t>The P1 closes. Claude proposes the fix, you approve the diff, tests run on their own. The customer ends up correctly charged $99.</a:t>
            </a:r>
            <a:endParaRPr lang="en-US" sz="1150" dirty="0"/>
          </a:p>
        </p:txBody>
      </p:sp>
      <p:sp>
        <p:nvSpPr>
          <p:cNvPr id="17" name="Shape 15"/>
          <p:cNvSpPr/>
          <p:nvPr/>
        </p:nvSpPr>
        <p:spPr>
          <a:xfrm>
            <a:off x="457200" y="5440680"/>
            <a:ext cx="11247120" cy="0"/>
          </a:xfrm>
          <a:prstGeom prst="line">
            <a:avLst/>
          </a:prstGeom>
          <a:noFill/>
          <a:ln w="9525">
            <a:solidFill>
              <a:srgbClr val="3A3A38"/>
            </a:solidFill>
            <a:prstDash val="solid"/>
          </a:ln>
        </p:spPr>
      </p:sp>
      <p:sp>
        <p:nvSpPr>
          <p:cNvPr id="18" name="Text 16"/>
          <p:cNvSpPr/>
          <p:nvPr/>
        </p:nvSpPr>
        <p:spPr>
          <a:xfrm>
            <a:off x="457200" y="5532120"/>
            <a:ext cx="685800" cy="731520"/>
          </a:xfrm>
          <a:prstGeom prst="rect">
            <a:avLst/>
          </a:prstGeom>
          <a:noFill/>
          <a:ln/>
        </p:spPr>
        <p:txBody>
          <a:bodyPr wrap="square" rtlCol="0" anchor="ctr"/>
          <a:lstStyle/>
          <a:p>
            <a:pPr indent="0" marL="0">
              <a:buNone/>
            </a:pPr>
            <a:r>
              <a:rPr lang="en-US" sz="2400" i="1" dirty="0">
                <a:solidFill>
                  <a:srgbClr val="CC785C"/>
                </a:solidFill>
                <a:latin typeface="Georgia" pitchFamily="34" charset="0"/>
                <a:ea typeface="Georgia" pitchFamily="34" charset="-122"/>
                <a:cs typeface="Georgia" pitchFamily="34" charset="-120"/>
              </a:rPr>
              <a:t>04</a:t>
            </a:r>
            <a:endParaRPr lang="en-US" sz="2400" dirty="0"/>
          </a:p>
        </p:txBody>
      </p:sp>
      <p:sp>
        <p:nvSpPr>
          <p:cNvPr id="19" name="Text 17"/>
          <p:cNvSpPr/>
          <p:nvPr/>
        </p:nvSpPr>
        <p:spPr>
          <a:xfrm>
            <a:off x="1234440" y="5532120"/>
            <a:ext cx="38404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Code review</a:t>
            </a:r>
            <a:endParaRPr lang="en-US" sz="1400" dirty="0"/>
          </a:p>
        </p:txBody>
      </p:sp>
      <p:sp>
        <p:nvSpPr>
          <p:cNvPr id="20" name="Text 18"/>
          <p:cNvSpPr/>
          <p:nvPr/>
        </p:nvSpPr>
        <p:spPr>
          <a:xfrm>
            <a:off x="5212080" y="5532120"/>
            <a:ext cx="6583680" cy="777240"/>
          </a:xfrm>
          <a:prstGeom prst="rect">
            <a:avLst/>
          </a:prstGeom>
          <a:noFill/>
          <a:ln/>
        </p:spPr>
        <p:txBody>
          <a:bodyPr wrap="square" rtlCol="0" anchor="ctr"/>
          <a:lstStyle/>
          <a:p>
            <a:pPr indent="0" marL="0">
              <a:lnSpc>
                <a:spcPct val="125000"/>
              </a:lnSpc>
              <a:buNone/>
            </a:pPr>
            <a:r>
              <a:rPr lang="en-US" sz="1150" dirty="0">
                <a:solidFill>
                  <a:srgbClr val="D6D1C4"/>
                </a:solidFill>
                <a:latin typeface="Calibri" pitchFamily="34" charset="0"/>
                <a:ea typeface="Calibri" pitchFamily="34" charset="-122"/>
                <a:cs typeface="Calibri" pitchFamily="34" charset="-120"/>
              </a:rPr>
              <a:t>Four agents running in parallel catch the kinds of things humans miss, including a missing test from the original acceptance criteria.</a:t>
            </a:r>
            <a:endParaRPr lang="en-US" sz="1150" dirty="0"/>
          </a:p>
        </p:txBody>
      </p:sp>
      <p:sp>
        <p:nvSpPr>
          <p:cNvPr id="21" name="Shape 19"/>
          <p:cNvSpPr/>
          <p:nvPr/>
        </p:nvSpPr>
        <p:spPr>
          <a:xfrm>
            <a:off x="457200" y="6309360"/>
            <a:ext cx="11247120" cy="0"/>
          </a:xfrm>
          <a:prstGeom prst="line">
            <a:avLst/>
          </a:prstGeom>
          <a:noFill/>
          <a:ln w="9525">
            <a:solidFill>
              <a:srgbClr val="3A3A38"/>
            </a:solidFill>
            <a:prstDash val="solid"/>
          </a:ln>
        </p:spPr>
      </p:sp>
      <p:sp>
        <p:nvSpPr>
          <p:cNvPr id="22" name="Text 2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8A857C"/>
                </a:solidFill>
                <a:latin typeface="Calibri" pitchFamily="34" charset="0"/>
                <a:ea typeface="Calibri" pitchFamily="34" charset="-122"/>
                <a:cs typeface="Calibri" pitchFamily="34" charset="-120"/>
              </a:rPr>
              <a:t>Claude Code  ·  FinTechCo</a:t>
            </a:r>
            <a:endParaRPr lang="en-US" sz="900" dirty="0"/>
          </a:p>
        </p:txBody>
      </p:sp>
      <p:sp>
        <p:nvSpPr>
          <p:cNvPr id="23" name="Text 2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8A857C"/>
                </a:solidFill>
                <a:latin typeface="Calibri" pitchFamily="34" charset="0"/>
                <a:ea typeface="Calibri" pitchFamily="34" charset="-122"/>
                <a:cs typeface="Calibri" pitchFamily="34" charset="-120"/>
              </a:rPr>
              <a:t>Anthropic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WHAT YOU JUST SAW</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Twelve minutes, four things you'd notice on Monday morning.</a:t>
            </a:r>
            <a:endParaRPr lang="en-US" sz="3400" dirty="0"/>
          </a:p>
        </p:txBody>
      </p:sp>
      <p:sp>
        <p:nvSpPr>
          <p:cNvPr id="7" name="Shape 5"/>
          <p:cNvSpPr/>
          <p:nvPr/>
        </p:nvSpPr>
        <p:spPr>
          <a:xfrm>
            <a:off x="502920" y="1828800"/>
            <a:ext cx="5532120" cy="2011680"/>
          </a:xfrm>
          <a:prstGeom prst="rect">
            <a:avLst/>
          </a:prstGeom>
          <a:solidFill>
            <a:srgbClr val="E8E4D8"/>
          </a:solidFill>
          <a:ln w="9525">
            <a:solidFill>
              <a:srgbClr val="D6D1C4"/>
            </a:solidFill>
            <a:prstDash val="solid"/>
          </a:ln>
        </p:spPr>
      </p:sp>
      <p:sp>
        <p:nvSpPr>
          <p:cNvPr id="8" name="Text 6"/>
          <p:cNvSpPr/>
          <p:nvPr/>
        </p:nvSpPr>
        <p:spPr>
          <a:xfrm>
            <a:off x="777240" y="2011680"/>
            <a:ext cx="50749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ONBOARDING</a:t>
            </a:r>
            <a:endParaRPr lang="en-US" sz="1000" dirty="0"/>
          </a:p>
        </p:txBody>
      </p:sp>
      <p:sp>
        <p:nvSpPr>
          <p:cNvPr id="9" name="Text 7"/>
          <p:cNvSpPr/>
          <p:nvPr/>
        </p:nvSpPr>
        <p:spPr>
          <a:xfrm>
            <a:off x="777240" y="228600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A week of ramp-up, in about two minutes.</a:t>
            </a:r>
            <a:endParaRPr lang="en-US" sz="1400" dirty="0"/>
          </a:p>
        </p:txBody>
      </p:sp>
      <p:sp>
        <p:nvSpPr>
          <p:cNvPr id="10" name="Text 8"/>
          <p:cNvSpPr/>
          <p:nvPr/>
        </p:nvSpPr>
        <p:spPr>
          <a:xfrm>
            <a:off x="777240" y="2743200"/>
            <a:ext cx="507492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The new engineer prompt walked the entire payment flow, including routes, the processor integration, and tests. The kind of context that usually takes a week of meetings.</a:t>
            </a:r>
            <a:endParaRPr lang="en-US" sz="1150" dirty="0"/>
          </a:p>
        </p:txBody>
      </p:sp>
      <p:sp>
        <p:nvSpPr>
          <p:cNvPr id="11" name="Shape 9"/>
          <p:cNvSpPr/>
          <p:nvPr/>
        </p:nvSpPr>
        <p:spPr>
          <a:xfrm>
            <a:off x="6263640" y="1828800"/>
            <a:ext cx="5532120" cy="2011680"/>
          </a:xfrm>
          <a:prstGeom prst="rect">
            <a:avLst/>
          </a:prstGeom>
          <a:solidFill>
            <a:srgbClr val="E8E4D8"/>
          </a:solidFill>
          <a:ln w="9525">
            <a:solidFill>
              <a:srgbClr val="D6D1C4"/>
            </a:solidFill>
            <a:prstDash val="solid"/>
          </a:ln>
        </p:spPr>
      </p:sp>
      <p:sp>
        <p:nvSpPr>
          <p:cNvPr id="12" name="Text 10"/>
          <p:cNvSpPr/>
          <p:nvPr/>
        </p:nvSpPr>
        <p:spPr>
          <a:xfrm>
            <a:off x="6537960" y="2011680"/>
            <a:ext cx="50749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SECURITY</a:t>
            </a:r>
            <a:endParaRPr lang="en-US" sz="1000" dirty="0"/>
          </a:p>
        </p:txBody>
      </p:sp>
      <p:sp>
        <p:nvSpPr>
          <p:cNvPr id="13" name="Text 11"/>
          <p:cNvSpPr/>
          <p:nvPr/>
        </p:nvSpPr>
        <p:spPr>
          <a:xfrm>
            <a:off x="6537960" y="228600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An audit finding, caught before the auditor.</a:t>
            </a:r>
            <a:endParaRPr lang="en-US" sz="1400" dirty="0"/>
          </a:p>
        </p:txBody>
      </p:sp>
      <p:sp>
        <p:nvSpPr>
          <p:cNvPr id="14" name="Text 12"/>
          <p:cNvSpPr/>
          <p:nvPr/>
        </p:nvSpPr>
        <p:spPr>
          <a:xfrm>
            <a:off x="6537960" y="2743200"/>
            <a:ext cx="507492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Three production secrets in git history, a SQL injection, and an unauthenticated admin endpoint, all surfaced in about 45 seconds. Your next FFIEC exam feels a lot calmer.</a:t>
            </a:r>
            <a:endParaRPr lang="en-US" sz="1150" dirty="0"/>
          </a:p>
        </p:txBody>
      </p:sp>
      <p:sp>
        <p:nvSpPr>
          <p:cNvPr id="15" name="Shape 13"/>
          <p:cNvSpPr/>
          <p:nvPr/>
        </p:nvSpPr>
        <p:spPr>
          <a:xfrm>
            <a:off x="502920" y="4023360"/>
            <a:ext cx="5532120" cy="2011680"/>
          </a:xfrm>
          <a:prstGeom prst="rect">
            <a:avLst/>
          </a:prstGeom>
          <a:solidFill>
            <a:srgbClr val="E8E4D8"/>
          </a:solidFill>
          <a:ln w="9525">
            <a:solidFill>
              <a:srgbClr val="D6D1C4"/>
            </a:solidFill>
            <a:prstDash val="solid"/>
          </a:ln>
        </p:spPr>
      </p:sp>
      <p:sp>
        <p:nvSpPr>
          <p:cNvPr id="16" name="Text 14"/>
          <p:cNvSpPr/>
          <p:nvPr/>
        </p:nvSpPr>
        <p:spPr>
          <a:xfrm>
            <a:off x="777240" y="4206240"/>
            <a:ext cx="50749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VELOCITY</a:t>
            </a:r>
            <a:endParaRPr lang="en-US" sz="1000" dirty="0"/>
          </a:p>
        </p:txBody>
      </p:sp>
      <p:sp>
        <p:nvSpPr>
          <p:cNvPr id="17" name="Text 15"/>
          <p:cNvSpPr/>
          <p:nvPr/>
        </p:nvSpPr>
        <p:spPr>
          <a:xfrm>
            <a:off x="777240" y="448056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A three-day P1, closed in four minutes.</a:t>
            </a:r>
            <a:endParaRPr lang="en-US" sz="1400" dirty="0"/>
          </a:p>
        </p:txBody>
      </p:sp>
      <p:sp>
        <p:nvSpPr>
          <p:cNvPr id="18" name="Text 16"/>
          <p:cNvSpPr/>
          <p:nvPr/>
        </p:nvSpPr>
        <p:spPr>
          <a:xfrm>
            <a:off x="777240" y="4937760"/>
            <a:ext cx="507492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Claude proposed the fix. The Safety Gate opened. You approved the diff. The tests ran. cust_A1B2 ends up correctly charged $99, one time. That's the whole incident.</a:t>
            </a:r>
            <a:endParaRPr lang="en-US" sz="1150" dirty="0"/>
          </a:p>
        </p:txBody>
      </p:sp>
      <p:sp>
        <p:nvSpPr>
          <p:cNvPr id="19" name="Shape 17"/>
          <p:cNvSpPr/>
          <p:nvPr/>
        </p:nvSpPr>
        <p:spPr>
          <a:xfrm>
            <a:off x="6263640" y="4023360"/>
            <a:ext cx="5532120" cy="2011680"/>
          </a:xfrm>
          <a:prstGeom prst="rect">
            <a:avLst/>
          </a:prstGeom>
          <a:solidFill>
            <a:srgbClr val="E8E4D8"/>
          </a:solidFill>
          <a:ln w="9525">
            <a:solidFill>
              <a:srgbClr val="D6D1C4"/>
            </a:solidFill>
            <a:prstDash val="solid"/>
          </a:ln>
        </p:spPr>
      </p:sp>
      <p:sp>
        <p:nvSpPr>
          <p:cNvPr id="20" name="Text 18"/>
          <p:cNvSpPr/>
          <p:nvPr/>
        </p:nvSpPr>
        <p:spPr>
          <a:xfrm>
            <a:off x="6537960" y="4206240"/>
            <a:ext cx="50749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QUALITY</a:t>
            </a:r>
            <a:endParaRPr lang="en-US" sz="1000" dirty="0"/>
          </a:p>
        </p:txBody>
      </p:sp>
      <p:sp>
        <p:nvSpPr>
          <p:cNvPr id="21" name="Text 19"/>
          <p:cNvSpPr/>
          <p:nvPr/>
        </p:nvSpPr>
        <p:spPr>
          <a:xfrm>
            <a:off x="6537960" y="4480560"/>
            <a:ext cx="5074920" cy="41148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Review that catches what humans miss.</a:t>
            </a:r>
            <a:endParaRPr lang="en-US" sz="1400" dirty="0"/>
          </a:p>
        </p:txBody>
      </p:sp>
      <p:sp>
        <p:nvSpPr>
          <p:cNvPr id="22" name="Text 20"/>
          <p:cNvSpPr/>
          <p:nvPr/>
        </p:nvSpPr>
        <p:spPr>
          <a:xfrm>
            <a:off x="6537960" y="4937760"/>
            <a:ext cx="507492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Four agents ran in parallel. They flagged a missing test from the original acceptance criteria, and a missing database index that would only bite you at FinTechCo's volume.</a:t>
            </a:r>
            <a:endParaRPr lang="en-US" sz="1150" dirty="0"/>
          </a:p>
        </p:txBody>
      </p:sp>
      <p:sp>
        <p:nvSpPr>
          <p:cNvPr id="23" name="Text 21"/>
          <p:cNvSpPr/>
          <p:nvPr/>
        </p:nvSpPr>
        <p:spPr>
          <a:xfrm>
            <a:off x="502920" y="5989320"/>
            <a:ext cx="11247120" cy="320040"/>
          </a:xfrm>
          <a:prstGeom prst="rect">
            <a:avLst/>
          </a:prstGeom>
          <a:noFill/>
          <a:ln/>
        </p:spPr>
        <p:txBody>
          <a:bodyPr wrap="square" rtlCol="0" anchor="ctr"/>
          <a:lstStyle/>
          <a:p>
            <a:pPr indent="0" marL="0">
              <a:buNone/>
            </a:pPr>
            <a:r>
              <a:rPr lang="en-US" sz="1150" i="1" dirty="0">
                <a:solidFill>
                  <a:srgbClr val="1F1F1E"/>
                </a:solidFill>
                <a:latin typeface="Calibri" pitchFamily="34" charset="0"/>
                <a:ea typeface="Calibri" pitchFamily="34" charset="-122"/>
                <a:cs typeface="Calibri" pitchFamily="34" charset="-120"/>
              </a:rPr>
              <a:t>Every one of those moments is measurable, and that's really the point of the pilot.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MEASURING THE RETURN</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A framework, not a promise. We'll use your numbers.</a:t>
            </a:r>
            <a:endParaRPr lang="en-US" sz="3400" dirty="0"/>
          </a:p>
        </p:txBody>
      </p:sp>
      <p:sp>
        <p:nvSpPr>
          <p:cNvPr id="7" name="Shape 5"/>
          <p:cNvSpPr/>
          <p:nvPr/>
        </p:nvSpPr>
        <p:spPr>
          <a:xfrm>
            <a:off x="502920" y="1828800"/>
            <a:ext cx="11247120" cy="502920"/>
          </a:xfrm>
          <a:prstGeom prst="rect">
            <a:avLst/>
          </a:prstGeom>
          <a:solidFill>
            <a:srgbClr val="1F1F1E"/>
          </a:solidFill>
          <a:ln w="12700">
            <a:solidFill>
              <a:srgbClr val="1F1F1E"/>
            </a:solidFill>
            <a:prstDash val="solid"/>
          </a:ln>
        </p:spPr>
      </p:sp>
      <p:sp>
        <p:nvSpPr>
          <p:cNvPr id="8" name="Text 6"/>
          <p:cNvSpPr/>
          <p:nvPr/>
        </p:nvSpPr>
        <p:spPr>
          <a:xfrm>
            <a:off x="502920" y="1874520"/>
            <a:ext cx="3794760" cy="411480"/>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Metric</a:t>
            </a:r>
            <a:endParaRPr lang="en-US" sz="1100" dirty="0"/>
          </a:p>
        </p:txBody>
      </p:sp>
      <p:sp>
        <p:nvSpPr>
          <p:cNvPr id="9" name="Text 7"/>
          <p:cNvSpPr/>
          <p:nvPr/>
        </p:nvSpPr>
        <p:spPr>
          <a:xfrm>
            <a:off x="4297680" y="1874520"/>
            <a:ext cx="2834640" cy="411480"/>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Today (benchmark)</a:t>
            </a:r>
            <a:endParaRPr lang="en-US" sz="1100" dirty="0"/>
          </a:p>
        </p:txBody>
      </p:sp>
      <p:sp>
        <p:nvSpPr>
          <p:cNvPr id="10" name="Text 8"/>
          <p:cNvSpPr/>
          <p:nvPr/>
        </p:nvSpPr>
        <p:spPr>
          <a:xfrm>
            <a:off x="7132320" y="1874520"/>
            <a:ext cx="3200400" cy="411480"/>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With Claude Code</a:t>
            </a:r>
            <a:endParaRPr lang="en-US" sz="1100" dirty="0"/>
          </a:p>
        </p:txBody>
      </p:sp>
      <p:sp>
        <p:nvSpPr>
          <p:cNvPr id="11" name="Text 9"/>
          <p:cNvSpPr/>
          <p:nvPr/>
        </p:nvSpPr>
        <p:spPr>
          <a:xfrm>
            <a:off x="10332720" y="1874520"/>
            <a:ext cx="1645920" cy="411480"/>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Delta</a:t>
            </a:r>
            <a:endParaRPr lang="en-US" sz="1100" dirty="0"/>
          </a:p>
        </p:txBody>
      </p:sp>
      <p:sp>
        <p:nvSpPr>
          <p:cNvPr id="12" name="Shape 10"/>
          <p:cNvSpPr/>
          <p:nvPr/>
        </p:nvSpPr>
        <p:spPr>
          <a:xfrm>
            <a:off x="502920" y="2331720"/>
            <a:ext cx="11247120" cy="640080"/>
          </a:xfrm>
          <a:prstGeom prst="rect">
            <a:avLst/>
          </a:prstGeom>
          <a:solidFill>
            <a:srgbClr val="E8E4D8"/>
          </a:solidFill>
          <a:ln w="12700">
            <a:solidFill>
              <a:srgbClr val="E8E4D8"/>
            </a:solidFill>
            <a:prstDash val="solid"/>
          </a:ln>
        </p:spPr>
      </p:sp>
      <p:sp>
        <p:nvSpPr>
          <p:cNvPr id="13" name="Text 11"/>
          <p:cNvSpPr/>
          <p:nvPr/>
        </p:nvSpPr>
        <p:spPr>
          <a:xfrm>
            <a:off x="502920" y="2468880"/>
            <a:ext cx="379476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PR cycle time</a:t>
            </a:r>
            <a:endParaRPr lang="en-US" sz="1300" dirty="0"/>
          </a:p>
        </p:txBody>
      </p:sp>
      <p:sp>
        <p:nvSpPr>
          <p:cNvPr id="14" name="Text 12"/>
          <p:cNvSpPr/>
          <p:nvPr/>
        </p:nvSpPr>
        <p:spPr>
          <a:xfrm>
            <a:off x="4297680" y="2468880"/>
            <a:ext cx="283464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4 to 6 hours</a:t>
            </a:r>
            <a:endParaRPr lang="en-US" sz="1300" dirty="0"/>
          </a:p>
        </p:txBody>
      </p:sp>
      <p:sp>
        <p:nvSpPr>
          <p:cNvPr id="15" name="Text 13"/>
          <p:cNvSpPr/>
          <p:nvPr/>
        </p:nvSpPr>
        <p:spPr>
          <a:xfrm>
            <a:off x="7132320" y="2468880"/>
            <a:ext cx="320040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2 to 3 hours</a:t>
            </a:r>
            <a:endParaRPr lang="en-US" sz="1300" dirty="0"/>
          </a:p>
        </p:txBody>
      </p:sp>
      <p:sp>
        <p:nvSpPr>
          <p:cNvPr id="16" name="Text 14"/>
          <p:cNvSpPr/>
          <p:nvPr/>
        </p:nvSpPr>
        <p:spPr>
          <a:xfrm>
            <a:off x="10332720" y="2468880"/>
            <a:ext cx="1645920" cy="411480"/>
          </a:xfrm>
          <a:prstGeom prst="rect">
            <a:avLst/>
          </a:prstGeom>
          <a:noFill/>
          <a:ln/>
        </p:spPr>
        <p:txBody>
          <a:bodyPr wrap="square"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about 50%</a:t>
            </a:r>
            <a:endParaRPr lang="en-US" sz="1300" dirty="0"/>
          </a:p>
        </p:txBody>
      </p:sp>
      <p:sp>
        <p:nvSpPr>
          <p:cNvPr id="17" name="Text 15"/>
          <p:cNvSpPr/>
          <p:nvPr/>
        </p:nvSpPr>
        <p:spPr>
          <a:xfrm>
            <a:off x="502920" y="3108960"/>
            <a:ext cx="379476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New hire to first meaningful commit</a:t>
            </a:r>
            <a:endParaRPr lang="en-US" sz="1300" dirty="0"/>
          </a:p>
        </p:txBody>
      </p:sp>
      <p:sp>
        <p:nvSpPr>
          <p:cNvPr id="18" name="Text 16"/>
          <p:cNvSpPr/>
          <p:nvPr/>
        </p:nvSpPr>
        <p:spPr>
          <a:xfrm>
            <a:off x="4297680" y="3108960"/>
            <a:ext cx="283464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5 to 10 days</a:t>
            </a:r>
            <a:endParaRPr lang="en-US" sz="1300" dirty="0"/>
          </a:p>
        </p:txBody>
      </p:sp>
      <p:sp>
        <p:nvSpPr>
          <p:cNvPr id="19" name="Text 17"/>
          <p:cNvSpPr/>
          <p:nvPr/>
        </p:nvSpPr>
        <p:spPr>
          <a:xfrm>
            <a:off x="7132320" y="3108960"/>
            <a:ext cx="320040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2 to 3 days</a:t>
            </a:r>
            <a:endParaRPr lang="en-US" sz="1300" dirty="0"/>
          </a:p>
        </p:txBody>
      </p:sp>
      <p:sp>
        <p:nvSpPr>
          <p:cNvPr id="20" name="Text 18"/>
          <p:cNvSpPr/>
          <p:nvPr/>
        </p:nvSpPr>
        <p:spPr>
          <a:xfrm>
            <a:off x="10332720" y="3108960"/>
            <a:ext cx="1645920" cy="411480"/>
          </a:xfrm>
          <a:prstGeom prst="rect">
            <a:avLst/>
          </a:prstGeom>
          <a:noFill/>
          <a:ln/>
        </p:spPr>
        <p:txBody>
          <a:bodyPr wrap="square"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about 60%</a:t>
            </a:r>
            <a:endParaRPr lang="en-US" sz="1300" dirty="0"/>
          </a:p>
        </p:txBody>
      </p:sp>
      <p:sp>
        <p:nvSpPr>
          <p:cNvPr id="21" name="Shape 19"/>
          <p:cNvSpPr/>
          <p:nvPr/>
        </p:nvSpPr>
        <p:spPr>
          <a:xfrm>
            <a:off x="502920" y="3611880"/>
            <a:ext cx="11247120" cy="640080"/>
          </a:xfrm>
          <a:prstGeom prst="rect">
            <a:avLst/>
          </a:prstGeom>
          <a:solidFill>
            <a:srgbClr val="E8E4D8"/>
          </a:solidFill>
          <a:ln w="12700">
            <a:solidFill>
              <a:srgbClr val="E8E4D8"/>
            </a:solidFill>
            <a:prstDash val="solid"/>
          </a:ln>
        </p:spPr>
      </p:sp>
      <p:sp>
        <p:nvSpPr>
          <p:cNvPr id="22" name="Text 20"/>
          <p:cNvSpPr/>
          <p:nvPr/>
        </p:nvSpPr>
        <p:spPr>
          <a:xfrm>
            <a:off x="502920" y="3749040"/>
            <a:ext cx="379476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P1 incident diagnosis</a:t>
            </a:r>
            <a:endParaRPr lang="en-US" sz="1300" dirty="0"/>
          </a:p>
        </p:txBody>
      </p:sp>
      <p:sp>
        <p:nvSpPr>
          <p:cNvPr id="23" name="Text 21"/>
          <p:cNvSpPr/>
          <p:nvPr/>
        </p:nvSpPr>
        <p:spPr>
          <a:xfrm>
            <a:off x="4297680" y="3749040"/>
            <a:ext cx="283464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30 to 60 min</a:t>
            </a:r>
            <a:endParaRPr lang="en-US" sz="1300" dirty="0"/>
          </a:p>
        </p:txBody>
      </p:sp>
      <p:sp>
        <p:nvSpPr>
          <p:cNvPr id="24" name="Text 22"/>
          <p:cNvSpPr/>
          <p:nvPr/>
        </p:nvSpPr>
        <p:spPr>
          <a:xfrm>
            <a:off x="7132320" y="3749040"/>
            <a:ext cx="320040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10 to 20 min</a:t>
            </a:r>
            <a:endParaRPr lang="en-US" sz="1300" dirty="0"/>
          </a:p>
        </p:txBody>
      </p:sp>
      <p:sp>
        <p:nvSpPr>
          <p:cNvPr id="25" name="Text 23"/>
          <p:cNvSpPr/>
          <p:nvPr/>
        </p:nvSpPr>
        <p:spPr>
          <a:xfrm>
            <a:off x="10332720" y="3749040"/>
            <a:ext cx="1645920" cy="411480"/>
          </a:xfrm>
          <a:prstGeom prst="rect">
            <a:avLst/>
          </a:prstGeom>
          <a:noFill/>
          <a:ln/>
        </p:spPr>
        <p:txBody>
          <a:bodyPr wrap="square"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about 60%</a:t>
            </a:r>
            <a:endParaRPr lang="en-US" sz="1300" dirty="0"/>
          </a:p>
        </p:txBody>
      </p:sp>
      <p:sp>
        <p:nvSpPr>
          <p:cNvPr id="26" name="Text 24"/>
          <p:cNvSpPr/>
          <p:nvPr/>
        </p:nvSpPr>
        <p:spPr>
          <a:xfrm>
            <a:off x="502920" y="4389120"/>
            <a:ext cx="379476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Security findings at quarterly audit</a:t>
            </a:r>
            <a:endParaRPr lang="en-US" sz="1300" dirty="0"/>
          </a:p>
        </p:txBody>
      </p:sp>
      <p:sp>
        <p:nvSpPr>
          <p:cNvPr id="27" name="Text 25"/>
          <p:cNvSpPr/>
          <p:nvPr/>
        </p:nvSpPr>
        <p:spPr>
          <a:xfrm>
            <a:off x="4297680" y="4389120"/>
            <a:ext cx="283464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8 to 15</a:t>
            </a:r>
            <a:endParaRPr lang="en-US" sz="1300" dirty="0"/>
          </a:p>
        </p:txBody>
      </p:sp>
      <p:sp>
        <p:nvSpPr>
          <p:cNvPr id="28" name="Text 26"/>
          <p:cNvSpPr/>
          <p:nvPr/>
        </p:nvSpPr>
        <p:spPr>
          <a:xfrm>
            <a:off x="7132320" y="4389120"/>
            <a:ext cx="3200400" cy="41148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2 to 4</a:t>
            </a:r>
            <a:endParaRPr lang="en-US" sz="1300" dirty="0"/>
          </a:p>
        </p:txBody>
      </p:sp>
      <p:sp>
        <p:nvSpPr>
          <p:cNvPr id="29" name="Text 27"/>
          <p:cNvSpPr/>
          <p:nvPr/>
        </p:nvSpPr>
        <p:spPr>
          <a:xfrm>
            <a:off x="10332720" y="4389120"/>
            <a:ext cx="1645920" cy="411480"/>
          </a:xfrm>
          <a:prstGeom prst="rect">
            <a:avLst/>
          </a:prstGeom>
          <a:noFill/>
          <a:ln/>
        </p:spPr>
        <p:txBody>
          <a:bodyPr wrap="square"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about 70%</a:t>
            </a:r>
            <a:endParaRPr lang="en-US" sz="1300" dirty="0"/>
          </a:p>
        </p:txBody>
      </p:sp>
      <p:sp>
        <p:nvSpPr>
          <p:cNvPr id="30" name="Shape 28"/>
          <p:cNvSpPr/>
          <p:nvPr/>
        </p:nvSpPr>
        <p:spPr>
          <a:xfrm>
            <a:off x="502920" y="5257800"/>
            <a:ext cx="11247120" cy="1005840"/>
          </a:xfrm>
          <a:prstGeom prst="rect">
            <a:avLst/>
          </a:prstGeom>
          <a:solidFill>
            <a:srgbClr val="CC785C"/>
          </a:solidFill>
          <a:ln w="12700">
            <a:solidFill>
              <a:srgbClr val="CC785C"/>
            </a:solidFill>
            <a:prstDash val="solid"/>
          </a:ln>
        </p:spPr>
      </p:sp>
      <p:sp>
        <p:nvSpPr>
          <p:cNvPr id="31" name="Text 29"/>
          <p:cNvSpPr/>
          <p:nvPr/>
        </p:nvSpPr>
        <p:spPr>
          <a:xfrm>
            <a:off x="777240" y="5349240"/>
            <a:ext cx="4572000" cy="274320"/>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The simple math</a:t>
            </a:r>
            <a:endParaRPr lang="en-US" sz="1000" dirty="0"/>
          </a:p>
        </p:txBody>
      </p:sp>
      <p:sp>
        <p:nvSpPr>
          <p:cNvPr id="32" name="Text 30"/>
          <p:cNvSpPr/>
          <p:nvPr/>
        </p:nvSpPr>
        <p:spPr>
          <a:xfrm>
            <a:off x="777240" y="5623560"/>
            <a:ext cx="106984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hour saved per engineer per day  ×  $75/hr loaded cost  =  $1,500 per engineer per month.</a:t>
            </a:r>
            <a:endParaRPr lang="en-US" sz="1400" dirty="0"/>
          </a:p>
        </p:txBody>
      </p:sp>
      <p:sp>
        <p:nvSpPr>
          <p:cNvPr id="33" name="Text 31"/>
          <p:cNvSpPr/>
          <p:nvPr/>
        </p:nvSpPr>
        <p:spPr>
          <a:xfrm>
            <a:off x="777240" y="5925312"/>
            <a:ext cx="10698480" cy="274320"/>
          </a:xfrm>
          <a:prstGeom prst="rect">
            <a:avLst/>
          </a:prstGeom>
          <a:noFill/>
          <a:ln/>
        </p:spPr>
        <p:txBody>
          <a:bodyPr wrap="square" rtlCol="0" anchor="ctr"/>
          <a:lstStyle/>
          <a:p>
            <a:pPr indent="0" marL="0">
              <a:buNone/>
            </a:pPr>
            <a:r>
              <a:rPr lang="en-US" sz="1150" i="1" dirty="0">
                <a:solidFill>
                  <a:srgbClr val="FCE8E0"/>
                </a:solidFill>
                <a:latin typeface="Calibri" pitchFamily="34" charset="0"/>
                <a:ea typeface="Calibri" pitchFamily="34" charset="-122"/>
                <a:cs typeface="Calibri" pitchFamily="34" charset="-120"/>
              </a:rPr>
              <a:t>Claude Code runs $100 per engineer per month, so it tends to pay for itself in under two hours.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 PRAGMATIC ROLLOUT</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Three weeks to a signal. Three months to a decision.</a:t>
            </a:r>
            <a:endParaRPr lang="en-US" sz="3400" dirty="0"/>
          </a:p>
        </p:txBody>
      </p:sp>
      <p:sp>
        <p:nvSpPr>
          <p:cNvPr id="7" name="Text 5"/>
          <p:cNvSpPr/>
          <p:nvPr/>
        </p:nvSpPr>
        <p:spPr>
          <a:xfrm>
            <a:off x="502920" y="1783080"/>
            <a:ext cx="36576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PHASE 1 · WEEKS 1 TO 3</a:t>
            </a:r>
            <a:endParaRPr lang="en-US" sz="1000" dirty="0"/>
          </a:p>
        </p:txBody>
      </p:sp>
      <p:sp>
        <p:nvSpPr>
          <p:cNvPr id="8" name="Text 6"/>
          <p:cNvSpPr/>
          <p:nvPr/>
        </p:nvSpPr>
        <p:spPr>
          <a:xfrm>
            <a:off x="502920" y="2057400"/>
            <a:ext cx="3657600" cy="594360"/>
          </a:xfrm>
          <a:prstGeom prst="rect">
            <a:avLst/>
          </a:prstGeom>
          <a:noFill/>
          <a:ln/>
        </p:spPr>
        <p:txBody>
          <a:bodyPr wrap="square" rtlCol="0" anchor="ctr"/>
          <a:lstStyle/>
          <a:p>
            <a:pPr indent="0" marL="0">
              <a:buNone/>
            </a:pPr>
            <a:r>
              <a:rPr lang="en-US" sz="3000" dirty="0">
                <a:solidFill>
                  <a:srgbClr val="1F1F1E"/>
                </a:solidFill>
                <a:latin typeface="Georgia" pitchFamily="34" charset="0"/>
                <a:ea typeface="Georgia" pitchFamily="34" charset="-122"/>
                <a:cs typeface="Georgia" pitchFamily="34" charset="-120"/>
              </a:rPr>
              <a:t>Signal</a:t>
            </a:r>
            <a:endParaRPr lang="en-US" sz="3000" dirty="0"/>
          </a:p>
        </p:txBody>
      </p:sp>
      <p:sp>
        <p:nvSpPr>
          <p:cNvPr id="9" name="Shape 7"/>
          <p:cNvSpPr/>
          <p:nvPr/>
        </p:nvSpPr>
        <p:spPr>
          <a:xfrm>
            <a:off x="502920" y="2743200"/>
            <a:ext cx="3657600" cy="3200400"/>
          </a:xfrm>
          <a:prstGeom prst="rect">
            <a:avLst/>
          </a:prstGeom>
          <a:solidFill>
            <a:srgbClr val="E8E4D8"/>
          </a:solidFill>
          <a:ln w="9525">
            <a:solidFill>
              <a:srgbClr val="D6D1C4"/>
            </a:solidFill>
            <a:prstDash val="solid"/>
          </a:ln>
        </p:spPr>
      </p:sp>
      <p:sp>
        <p:nvSpPr>
          <p:cNvPr id="10" name="Shape 8"/>
          <p:cNvSpPr/>
          <p:nvPr/>
        </p:nvSpPr>
        <p:spPr>
          <a:xfrm>
            <a:off x="502920" y="2743200"/>
            <a:ext cx="3657600" cy="73152"/>
          </a:xfrm>
          <a:prstGeom prst="rect">
            <a:avLst/>
          </a:prstGeom>
          <a:solidFill>
            <a:srgbClr val="CC785C"/>
          </a:solidFill>
          <a:ln w="12700">
            <a:solidFill>
              <a:srgbClr val="CC785C"/>
            </a:solidFill>
            <a:prstDash val="solid"/>
          </a:ln>
        </p:spPr>
      </p:sp>
      <p:sp>
        <p:nvSpPr>
          <p:cNvPr id="11" name="Shape 9"/>
          <p:cNvSpPr/>
          <p:nvPr/>
        </p:nvSpPr>
        <p:spPr>
          <a:xfrm>
            <a:off x="777240" y="3108960"/>
            <a:ext cx="73152" cy="73152"/>
          </a:xfrm>
          <a:prstGeom prst="rect">
            <a:avLst/>
          </a:prstGeom>
          <a:solidFill>
            <a:srgbClr val="CC785C"/>
          </a:solidFill>
          <a:ln w="12700">
            <a:solidFill>
              <a:srgbClr val="CC785C"/>
            </a:solidFill>
            <a:prstDash val="solid"/>
          </a:ln>
        </p:spPr>
      </p:sp>
      <p:sp>
        <p:nvSpPr>
          <p:cNvPr id="12" name="Text 10"/>
          <p:cNvSpPr/>
          <p:nvPr/>
        </p:nvSpPr>
        <p:spPr>
          <a:xfrm>
            <a:off x="960120" y="297180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5 engineers: 2 SWEs, 1 SRE, 1 DS, 1 tech lead</a:t>
            </a:r>
            <a:endParaRPr lang="en-US" sz="1150" dirty="0"/>
          </a:p>
        </p:txBody>
      </p:sp>
      <p:sp>
        <p:nvSpPr>
          <p:cNvPr id="13" name="Shape 11"/>
          <p:cNvSpPr/>
          <p:nvPr/>
        </p:nvSpPr>
        <p:spPr>
          <a:xfrm>
            <a:off x="777240" y="3840480"/>
            <a:ext cx="73152" cy="73152"/>
          </a:xfrm>
          <a:prstGeom prst="rect">
            <a:avLst/>
          </a:prstGeom>
          <a:solidFill>
            <a:srgbClr val="CC785C"/>
          </a:solidFill>
          <a:ln w="12700">
            <a:solidFill>
              <a:srgbClr val="CC785C"/>
            </a:solidFill>
            <a:prstDash val="solid"/>
          </a:ln>
        </p:spPr>
      </p:sp>
      <p:sp>
        <p:nvSpPr>
          <p:cNvPr id="14" name="Text 12"/>
          <p:cNvSpPr/>
          <p:nvPr/>
        </p:nvSpPr>
        <p:spPr>
          <a:xfrm>
            <a:off x="960120" y="370332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Measure PR cycle time and incident MTTR</a:t>
            </a:r>
            <a:endParaRPr lang="en-US" sz="1150" dirty="0"/>
          </a:p>
        </p:txBody>
      </p:sp>
      <p:sp>
        <p:nvSpPr>
          <p:cNvPr id="15" name="Shape 13"/>
          <p:cNvSpPr/>
          <p:nvPr/>
        </p:nvSpPr>
        <p:spPr>
          <a:xfrm>
            <a:off x="777240" y="4572000"/>
            <a:ext cx="73152" cy="73152"/>
          </a:xfrm>
          <a:prstGeom prst="rect">
            <a:avLst/>
          </a:prstGeom>
          <a:solidFill>
            <a:srgbClr val="CC785C"/>
          </a:solidFill>
          <a:ln w="12700">
            <a:solidFill>
              <a:srgbClr val="CC785C"/>
            </a:solidFill>
            <a:prstDash val="solid"/>
          </a:ln>
        </p:spPr>
      </p:sp>
      <p:sp>
        <p:nvSpPr>
          <p:cNvPr id="16" name="Text 14"/>
          <p:cNvSpPr/>
          <p:nvPr/>
        </p:nvSpPr>
        <p:spPr>
          <a:xfrm>
            <a:off x="960120" y="443484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No procurement needed to get started</a:t>
            </a:r>
            <a:endParaRPr lang="en-US" sz="1150" dirty="0"/>
          </a:p>
        </p:txBody>
      </p:sp>
      <p:sp>
        <p:nvSpPr>
          <p:cNvPr id="17" name="Shape 15"/>
          <p:cNvSpPr/>
          <p:nvPr/>
        </p:nvSpPr>
        <p:spPr>
          <a:xfrm>
            <a:off x="777240" y="5303520"/>
            <a:ext cx="73152" cy="73152"/>
          </a:xfrm>
          <a:prstGeom prst="rect">
            <a:avLst/>
          </a:prstGeom>
          <a:solidFill>
            <a:srgbClr val="CC785C"/>
          </a:solidFill>
          <a:ln w="12700">
            <a:solidFill>
              <a:srgbClr val="CC785C"/>
            </a:solidFill>
            <a:prstDash val="solid"/>
          </a:ln>
        </p:spPr>
      </p:sp>
      <p:sp>
        <p:nvSpPr>
          <p:cNvPr id="18" name="Text 16"/>
          <p:cNvSpPr/>
          <p:nvPr/>
        </p:nvSpPr>
        <p:spPr>
          <a:xfrm>
            <a:off x="960120" y="516636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The question we're answering: would I use this daily?</a:t>
            </a:r>
            <a:endParaRPr lang="en-US" sz="1150" dirty="0"/>
          </a:p>
        </p:txBody>
      </p:sp>
      <p:sp>
        <p:nvSpPr>
          <p:cNvPr id="19" name="Text 17"/>
          <p:cNvSpPr/>
          <p:nvPr/>
        </p:nvSpPr>
        <p:spPr>
          <a:xfrm>
            <a:off x="4389120" y="1783080"/>
            <a:ext cx="36576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PHASE 2 · WEEKS 4 TO 6</a:t>
            </a:r>
            <a:endParaRPr lang="en-US" sz="1000" dirty="0"/>
          </a:p>
        </p:txBody>
      </p:sp>
      <p:sp>
        <p:nvSpPr>
          <p:cNvPr id="20" name="Text 18"/>
          <p:cNvSpPr/>
          <p:nvPr/>
        </p:nvSpPr>
        <p:spPr>
          <a:xfrm>
            <a:off x="4389120" y="2057400"/>
            <a:ext cx="3657600" cy="594360"/>
          </a:xfrm>
          <a:prstGeom prst="rect">
            <a:avLst/>
          </a:prstGeom>
          <a:noFill/>
          <a:ln/>
        </p:spPr>
        <p:txBody>
          <a:bodyPr wrap="square" rtlCol="0" anchor="ctr"/>
          <a:lstStyle/>
          <a:p>
            <a:pPr indent="0" marL="0">
              <a:buNone/>
            </a:pPr>
            <a:r>
              <a:rPr lang="en-US" sz="3000" dirty="0">
                <a:solidFill>
                  <a:srgbClr val="1F1F1E"/>
                </a:solidFill>
                <a:latin typeface="Georgia" pitchFamily="34" charset="0"/>
                <a:ea typeface="Georgia" pitchFamily="34" charset="-122"/>
                <a:cs typeface="Georgia" pitchFamily="34" charset="-120"/>
              </a:rPr>
              <a:t>Expand</a:t>
            </a:r>
            <a:endParaRPr lang="en-US" sz="3000" dirty="0"/>
          </a:p>
        </p:txBody>
      </p:sp>
      <p:sp>
        <p:nvSpPr>
          <p:cNvPr id="21" name="Shape 19"/>
          <p:cNvSpPr/>
          <p:nvPr/>
        </p:nvSpPr>
        <p:spPr>
          <a:xfrm>
            <a:off x="4389120" y="2743200"/>
            <a:ext cx="3657600" cy="3200400"/>
          </a:xfrm>
          <a:prstGeom prst="rect">
            <a:avLst/>
          </a:prstGeom>
          <a:solidFill>
            <a:srgbClr val="E8E4D8"/>
          </a:solidFill>
          <a:ln w="9525">
            <a:solidFill>
              <a:srgbClr val="D6D1C4"/>
            </a:solidFill>
            <a:prstDash val="solid"/>
          </a:ln>
        </p:spPr>
      </p:sp>
      <p:sp>
        <p:nvSpPr>
          <p:cNvPr id="22" name="Shape 20"/>
          <p:cNvSpPr/>
          <p:nvPr/>
        </p:nvSpPr>
        <p:spPr>
          <a:xfrm>
            <a:off x="4389120" y="2743200"/>
            <a:ext cx="3657600" cy="73152"/>
          </a:xfrm>
          <a:prstGeom prst="rect">
            <a:avLst/>
          </a:prstGeom>
          <a:solidFill>
            <a:srgbClr val="CC785C"/>
          </a:solidFill>
          <a:ln w="12700">
            <a:solidFill>
              <a:srgbClr val="CC785C"/>
            </a:solidFill>
            <a:prstDash val="solid"/>
          </a:ln>
        </p:spPr>
      </p:sp>
      <p:sp>
        <p:nvSpPr>
          <p:cNvPr id="23" name="Shape 21"/>
          <p:cNvSpPr/>
          <p:nvPr/>
        </p:nvSpPr>
        <p:spPr>
          <a:xfrm>
            <a:off x="4663440" y="3108960"/>
            <a:ext cx="73152" cy="73152"/>
          </a:xfrm>
          <a:prstGeom prst="rect">
            <a:avLst/>
          </a:prstGeom>
          <a:solidFill>
            <a:srgbClr val="CC785C"/>
          </a:solidFill>
          <a:ln w="12700">
            <a:solidFill>
              <a:srgbClr val="CC785C"/>
            </a:solidFill>
            <a:prstDash val="solid"/>
          </a:ln>
        </p:spPr>
      </p:sp>
      <p:sp>
        <p:nvSpPr>
          <p:cNvPr id="24" name="Text 22"/>
          <p:cNvSpPr/>
          <p:nvPr/>
        </p:nvSpPr>
        <p:spPr>
          <a:xfrm>
            <a:off x="4846320" y="297180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15 engineers across one or two more teams</a:t>
            </a:r>
            <a:endParaRPr lang="en-US" sz="1150" dirty="0"/>
          </a:p>
        </p:txBody>
      </p:sp>
      <p:sp>
        <p:nvSpPr>
          <p:cNvPr id="25" name="Shape 23"/>
          <p:cNvSpPr/>
          <p:nvPr/>
        </p:nvSpPr>
        <p:spPr>
          <a:xfrm>
            <a:off x="4663440" y="3840480"/>
            <a:ext cx="73152" cy="73152"/>
          </a:xfrm>
          <a:prstGeom prst="rect">
            <a:avLst/>
          </a:prstGeom>
          <a:solidFill>
            <a:srgbClr val="CC785C"/>
          </a:solidFill>
          <a:ln w="12700">
            <a:solidFill>
              <a:srgbClr val="CC785C"/>
            </a:solidFill>
            <a:prstDash val="solid"/>
          </a:ln>
        </p:spPr>
      </p:sp>
      <p:sp>
        <p:nvSpPr>
          <p:cNvPr id="26" name="Text 24"/>
          <p:cNvSpPr/>
          <p:nvPr/>
        </p:nvSpPr>
        <p:spPr>
          <a:xfrm>
            <a:off x="4846320" y="370332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CLAUDE.md distributed via your repo template</a:t>
            </a:r>
            <a:endParaRPr lang="en-US" sz="1150" dirty="0"/>
          </a:p>
        </p:txBody>
      </p:sp>
      <p:sp>
        <p:nvSpPr>
          <p:cNvPr id="27" name="Shape 25"/>
          <p:cNvSpPr/>
          <p:nvPr/>
        </p:nvSpPr>
        <p:spPr>
          <a:xfrm>
            <a:off x="4663440" y="4572000"/>
            <a:ext cx="73152" cy="73152"/>
          </a:xfrm>
          <a:prstGeom prst="rect">
            <a:avLst/>
          </a:prstGeom>
          <a:solidFill>
            <a:srgbClr val="CC785C"/>
          </a:solidFill>
          <a:ln w="12700">
            <a:solidFill>
              <a:srgbClr val="CC785C"/>
            </a:solidFill>
            <a:prstDash val="solid"/>
          </a:ln>
        </p:spPr>
      </p:sp>
      <p:sp>
        <p:nvSpPr>
          <p:cNvPr id="28" name="Text 26"/>
          <p:cNvSpPr/>
          <p:nvPr/>
        </p:nvSpPr>
        <p:spPr>
          <a:xfrm>
            <a:off x="4846320" y="443484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Zero per-engineer setup</a:t>
            </a:r>
            <a:endParaRPr lang="en-US" sz="1150" dirty="0"/>
          </a:p>
        </p:txBody>
      </p:sp>
      <p:sp>
        <p:nvSpPr>
          <p:cNvPr id="29" name="Shape 27"/>
          <p:cNvSpPr/>
          <p:nvPr/>
        </p:nvSpPr>
        <p:spPr>
          <a:xfrm>
            <a:off x="4663440" y="5303520"/>
            <a:ext cx="73152" cy="73152"/>
          </a:xfrm>
          <a:prstGeom prst="rect">
            <a:avLst/>
          </a:prstGeom>
          <a:solidFill>
            <a:srgbClr val="CC785C"/>
          </a:solidFill>
          <a:ln w="12700">
            <a:solidFill>
              <a:srgbClr val="CC785C"/>
            </a:solidFill>
            <a:prstDash val="solid"/>
          </a:ln>
        </p:spPr>
      </p:sp>
      <p:sp>
        <p:nvSpPr>
          <p:cNvPr id="30" name="Text 28"/>
          <p:cNvSpPr/>
          <p:nvPr/>
        </p:nvSpPr>
        <p:spPr>
          <a:xfrm>
            <a:off x="4846320" y="516636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The question we're answering: is the delta real?</a:t>
            </a:r>
            <a:endParaRPr lang="en-US" sz="1150" dirty="0"/>
          </a:p>
        </p:txBody>
      </p:sp>
      <p:sp>
        <p:nvSpPr>
          <p:cNvPr id="31" name="Text 29"/>
          <p:cNvSpPr/>
          <p:nvPr/>
        </p:nvSpPr>
        <p:spPr>
          <a:xfrm>
            <a:off x="8275320" y="1783080"/>
            <a:ext cx="36576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PHASE 3 · WEEKS 7 TO 12</a:t>
            </a:r>
            <a:endParaRPr lang="en-US" sz="1000" dirty="0"/>
          </a:p>
        </p:txBody>
      </p:sp>
      <p:sp>
        <p:nvSpPr>
          <p:cNvPr id="32" name="Text 30"/>
          <p:cNvSpPr/>
          <p:nvPr/>
        </p:nvSpPr>
        <p:spPr>
          <a:xfrm>
            <a:off x="8275320" y="2057400"/>
            <a:ext cx="3657600" cy="594360"/>
          </a:xfrm>
          <a:prstGeom prst="rect">
            <a:avLst/>
          </a:prstGeom>
          <a:noFill/>
          <a:ln/>
        </p:spPr>
        <p:txBody>
          <a:bodyPr wrap="square" rtlCol="0" anchor="ctr"/>
          <a:lstStyle/>
          <a:p>
            <a:pPr indent="0" marL="0">
              <a:buNone/>
            </a:pPr>
            <a:r>
              <a:rPr lang="en-US" sz="3000" dirty="0">
                <a:solidFill>
                  <a:srgbClr val="1F1F1E"/>
                </a:solidFill>
                <a:latin typeface="Georgia" pitchFamily="34" charset="0"/>
                <a:ea typeface="Georgia" pitchFamily="34" charset="-122"/>
                <a:cs typeface="Georgia" pitchFamily="34" charset="-120"/>
              </a:rPr>
              <a:t>Scale</a:t>
            </a:r>
            <a:endParaRPr lang="en-US" sz="3000" dirty="0"/>
          </a:p>
        </p:txBody>
      </p:sp>
      <p:sp>
        <p:nvSpPr>
          <p:cNvPr id="33" name="Shape 31"/>
          <p:cNvSpPr/>
          <p:nvPr/>
        </p:nvSpPr>
        <p:spPr>
          <a:xfrm>
            <a:off x="8275320" y="2743200"/>
            <a:ext cx="3657600" cy="3200400"/>
          </a:xfrm>
          <a:prstGeom prst="rect">
            <a:avLst/>
          </a:prstGeom>
          <a:solidFill>
            <a:srgbClr val="E8E4D8"/>
          </a:solidFill>
          <a:ln w="9525">
            <a:solidFill>
              <a:srgbClr val="D6D1C4"/>
            </a:solidFill>
            <a:prstDash val="solid"/>
          </a:ln>
        </p:spPr>
      </p:sp>
      <p:sp>
        <p:nvSpPr>
          <p:cNvPr id="34" name="Shape 32"/>
          <p:cNvSpPr/>
          <p:nvPr/>
        </p:nvSpPr>
        <p:spPr>
          <a:xfrm>
            <a:off x="8275320" y="2743200"/>
            <a:ext cx="3657600" cy="73152"/>
          </a:xfrm>
          <a:prstGeom prst="rect">
            <a:avLst/>
          </a:prstGeom>
          <a:solidFill>
            <a:srgbClr val="CC785C"/>
          </a:solidFill>
          <a:ln w="12700">
            <a:solidFill>
              <a:srgbClr val="CC785C"/>
            </a:solidFill>
            <a:prstDash val="solid"/>
          </a:ln>
        </p:spPr>
      </p:sp>
      <p:sp>
        <p:nvSpPr>
          <p:cNvPr id="35" name="Shape 33"/>
          <p:cNvSpPr/>
          <p:nvPr/>
        </p:nvSpPr>
        <p:spPr>
          <a:xfrm>
            <a:off x="8549640" y="3108960"/>
            <a:ext cx="73152" cy="73152"/>
          </a:xfrm>
          <a:prstGeom prst="rect">
            <a:avLst/>
          </a:prstGeom>
          <a:solidFill>
            <a:srgbClr val="CC785C"/>
          </a:solidFill>
          <a:ln w="12700">
            <a:solidFill>
              <a:srgbClr val="CC785C"/>
            </a:solidFill>
            <a:prstDash val="solid"/>
          </a:ln>
        </p:spPr>
      </p:sp>
      <p:sp>
        <p:nvSpPr>
          <p:cNvPr id="36" name="Text 34"/>
          <p:cNvSpPr/>
          <p:nvPr/>
        </p:nvSpPr>
        <p:spPr>
          <a:xfrm>
            <a:off x="8732520" y="297180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All 180 engineers</a:t>
            </a:r>
            <a:endParaRPr lang="en-US" sz="1150" dirty="0"/>
          </a:p>
        </p:txBody>
      </p:sp>
      <p:sp>
        <p:nvSpPr>
          <p:cNvPr id="37" name="Shape 35"/>
          <p:cNvSpPr/>
          <p:nvPr/>
        </p:nvSpPr>
        <p:spPr>
          <a:xfrm>
            <a:off x="8549640" y="3840480"/>
            <a:ext cx="73152" cy="73152"/>
          </a:xfrm>
          <a:prstGeom prst="rect">
            <a:avLst/>
          </a:prstGeom>
          <a:solidFill>
            <a:srgbClr val="CC785C"/>
          </a:solidFill>
          <a:ln w="12700">
            <a:solidFill>
              <a:srgbClr val="CC785C"/>
            </a:solidFill>
            <a:prstDash val="solid"/>
          </a:ln>
        </p:spPr>
      </p:sp>
      <p:sp>
        <p:nvSpPr>
          <p:cNvPr id="38" name="Text 36"/>
          <p:cNvSpPr/>
          <p:nvPr/>
        </p:nvSpPr>
        <p:spPr>
          <a:xfrm>
            <a:off x="8732520" y="370332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Enterprise agreement and DPA in place</a:t>
            </a:r>
            <a:endParaRPr lang="en-US" sz="1150" dirty="0"/>
          </a:p>
        </p:txBody>
      </p:sp>
      <p:sp>
        <p:nvSpPr>
          <p:cNvPr id="39" name="Shape 37"/>
          <p:cNvSpPr/>
          <p:nvPr/>
        </p:nvSpPr>
        <p:spPr>
          <a:xfrm>
            <a:off x="8549640" y="4572000"/>
            <a:ext cx="73152" cy="73152"/>
          </a:xfrm>
          <a:prstGeom prst="rect">
            <a:avLst/>
          </a:prstGeom>
          <a:solidFill>
            <a:srgbClr val="CC785C"/>
          </a:solidFill>
          <a:ln w="12700">
            <a:solidFill>
              <a:srgbClr val="CC785C"/>
            </a:solidFill>
            <a:prstDash val="solid"/>
          </a:ln>
        </p:spPr>
      </p:sp>
      <p:sp>
        <p:nvSpPr>
          <p:cNvPr id="40" name="Text 38"/>
          <p:cNvSpPr/>
          <p:nvPr/>
        </p:nvSpPr>
        <p:spPr>
          <a:xfrm>
            <a:off x="8732520" y="443484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FFIEC evidence package in hand</a:t>
            </a:r>
            <a:endParaRPr lang="en-US" sz="1150" dirty="0"/>
          </a:p>
        </p:txBody>
      </p:sp>
      <p:sp>
        <p:nvSpPr>
          <p:cNvPr id="41" name="Shape 39"/>
          <p:cNvSpPr/>
          <p:nvPr/>
        </p:nvSpPr>
        <p:spPr>
          <a:xfrm>
            <a:off x="8549640" y="5303520"/>
            <a:ext cx="73152" cy="73152"/>
          </a:xfrm>
          <a:prstGeom prst="rect">
            <a:avLst/>
          </a:prstGeom>
          <a:solidFill>
            <a:srgbClr val="CC785C"/>
          </a:solidFill>
          <a:ln w="12700">
            <a:solidFill>
              <a:srgbClr val="CC785C"/>
            </a:solidFill>
            <a:prstDash val="solid"/>
          </a:ln>
        </p:spPr>
      </p:sp>
      <p:sp>
        <p:nvSpPr>
          <p:cNvPr id="42" name="Text 40"/>
          <p:cNvSpPr/>
          <p:nvPr/>
        </p:nvSpPr>
        <p:spPr>
          <a:xfrm>
            <a:off x="8732520" y="5166360"/>
            <a:ext cx="3017520" cy="64008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The question we're answering: is this ready for the board?</a:t>
            </a:r>
            <a:endParaRPr lang="en-US" sz="1150" dirty="0"/>
          </a:p>
        </p:txBody>
      </p:sp>
      <p:sp>
        <p:nvSpPr>
          <p:cNvPr id="43" name="Text 41"/>
          <p:cNvSpPr/>
          <p:nvPr/>
        </p:nvSpPr>
        <p:spPr>
          <a:xfrm>
            <a:off x="502920" y="6126480"/>
            <a:ext cx="11247120" cy="320040"/>
          </a:xfrm>
          <a:prstGeom prst="rect">
            <a:avLst/>
          </a:prstGeom>
          <a:noFill/>
          <a:ln/>
        </p:spPr>
        <p:txBody>
          <a:bodyPr wrap="square" rtlCol="0" anchor="ctr"/>
          <a:lstStyle/>
          <a:p>
            <a:pPr indent="0" marL="0">
              <a:buNone/>
            </a:pPr>
            <a:r>
              <a:rPr lang="en-US" sz="1150" i="1" dirty="0">
                <a:solidFill>
                  <a:srgbClr val="6B6760"/>
                </a:solidFill>
                <a:latin typeface="Calibri" pitchFamily="34" charset="0"/>
                <a:ea typeface="Calibri" pitchFamily="34" charset="-122"/>
                <a:cs typeface="Calibri" pitchFamily="34" charset="-120"/>
              </a:rPr>
              <a:t>Phase 1 setup takes about 30 minutes. I'll be on the call when your pilot engineers log in for the first time.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NEXT STEPS</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Three asks. None of them need procurement today.</a:t>
            </a:r>
            <a:endParaRPr lang="en-US" sz="3400" dirty="0"/>
          </a:p>
        </p:txBody>
      </p:sp>
      <p:sp>
        <p:nvSpPr>
          <p:cNvPr id="7" name="Shape 5"/>
          <p:cNvSpPr/>
          <p:nvPr/>
        </p:nvSpPr>
        <p:spPr>
          <a:xfrm>
            <a:off x="502920" y="1828800"/>
            <a:ext cx="11247120" cy="1097280"/>
          </a:xfrm>
          <a:prstGeom prst="rect">
            <a:avLst/>
          </a:prstGeom>
          <a:solidFill>
            <a:srgbClr val="E8E4D8"/>
          </a:solidFill>
          <a:ln w="9525">
            <a:solidFill>
              <a:srgbClr val="D6D1C4"/>
            </a:solidFill>
            <a:prstDash val="solid"/>
          </a:ln>
        </p:spPr>
      </p:sp>
      <p:sp>
        <p:nvSpPr>
          <p:cNvPr id="8" name="Shape 6"/>
          <p:cNvSpPr/>
          <p:nvPr/>
        </p:nvSpPr>
        <p:spPr>
          <a:xfrm>
            <a:off x="502920" y="1828800"/>
            <a:ext cx="109728" cy="1097280"/>
          </a:xfrm>
          <a:prstGeom prst="rect">
            <a:avLst/>
          </a:prstGeom>
          <a:solidFill>
            <a:srgbClr val="CC785C"/>
          </a:solidFill>
          <a:ln w="12700">
            <a:solidFill>
              <a:srgbClr val="CC785C"/>
            </a:solidFill>
            <a:prstDash val="solid"/>
          </a:ln>
        </p:spPr>
      </p:sp>
      <p:sp>
        <p:nvSpPr>
          <p:cNvPr id="9" name="Text 7"/>
          <p:cNvSpPr/>
          <p:nvPr/>
        </p:nvSpPr>
        <p:spPr>
          <a:xfrm>
            <a:off x="777240" y="1965960"/>
            <a:ext cx="2560320" cy="27432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THIS WEEK</a:t>
            </a:r>
            <a:endParaRPr lang="en-US" sz="1100" dirty="0"/>
          </a:p>
        </p:txBody>
      </p:sp>
      <p:sp>
        <p:nvSpPr>
          <p:cNvPr id="10" name="Text 8"/>
          <p:cNvSpPr/>
          <p:nvPr/>
        </p:nvSpPr>
        <p:spPr>
          <a:xfrm>
            <a:off x="3383280" y="1938528"/>
            <a:ext cx="8229600" cy="411480"/>
          </a:xfrm>
          <a:prstGeom prst="rect">
            <a:avLst/>
          </a:prstGeom>
          <a:noFill/>
          <a:ln/>
        </p:spPr>
        <p:txBody>
          <a:bodyPr wrap="square" rtlCol="0" anchor="ctr"/>
          <a:lstStyle/>
          <a:p>
            <a:pPr indent="0" marL="0">
              <a:buNone/>
            </a:pPr>
            <a:r>
              <a:rPr lang="en-US" sz="1500" b="1" dirty="0">
                <a:solidFill>
                  <a:srgbClr val="1F1F1E"/>
                </a:solidFill>
                <a:latin typeface="Calibri" pitchFamily="34" charset="0"/>
                <a:ea typeface="Calibri" pitchFamily="34" charset="-122"/>
                <a:cs typeface="Calibri" pitchFamily="34" charset="-120"/>
              </a:rPr>
              <a:t>Security overview, DPA, and SOC 2 report to your legal team</a:t>
            </a:r>
            <a:endParaRPr lang="en-US" sz="1500" dirty="0"/>
          </a:p>
        </p:txBody>
      </p:sp>
      <p:sp>
        <p:nvSpPr>
          <p:cNvPr id="11" name="Text 9"/>
          <p:cNvSpPr/>
          <p:nvPr/>
        </p:nvSpPr>
        <p:spPr>
          <a:xfrm>
            <a:off x="3383280" y="2377440"/>
            <a:ext cx="8229600" cy="457200"/>
          </a:xfrm>
          <a:prstGeom prst="rect">
            <a:avLst/>
          </a:prstGeom>
          <a:noFill/>
          <a:ln/>
        </p:spPr>
        <p:txBody>
          <a:bodyPr wrap="square" rtlCol="0" anchor="ctr"/>
          <a:lstStyle/>
          <a:p>
            <a:pPr indent="0" marL="0">
              <a:buNone/>
            </a:pPr>
            <a:r>
              <a:rPr lang="en-US" sz="1150" i="1" dirty="0">
                <a:solidFill>
                  <a:srgbClr val="6B6760"/>
                </a:solidFill>
                <a:latin typeface="Calibri" pitchFamily="34" charset="0"/>
                <a:ea typeface="Calibri" pitchFamily="34" charset="-122"/>
                <a:cs typeface="Calibri" pitchFamily="34" charset="-120"/>
              </a:rPr>
              <a:t>So your security review can start in parallel, not in sequence.</a:t>
            </a:r>
            <a:endParaRPr lang="en-US" sz="1150" dirty="0"/>
          </a:p>
        </p:txBody>
      </p:sp>
      <p:sp>
        <p:nvSpPr>
          <p:cNvPr id="12" name="Shape 10"/>
          <p:cNvSpPr/>
          <p:nvPr/>
        </p:nvSpPr>
        <p:spPr>
          <a:xfrm>
            <a:off x="502920" y="3063240"/>
            <a:ext cx="11247120" cy="1097280"/>
          </a:xfrm>
          <a:prstGeom prst="rect">
            <a:avLst/>
          </a:prstGeom>
          <a:solidFill>
            <a:srgbClr val="E8E4D8"/>
          </a:solidFill>
          <a:ln w="9525">
            <a:solidFill>
              <a:srgbClr val="D6D1C4"/>
            </a:solidFill>
            <a:prstDash val="solid"/>
          </a:ln>
        </p:spPr>
      </p:sp>
      <p:sp>
        <p:nvSpPr>
          <p:cNvPr id="13" name="Shape 11"/>
          <p:cNvSpPr/>
          <p:nvPr/>
        </p:nvSpPr>
        <p:spPr>
          <a:xfrm>
            <a:off x="502920" y="3063240"/>
            <a:ext cx="109728" cy="1097280"/>
          </a:xfrm>
          <a:prstGeom prst="rect">
            <a:avLst/>
          </a:prstGeom>
          <a:solidFill>
            <a:srgbClr val="CC785C"/>
          </a:solidFill>
          <a:ln w="12700">
            <a:solidFill>
              <a:srgbClr val="CC785C"/>
            </a:solidFill>
            <a:prstDash val="solid"/>
          </a:ln>
        </p:spPr>
      </p:sp>
      <p:sp>
        <p:nvSpPr>
          <p:cNvPr id="14" name="Text 12"/>
          <p:cNvSpPr/>
          <p:nvPr/>
        </p:nvSpPr>
        <p:spPr>
          <a:xfrm>
            <a:off x="777240" y="3200400"/>
            <a:ext cx="2560320" cy="27432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NEXT WEEK</a:t>
            </a:r>
            <a:endParaRPr lang="en-US" sz="1100" dirty="0"/>
          </a:p>
        </p:txBody>
      </p:sp>
      <p:sp>
        <p:nvSpPr>
          <p:cNvPr id="15" name="Text 13"/>
          <p:cNvSpPr/>
          <p:nvPr/>
        </p:nvSpPr>
        <p:spPr>
          <a:xfrm>
            <a:off x="3383280" y="3172968"/>
            <a:ext cx="8229600" cy="411480"/>
          </a:xfrm>
          <a:prstGeom prst="rect">
            <a:avLst/>
          </a:prstGeom>
          <a:noFill/>
          <a:ln/>
        </p:spPr>
        <p:txBody>
          <a:bodyPr wrap="square" rtlCol="0" anchor="ctr"/>
          <a:lstStyle/>
          <a:p>
            <a:pPr indent="0" marL="0">
              <a:buNone/>
            </a:pPr>
            <a:r>
              <a:rPr lang="en-US" sz="1500" b="1" dirty="0">
                <a:solidFill>
                  <a:srgbClr val="1F1F1E"/>
                </a:solidFill>
                <a:latin typeface="Calibri" pitchFamily="34" charset="0"/>
                <a:ea typeface="Calibri" pitchFamily="34" charset="-122"/>
                <a:cs typeface="Calibri" pitchFamily="34" charset="-120"/>
              </a:rPr>
              <a:t>A 30 minute setup call with whoever you designate to own the pilot</a:t>
            </a:r>
            <a:endParaRPr lang="en-US" sz="1500" dirty="0"/>
          </a:p>
        </p:txBody>
      </p:sp>
      <p:sp>
        <p:nvSpPr>
          <p:cNvPr id="16" name="Text 14"/>
          <p:cNvSpPr/>
          <p:nvPr/>
        </p:nvSpPr>
        <p:spPr>
          <a:xfrm>
            <a:off x="3383280" y="3611880"/>
            <a:ext cx="8229600" cy="457200"/>
          </a:xfrm>
          <a:prstGeom prst="rect">
            <a:avLst/>
          </a:prstGeom>
          <a:noFill/>
          <a:ln/>
        </p:spPr>
        <p:txBody>
          <a:bodyPr wrap="square" rtlCol="0" anchor="ctr"/>
          <a:lstStyle/>
          <a:p>
            <a:pPr indent="0" marL="0">
              <a:buNone/>
            </a:pPr>
            <a:r>
              <a:rPr lang="en-US" sz="1150" i="1" dirty="0">
                <a:solidFill>
                  <a:srgbClr val="6B6760"/>
                </a:solidFill>
                <a:latin typeface="Calibri" pitchFamily="34" charset="0"/>
                <a:ea typeface="Calibri" pitchFamily="34" charset="-122"/>
                <a:cs typeface="Calibri" pitchFamily="34" charset="-120"/>
              </a:rPr>
              <a:t>Your pilot engineers will be up and running before we hang up.</a:t>
            </a:r>
            <a:endParaRPr lang="en-US" sz="1150" dirty="0"/>
          </a:p>
        </p:txBody>
      </p:sp>
      <p:sp>
        <p:nvSpPr>
          <p:cNvPr id="17" name="Shape 15"/>
          <p:cNvSpPr/>
          <p:nvPr/>
        </p:nvSpPr>
        <p:spPr>
          <a:xfrm>
            <a:off x="502920" y="4297680"/>
            <a:ext cx="11247120" cy="1097280"/>
          </a:xfrm>
          <a:prstGeom prst="rect">
            <a:avLst/>
          </a:prstGeom>
          <a:solidFill>
            <a:srgbClr val="E8E4D8"/>
          </a:solidFill>
          <a:ln w="9525">
            <a:solidFill>
              <a:srgbClr val="D6D1C4"/>
            </a:solidFill>
            <a:prstDash val="solid"/>
          </a:ln>
        </p:spPr>
      </p:sp>
      <p:sp>
        <p:nvSpPr>
          <p:cNvPr id="18" name="Shape 16"/>
          <p:cNvSpPr/>
          <p:nvPr/>
        </p:nvSpPr>
        <p:spPr>
          <a:xfrm>
            <a:off x="502920" y="4297680"/>
            <a:ext cx="109728" cy="1097280"/>
          </a:xfrm>
          <a:prstGeom prst="rect">
            <a:avLst/>
          </a:prstGeom>
          <a:solidFill>
            <a:srgbClr val="CC785C"/>
          </a:solidFill>
          <a:ln w="12700">
            <a:solidFill>
              <a:srgbClr val="CC785C"/>
            </a:solidFill>
            <a:prstDash val="solid"/>
          </a:ln>
        </p:spPr>
      </p:sp>
      <p:sp>
        <p:nvSpPr>
          <p:cNvPr id="19" name="Text 17"/>
          <p:cNvSpPr/>
          <p:nvPr/>
        </p:nvSpPr>
        <p:spPr>
          <a:xfrm>
            <a:off x="777240" y="4434840"/>
            <a:ext cx="2560320" cy="27432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WEEK 6</a:t>
            </a:r>
            <a:endParaRPr lang="en-US" sz="1100" dirty="0"/>
          </a:p>
        </p:txBody>
      </p:sp>
      <p:sp>
        <p:nvSpPr>
          <p:cNvPr id="20" name="Text 18"/>
          <p:cNvSpPr/>
          <p:nvPr/>
        </p:nvSpPr>
        <p:spPr>
          <a:xfrm>
            <a:off x="3383280" y="4407408"/>
            <a:ext cx="8229600" cy="411480"/>
          </a:xfrm>
          <a:prstGeom prst="rect">
            <a:avLst/>
          </a:prstGeom>
          <a:noFill/>
          <a:ln/>
        </p:spPr>
        <p:txBody>
          <a:bodyPr wrap="square" rtlCol="0" anchor="ctr"/>
          <a:lstStyle/>
          <a:p>
            <a:pPr indent="0" marL="0">
              <a:buNone/>
            </a:pPr>
            <a:r>
              <a:rPr lang="en-US" sz="1500" b="1" dirty="0">
                <a:solidFill>
                  <a:srgbClr val="1F1F1E"/>
                </a:solidFill>
                <a:latin typeface="Calibri" pitchFamily="34" charset="0"/>
                <a:ea typeface="Calibri" pitchFamily="34" charset="-122"/>
                <a:cs typeface="Calibri" pitchFamily="34" charset="-120"/>
              </a:rPr>
              <a:t>Pilot readout, using real data from your team, not my benchmarks</a:t>
            </a:r>
            <a:endParaRPr lang="en-US" sz="1500" dirty="0"/>
          </a:p>
        </p:txBody>
      </p:sp>
      <p:sp>
        <p:nvSpPr>
          <p:cNvPr id="21" name="Text 19"/>
          <p:cNvSpPr/>
          <p:nvPr/>
        </p:nvSpPr>
        <p:spPr>
          <a:xfrm>
            <a:off x="3383280" y="4846320"/>
            <a:ext cx="8229600" cy="457200"/>
          </a:xfrm>
          <a:prstGeom prst="rect">
            <a:avLst/>
          </a:prstGeom>
          <a:noFill/>
          <a:ln/>
        </p:spPr>
        <p:txBody>
          <a:bodyPr wrap="square" rtlCol="0" anchor="ctr"/>
          <a:lstStyle/>
          <a:p>
            <a:pPr indent="0" marL="0">
              <a:buNone/>
            </a:pPr>
            <a:r>
              <a:rPr lang="en-US" sz="1150" i="1" dirty="0">
                <a:solidFill>
                  <a:srgbClr val="6B6760"/>
                </a:solidFill>
                <a:latin typeface="Calibri" pitchFamily="34" charset="0"/>
                <a:ea typeface="Calibri" pitchFamily="34" charset="-122"/>
                <a:cs typeface="Calibri" pitchFamily="34" charset="-120"/>
              </a:rPr>
              <a:t>You get to decide whether a broader rollout makes sense.</a:t>
            </a:r>
            <a:endParaRPr lang="en-US" sz="1150" dirty="0"/>
          </a:p>
        </p:txBody>
      </p:sp>
      <p:sp>
        <p:nvSpPr>
          <p:cNvPr id="22" name="Shape 20"/>
          <p:cNvSpPr/>
          <p:nvPr/>
        </p:nvSpPr>
        <p:spPr>
          <a:xfrm>
            <a:off x="502920" y="5669280"/>
            <a:ext cx="11247120" cy="777240"/>
          </a:xfrm>
          <a:prstGeom prst="rect">
            <a:avLst/>
          </a:prstGeom>
          <a:solidFill>
            <a:srgbClr val="1F1F1E"/>
          </a:solidFill>
          <a:ln w="12700">
            <a:solidFill>
              <a:srgbClr val="1F1F1E"/>
            </a:solidFill>
            <a:prstDash val="solid"/>
          </a:ln>
        </p:spPr>
      </p:sp>
      <p:sp>
        <p:nvSpPr>
          <p:cNvPr id="23" name="Text 21"/>
          <p:cNvSpPr/>
          <p:nvPr/>
        </p:nvSpPr>
        <p:spPr>
          <a:xfrm>
            <a:off x="777240" y="5760720"/>
            <a:ext cx="10698480" cy="594360"/>
          </a:xfrm>
          <a:prstGeom prst="rect">
            <a:avLst/>
          </a:prstGeom>
          <a:noFill/>
          <a:ln/>
        </p:spPr>
        <p:txBody>
          <a:bodyPr wrap="square" rtlCol="0" anchor="ctr"/>
          <a:lstStyle/>
          <a:p>
            <a:pPr indent="0" marL="0">
              <a:buNone/>
            </a:pPr>
            <a:r>
              <a:rPr lang="en-US" sz="2000" i="1" dirty="0">
                <a:solidFill>
                  <a:srgbClr val="FFFFFF"/>
                </a:solidFill>
                <a:latin typeface="Georgia" pitchFamily="34" charset="0"/>
                <a:ea typeface="Georgia" pitchFamily="34" charset="-122"/>
                <a:cs typeface="Georgia" pitchFamily="34" charset="-120"/>
              </a:rPr>
              <a:t>“Who on your side would feel best owning the pilot setup?”</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EE6"/>
        </a:solidFill>
      </p:bgPr>
    </p:bg>
    <p:spTree>
      <p:nvGrpSpPr>
        <p:cNvPr id="1" name=""/>
        <p:cNvGrpSpPr/>
        <p:nvPr/>
      </p:nvGrpSpPr>
      <p:grpSpPr>
        <a:xfrm>
          <a:off x="0" y="0"/>
          <a:ext cx="0" cy="0"/>
          <a:chOff x="0" y="0"/>
          <a:chExt cx="0" cy="0"/>
        </a:xfrm>
      </p:grpSpPr>
      <p:sp>
        <p:nvSpPr>
          <p:cNvPr id="2" name="Shape 0"/>
          <p:cNvSpPr/>
          <p:nvPr/>
        </p:nvSpPr>
        <p:spPr>
          <a:xfrm>
            <a:off x="457200" y="457200"/>
            <a:ext cx="164592" cy="164592"/>
          </a:xfrm>
          <a:prstGeom prst="rect">
            <a:avLst/>
          </a:prstGeom>
          <a:solidFill>
            <a:srgbClr val="CC785C"/>
          </a:solidFill>
          <a:ln w="12700">
            <a:solidFill>
              <a:srgbClr val="CC785C"/>
            </a:solidFill>
            <a:prstDash val="solid"/>
          </a:ln>
        </p:spPr>
      </p:sp>
      <p:sp>
        <p:nvSpPr>
          <p:cNvPr id="3" name="Text 1"/>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457200" y="2560320"/>
            <a:ext cx="11247120" cy="1828800"/>
          </a:xfrm>
          <a:prstGeom prst="rect">
            <a:avLst/>
          </a:prstGeom>
          <a:noFill/>
          <a:ln/>
        </p:spPr>
        <p:txBody>
          <a:bodyPr wrap="square" rtlCol="0" anchor="ctr"/>
          <a:lstStyle/>
          <a:p>
            <a:pPr indent="0" marL="0">
              <a:lnSpc>
                <a:spcPct val="115000"/>
              </a:lnSpc>
              <a:buNone/>
            </a:pPr>
            <a:r>
              <a:rPr lang="en-US" sz="4400" dirty="0">
                <a:solidFill>
                  <a:srgbClr val="1F1F1E"/>
                </a:solidFill>
                <a:latin typeface="Georgia" pitchFamily="34" charset="0"/>
                <a:ea typeface="Georgia" pitchFamily="34" charset="-122"/>
                <a:cs typeface="Georgia" pitchFamily="34" charset="-120"/>
              </a:rPr>
              <a:t>The questions your team</a:t>
            </a:r>
            <a:endParaRPr lang="en-US" sz="4400" dirty="0"/>
          </a:p>
          <a:p>
            <a:pPr indent="0" marL="0">
              <a:lnSpc>
                <a:spcPct val="115000"/>
              </a:lnSpc>
              <a:buNone/>
            </a:pPr>
            <a:r>
              <a:rPr lang="en-US" sz="4400" dirty="0">
                <a:solidFill>
                  <a:srgbClr val="1F1F1E"/>
                </a:solidFill>
                <a:latin typeface="Georgia" pitchFamily="34" charset="0"/>
                <a:ea typeface="Georgia" pitchFamily="34" charset="-122"/>
                <a:cs typeface="Georgia" pitchFamily="34" charset="-120"/>
              </a:rPr>
              <a:t>will ask next.</a:t>
            </a:r>
            <a:endParaRPr lang="en-US" sz="4400" dirty="0"/>
          </a:p>
        </p:txBody>
      </p:sp>
      <p:sp>
        <p:nvSpPr>
          <p:cNvPr id="5" name="Text 3"/>
          <p:cNvSpPr/>
          <p:nvPr/>
        </p:nvSpPr>
        <p:spPr>
          <a:xfrm>
            <a:off x="457200" y="4846320"/>
            <a:ext cx="11247120" cy="457200"/>
          </a:xfrm>
          <a:prstGeom prst="rect">
            <a:avLst/>
          </a:prstGeom>
          <a:noFill/>
          <a:ln/>
        </p:spPr>
        <p:txBody>
          <a:bodyPr wrap="square" rtlCol="0" anchor="ctr"/>
          <a:lstStyle/>
          <a:p>
            <a:pPr indent="0" marL="0">
              <a:buNone/>
            </a:pPr>
            <a:r>
              <a:rPr lang="en-US" sz="1300" dirty="0">
                <a:solidFill>
                  <a:srgbClr val="6B6760"/>
                </a:solidFill>
                <a:latin typeface="Calibri" pitchFamily="34" charset="0"/>
                <a:ea typeface="Calibri" pitchFamily="34" charset="-122"/>
                <a:cs typeface="Calibri" pitchFamily="34" charset="-120"/>
              </a:rPr>
              <a:t>Why Anthropic  ·  How we compare  ·  Data and security  ·  CLAUDE.md at scale  ·  MCP  ·  Honest limitations</a:t>
            </a:r>
            <a:endParaRPr lang="en-US" sz="1300" dirty="0"/>
          </a:p>
        </p:txBody>
      </p:sp>
      <p:sp>
        <p:nvSpPr>
          <p:cNvPr id="6" name="Text 4"/>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7" name="Text 5"/>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WHY ANTHROPIC, WHY CLAUDE</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You're picking a partner your auditors will meet.</a:t>
            </a:r>
            <a:endParaRPr lang="en-US" sz="3400" dirty="0"/>
          </a:p>
        </p:txBody>
      </p:sp>
      <p:sp>
        <p:nvSpPr>
          <p:cNvPr id="7" name="Text 5"/>
          <p:cNvSpPr/>
          <p:nvPr/>
        </p:nvSpPr>
        <p:spPr>
          <a:xfrm>
            <a:off x="502920" y="1828800"/>
            <a:ext cx="5486400" cy="36576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Safety is the foundation, not a feature.</a:t>
            </a:r>
            <a:endParaRPr lang="en-US" sz="1300" dirty="0"/>
          </a:p>
        </p:txBody>
      </p:sp>
      <p:sp>
        <p:nvSpPr>
          <p:cNvPr id="8" name="Text 6"/>
          <p:cNvSpPr/>
          <p:nvPr/>
        </p:nvSpPr>
        <p:spPr>
          <a:xfrm>
            <a:off x="502920" y="2194560"/>
            <a:ext cx="548640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Constitutional AI means Claude is trained to be helpful, harmless, and honest at the model level. That's a very different thing from a guardrail sitting on top of an unsafe model.</a:t>
            </a:r>
            <a:endParaRPr lang="en-US" sz="1150" dirty="0"/>
          </a:p>
        </p:txBody>
      </p:sp>
      <p:sp>
        <p:nvSpPr>
          <p:cNvPr id="9" name="Text 7"/>
          <p:cNvSpPr/>
          <p:nvPr/>
        </p:nvSpPr>
        <p:spPr>
          <a:xfrm>
            <a:off x="502920" y="3291840"/>
            <a:ext cx="5486400" cy="36576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No training on your data.</a:t>
            </a:r>
            <a:endParaRPr lang="en-US" sz="1300" dirty="0"/>
          </a:p>
        </p:txBody>
      </p:sp>
      <p:sp>
        <p:nvSpPr>
          <p:cNvPr id="10" name="Text 8"/>
          <p:cNvSpPr/>
          <p:nvPr/>
        </p:nvSpPr>
        <p:spPr>
          <a:xfrm>
            <a:off x="502920" y="3657600"/>
            <a:ext cx="548640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It's contractual, not just policy. In financial services, a polite promise isn't enough, and we completely agree. You'll see the specific clause before your legal review starts.</a:t>
            </a:r>
            <a:endParaRPr lang="en-US" sz="1150" dirty="0"/>
          </a:p>
        </p:txBody>
      </p:sp>
      <p:sp>
        <p:nvSpPr>
          <p:cNvPr id="11" name="Text 9"/>
          <p:cNvSpPr/>
          <p:nvPr/>
        </p:nvSpPr>
        <p:spPr>
          <a:xfrm>
            <a:off x="502920" y="4754880"/>
            <a:ext cx="5486400" cy="36576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A compliance posture your auditors will recognize.</a:t>
            </a:r>
            <a:endParaRPr lang="en-US" sz="1300" dirty="0"/>
          </a:p>
        </p:txBody>
      </p:sp>
      <p:sp>
        <p:nvSpPr>
          <p:cNvPr id="12" name="Text 10"/>
          <p:cNvSpPr/>
          <p:nvPr/>
        </p:nvSpPr>
        <p:spPr>
          <a:xfrm>
            <a:off x="502920" y="5120640"/>
            <a:ext cx="548640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SOC 2 Type II, HIPAA-eligible, and enterprise agreements built with regulated industries in mind. Available on request.</a:t>
            </a:r>
            <a:endParaRPr lang="en-US" sz="1150" dirty="0"/>
          </a:p>
        </p:txBody>
      </p:sp>
      <p:sp>
        <p:nvSpPr>
          <p:cNvPr id="13" name="Text 11"/>
          <p:cNvSpPr/>
          <p:nvPr/>
        </p:nvSpPr>
        <p:spPr>
          <a:xfrm>
            <a:off x="6263640" y="1828800"/>
            <a:ext cx="5486400" cy="36576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Top tier on real software engineering tasks.</a:t>
            </a:r>
            <a:endParaRPr lang="en-US" sz="1300" dirty="0"/>
          </a:p>
        </p:txBody>
      </p:sp>
      <p:sp>
        <p:nvSpPr>
          <p:cNvPr id="14" name="Text 12"/>
          <p:cNvSpPr/>
          <p:nvPr/>
        </p:nvSpPr>
        <p:spPr>
          <a:xfrm>
            <a:off x="6263640" y="2194560"/>
            <a:ext cx="548640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Claude performs at or above the frontier on SWE-bench and HumanEval, which measure real codebase work rather than trivia.</a:t>
            </a:r>
            <a:endParaRPr lang="en-US" sz="1150" dirty="0"/>
          </a:p>
        </p:txBody>
      </p:sp>
      <p:sp>
        <p:nvSpPr>
          <p:cNvPr id="15" name="Text 13"/>
          <p:cNvSpPr/>
          <p:nvPr/>
        </p:nvSpPr>
        <p:spPr>
          <a:xfrm>
            <a:off x="6263640" y="3291840"/>
            <a:ext cx="5486400" cy="36576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A context window built for real codebases.</a:t>
            </a:r>
            <a:endParaRPr lang="en-US" sz="1300" dirty="0"/>
          </a:p>
        </p:txBody>
      </p:sp>
      <p:sp>
        <p:nvSpPr>
          <p:cNvPr id="16" name="Text 14"/>
          <p:cNvSpPr/>
          <p:nvPr/>
        </p:nvSpPr>
        <p:spPr>
          <a:xfrm>
            <a:off x="6263640" y="3657600"/>
            <a:ext cx="548640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200k tokens. A whole payments service can fit in memory. Other tools often truncate; Claude reasons across the whole repo at once.</a:t>
            </a:r>
            <a:endParaRPr lang="en-US" sz="1150" dirty="0"/>
          </a:p>
        </p:txBody>
      </p:sp>
      <p:sp>
        <p:nvSpPr>
          <p:cNvPr id="17" name="Text 15"/>
          <p:cNvSpPr/>
          <p:nvPr/>
        </p:nvSpPr>
        <p:spPr>
          <a:xfrm>
            <a:off x="6263640" y="4754880"/>
            <a:ext cx="5486400" cy="36576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It plans before it acts.</a:t>
            </a:r>
            <a:endParaRPr lang="en-US" sz="1300" dirty="0"/>
          </a:p>
        </p:txBody>
      </p:sp>
      <p:sp>
        <p:nvSpPr>
          <p:cNvPr id="18" name="Text 16"/>
          <p:cNvSpPr/>
          <p:nvPr/>
        </p:nvSpPr>
        <p:spPr>
          <a:xfrm>
            <a:off x="6263640" y="5120640"/>
            <a:ext cx="5486400" cy="105156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Claude shows its reasoning and its proposed changes before touching any file. That isn't a UX choice, it's how agentic work should behave.</a:t>
            </a:r>
            <a:endParaRPr lang="en-US" sz="1150" dirty="0"/>
          </a:p>
        </p:txBody>
      </p:sp>
      <p:sp>
        <p:nvSpPr>
          <p:cNvPr id="19" name="Shape 17"/>
          <p:cNvSpPr/>
          <p:nvPr/>
        </p:nvSpPr>
        <p:spPr>
          <a:xfrm>
            <a:off x="6144768" y="1828800"/>
            <a:ext cx="0" cy="4206240"/>
          </a:xfrm>
          <a:prstGeom prst="line">
            <a:avLst/>
          </a:prstGeom>
          <a:noFill/>
          <a:ln w="9525">
            <a:solidFill>
              <a:srgbClr val="D6D1C4"/>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COMPETITIVE LANDSCAPE</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The question isn't which AI tool. It's which problem you're solving.</a:t>
            </a:r>
            <a:endParaRPr lang="en-US" sz="3400" dirty="0"/>
          </a:p>
        </p:txBody>
      </p:sp>
      <p:sp>
        <p:nvSpPr>
          <p:cNvPr id="7" name="Text 5"/>
          <p:cNvSpPr/>
          <p:nvPr/>
        </p:nvSpPr>
        <p:spPr>
          <a:xfrm>
            <a:off x="502920" y="1691640"/>
            <a:ext cx="11247120" cy="365760"/>
          </a:xfrm>
          <a:prstGeom prst="rect">
            <a:avLst/>
          </a:prstGeom>
          <a:noFill/>
          <a:ln/>
        </p:spPr>
        <p:txBody>
          <a:bodyPr wrap="square" rtlCol="0" anchor="ctr"/>
          <a:lstStyle/>
          <a:p>
            <a:pPr indent="0" marL="0">
              <a:buNone/>
            </a:pPr>
            <a:r>
              <a:rPr lang="en-US" sz="1300" i="1" dirty="0">
                <a:solidFill>
                  <a:srgbClr val="6B6760"/>
                </a:solidFill>
                <a:latin typeface="Calibri" pitchFamily="34" charset="0"/>
                <a:ea typeface="Calibri" pitchFamily="34" charset="-122"/>
                <a:cs typeface="Calibri" pitchFamily="34" charset="-120"/>
              </a:rPr>
              <a:t>Each of these tools is good at something specific. Claude Code is built for reasoning across a whole codebase, in a regulated environment, with a human in the loop.</a:t>
            </a:r>
            <a:endParaRPr lang="en-US" sz="1300" dirty="0"/>
          </a:p>
        </p:txBody>
      </p:sp>
      <p:sp>
        <p:nvSpPr>
          <p:cNvPr id="8" name="Shape 6"/>
          <p:cNvSpPr/>
          <p:nvPr/>
        </p:nvSpPr>
        <p:spPr>
          <a:xfrm>
            <a:off x="502920" y="2240280"/>
            <a:ext cx="5532120" cy="1920240"/>
          </a:xfrm>
          <a:prstGeom prst="rect">
            <a:avLst/>
          </a:prstGeom>
          <a:solidFill>
            <a:srgbClr val="E8E4D8"/>
          </a:solidFill>
          <a:ln w="9525">
            <a:solidFill>
              <a:srgbClr val="D6D1C4"/>
            </a:solidFill>
            <a:prstDash val="solid"/>
          </a:ln>
        </p:spPr>
      </p:sp>
      <p:sp>
        <p:nvSpPr>
          <p:cNvPr id="9" name="Text 7"/>
          <p:cNvSpPr/>
          <p:nvPr/>
        </p:nvSpPr>
        <p:spPr>
          <a:xfrm>
            <a:off x="777240" y="2423160"/>
            <a:ext cx="507492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GitHub Copilot</a:t>
            </a:r>
            <a:endParaRPr lang="en-US" sz="1400" dirty="0"/>
          </a:p>
        </p:txBody>
      </p:sp>
      <p:sp>
        <p:nvSpPr>
          <p:cNvPr id="10" name="Text 8"/>
          <p:cNvSpPr/>
          <p:nvPr/>
        </p:nvSpPr>
        <p:spPr>
          <a:xfrm>
            <a:off x="777240" y="2834640"/>
            <a:ext cx="5074920" cy="228600"/>
          </a:xfrm>
          <a:prstGeom prst="rect">
            <a:avLst/>
          </a:prstGeom>
          <a:noFill/>
          <a:ln/>
        </p:spPr>
        <p:txBody>
          <a:bodyPr wrap="square" rtlCol="0" anchor="ctr"/>
          <a:lstStyle/>
          <a:p>
            <a:pPr indent="0" marL="0">
              <a:buNone/>
            </a:pPr>
            <a:r>
              <a:rPr lang="en-US" sz="900" b="1" spc="200" kern="0" dirty="0">
                <a:solidFill>
                  <a:srgbClr val="6B6760"/>
                </a:solidFill>
                <a:latin typeface="Calibri" pitchFamily="34" charset="0"/>
                <a:ea typeface="Calibri" pitchFamily="34" charset="-122"/>
                <a:cs typeface="Calibri" pitchFamily="34" charset="-120"/>
              </a:rPr>
              <a:t>WHAT IT DOES WELL</a:t>
            </a:r>
            <a:endParaRPr lang="en-US" sz="900" dirty="0"/>
          </a:p>
        </p:txBody>
      </p:sp>
      <p:sp>
        <p:nvSpPr>
          <p:cNvPr id="11" name="Text 9"/>
          <p:cNvSpPr/>
          <p:nvPr/>
        </p:nvSpPr>
        <p:spPr>
          <a:xfrm>
            <a:off x="777240" y="3063240"/>
            <a:ext cx="5074920" cy="45720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Autocomplete. Helps your engineers write new code faster in the IDE.</a:t>
            </a:r>
            <a:endParaRPr lang="en-US" sz="1100" dirty="0"/>
          </a:p>
        </p:txBody>
      </p:sp>
      <p:sp>
        <p:nvSpPr>
          <p:cNvPr id="12" name="Text 10"/>
          <p:cNvSpPr/>
          <p:nvPr/>
        </p:nvSpPr>
        <p:spPr>
          <a:xfrm>
            <a:off x="777240" y="3520440"/>
            <a:ext cx="507492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WHERE CLAUDE CODE IS DIFFERENT</a:t>
            </a:r>
            <a:endParaRPr lang="en-US" sz="900" dirty="0"/>
          </a:p>
        </p:txBody>
      </p:sp>
      <p:sp>
        <p:nvSpPr>
          <p:cNvPr id="13" name="Text 11"/>
          <p:cNvSpPr/>
          <p:nvPr/>
        </p:nvSpPr>
        <p:spPr>
          <a:xfrm>
            <a:off x="777240" y="3749040"/>
            <a:ext cx="5074920" cy="41148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Claude Code makes understanding and changing existing systems faster. Your SRE at 2am needs repo-wide reasoning, not autocomplete.</a:t>
            </a:r>
            <a:endParaRPr lang="en-US" sz="1100" dirty="0"/>
          </a:p>
        </p:txBody>
      </p:sp>
      <p:sp>
        <p:nvSpPr>
          <p:cNvPr id="14" name="Shape 12"/>
          <p:cNvSpPr/>
          <p:nvPr/>
        </p:nvSpPr>
        <p:spPr>
          <a:xfrm>
            <a:off x="6263640" y="2240280"/>
            <a:ext cx="5532120" cy="1920240"/>
          </a:xfrm>
          <a:prstGeom prst="rect">
            <a:avLst/>
          </a:prstGeom>
          <a:solidFill>
            <a:srgbClr val="E8E4D8"/>
          </a:solidFill>
          <a:ln w="9525">
            <a:solidFill>
              <a:srgbClr val="D6D1C4"/>
            </a:solidFill>
            <a:prstDash val="solid"/>
          </a:ln>
        </p:spPr>
      </p:sp>
      <p:sp>
        <p:nvSpPr>
          <p:cNvPr id="15" name="Text 13"/>
          <p:cNvSpPr/>
          <p:nvPr/>
        </p:nvSpPr>
        <p:spPr>
          <a:xfrm>
            <a:off x="6537960" y="2423160"/>
            <a:ext cx="507492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Cursor</a:t>
            </a:r>
            <a:endParaRPr lang="en-US" sz="1400" dirty="0"/>
          </a:p>
        </p:txBody>
      </p:sp>
      <p:sp>
        <p:nvSpPr>
          <p:cNvPr id="16" name="Text 14"/>
          <p:cNvSpPr/>
          <p:nvPr/>
        </p:nvSpPr>
        <p:spPr>
          <a:xfrm>
            <a:off x="6537960" y="2834640"/>
            <a:ext cx="5074920" cy="228600"/>
          </a:xfrm>
          <a:prstGeom prst="rect">
            <a:avLst/>
          </a:prstGeom>
          <a:noFill/>
          <a:ln/>
        </p:spPr>
        <p:txBody>
          <a:bodyPr wrap="square" rtlCol="0" anchor="ctr"/>
          <a:lstStyle/>
          <a:p>
            <a:pPr indent="0" marL="0">
              <a:buNone/>
            </a:pPr>
            <a:r>
              <a:rPr lang="en-US" sz="900" b="1" spc="200" kern="0" dirty="0">
                <a:solidFill>
                  <a:srgbClr val="6B6760"/>
                </a:solidFill>
                <a:latin typeface="Calibri" pitchFamily="34" charset="0"/>
                <a:ea typeface="Calibri" pitchFamily="34" charset="-122"/>
                <a:cs typeface="Calibri" pitchFamily="34" charset="-120"/>
              </a:rPr>
              <a:t>WHAT IT DOES WELL</a:t>
            </a:r>
            <a:endParaRPr lang="en-US" sz="900" dirty="0"/>
          </a:p>
        </p:txBody>
      </p:sp>
      <p:sp>
        <p:nvSpPr>
          <p:cNvPr id="17" name="Text 15"/>
          <p:cNvSpPr/>
          <p:nvPr/>
        </p:nvSpPr>
        <p:spPr>
          <a:xfrm>
            <a:off x="6537960" y="3063240"/>
            <a:ext cx="5074920" cy="45720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An IDE replacement. Great for focused, single-file development.</a:t>
            </a:r>
            <a:endParaRPr lang="en-US" sz="1100" dirty="0"/>
          </a:p>
        </p:txBody>
      </p:sp>
      <p:sp>
        <p:nvSpPr>
          <p:cNvPr id="18" name="Text 16"/>
          <p:cNvSpPr/>
          <p:nvPr/>
        </p:nvSpPr>
        <p:spPr>
          <a:xfrm>
            <a:off x="6537960" y="3520440"/>
            <a:ext cx="507492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WHERE CLAUDE CODE IS DIFFERENT</a:t>
            </a:r>
            <a:endParaRPr lang="en-US" sz="900" dirty="0"/>
          </a:p>
        </p:txBody>
      </p:sp>
      <p:sp>
        <p:nvSpPr>
          <p:cNvPr id="19" name="Text 17"/>
          <p:cNvSpPr/>
          <p:nvPr/>
        </p:nvSpPr>
        <p:spPr>
          <a:xfrm>
            <a:off x="6537960" y="3749040"/>
            <a:ext cx="5074920" cy="41148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Claude Code is terminal-native and spans the repo. For a 15-service incident, you want codebase-wide context, not a smarter text editor.</a:t>
            </a:r>
            <a:endParaRPr lang="en-US" sz="1100" dirty="0"/>
          </a:p>
        </p:txBody>
      </p:sp>
      <p:sp>
        <p:nvSpPr>
          <p:cNvPr id="20" name="Shape 18"/>
          <p:cNvSpPr/>
          <p:nvPr/>
        </p:nvSpPr>
        <p:spPr>
          <a:xfrm>
            <a:off x="502920" y="4343400"/>
            <a:ext cx="5532120" cy="1920240"/>
          </a:xfrm>
          <a:prstGeom prst="rect">
            <a:avLst/>
          </a:prstGeom>
          <a:solidFill>
            <a:srgbClr val="E8E4D8"/>
          </a:solidFill>
          <a:ln w="9525">
            <a:solidFill>
              <a:srgbClr val="D6D1C4"/>
            </a:solidFill>
            <a:prstDash val="solid"/>
          </a:ln>
        </p:spPr>
      </p:sp>
      <p:sp>
        <p:nvSpPr>
          <p:cNvPr id="21" name="Text 19"/>
          <p:cNvSpPr/>
          <p:nvPr/>
        </p:nvSpPr>
        <p:spPr>
          <a:xfrm>
            <a:off x="777240" y="4526280"/>
            <a:ext cx="507492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Devin</a:t>
            </a:r>
            <a:endParaRPr lang="en-US" sz="1400" dirty="0"/>
          </a:p>
        </p:txBody>
      </p:sp>
      <p:sp>
        <p:nvSpPr>
          <p:cNvPr id="22" name="Text 20"/>
          <p:cNvSpPr/>
          <p:nvPr/>
        </p:nvSpPr>
        <p:spPr>
          <a:xfrm>
            <a:off x="777240" y="4937760"/>
            <a:ext cx="5074920" cy="228600"/>
          </a:xfrm>
          <a:prstGeom prst="rect">
            <a:avLst/>
          </a:prstGeom>
          <a:noFill/>
          <a:ln/>
        </p:spPr>
        <p:txBody>
          <a:bodyPr wrap="square" rtlCol="0" anchor="ctr"/>
          <a:lstStyle/>
          <a:p>
            <a:pPr indent="0" marL="0">
              <a:buNone/>
            </a:pPr>
            <a:r>
              <a:rPr lang="en-US" sz="900" b="1" spc="200" kern="0" dirty="0">
                <a:solidFill>
                  <a:srgbClr val="6B6760"/>
                </a:solidFill>
                <a:latin typeface="Calibri" pitchFamily="34" charset="0"/>
                <a:ea typeface="Calibri" pitchFamily="34" charset="-122"/>
                <a:cs typeface="Calibri" pitchFamily="34" charset="-120"/>
              </a:rPr>
              <a:t>WHAT IT DOES WELL</a:t>
            </a:r>
            <a:endParaRPr lang="en-US" sz="900" dirty="0"/>
          </a:p>
        </p:txBody>
      </p:sp>
      <p:sp>
        <p:nvSpPr>
          <p:cNvPr id="23" name="Text 21"/>
          <p:cNvSpPr/>
          <p:nvPr/>
        </p:nvSpPr>
        <p:spPr>
          <a:xfrm>
            <a:off x="777240" y="5166360"/>
            <a:ext cx="5074920" cy="45720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Fully autonomous. Runs long tasks without a human in the loop.</a:t>
            </a:r>
            <a:endParaRPr lang="en-US" sz="1100" dirty="0"/>
          </a:p>
        </p:txBody>
      </p:sp>
      <p:sp>
        <p:nvSpPr>
          <p:cNvPr id="24" name="Text 22"/>
          <p:cNvSpPr/>
          <p:nvPr/>
        </p:nvSpPr>
        <p:spPr>
          <a:xfrm>
            <a:off x="777240" y="5623560"/>
            <a:ext cx="507492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WHERE CLAUDE CODE IS DIFFERENT</a:t>
            </a:r>
            <a:endParaRPr lang="en-US" sz="900" dirty="0"/>
          </a:p>
        </p:txBody>
      </p:sp>
      <p:sp>
        <p:nvSpPr>
          <p:cNvPr id="25" name="Text 23"/>
          <p:cNvSpPr/>
          <p:nvPr/>
        </p:nvSpPr>
        <p:spPr>
          <a:xfrm>
            <a:off x="777240" y="5852160"/>
            <a:ext cx="5074920" cy="41148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In an FFIEC environment, the engineer stays in control. Every change is approved before it's applied.</a:t>
            </a:r>
            <a:endParaRPr lang="en-US" sz="1100" dirty="0"/>
          </a:p>
        </p:txBody>
      </p:sp>
      <p:sp>
        <p:nvSpPr>
          <p:cNvPr id="26" name="Shape 24"/>
          <p:cNvSpPr/>
          <p:nvPr/>
        </p:nvSpPr>
        <p:spPr>
          <a:xfrm>
            <a:off x="6263640" y="4343400"/>
            <a:ext cx="5532120" cy="1920240"/>
          </a:xfrm>
          <a:prstGeom prst="rect">
            <a:avLst/>
          </a:prstGeom>
          <a:solidFill>
            <a:srgbClr val="E8E4D8"/>
          </a:solidFill>
          <a:ln w="9525">
            <a:solidFill>
              <a:srgbClr val="D6D1C4"/>
            </a:solidFill>
            <a:prstDash val="solid"/>
          </a:ln>
        </p:spPr>
      </p:sp>
      <p:sp>
        <p:nvSpPr>
          <p:cNvPr id="27" name="Text 25"/>
          <p:cNvSpPr/>
          <p:nvPr/>
        </p:nvSpPr>
        <p:spPr>
          <a:xfrm>
            <a:off x="6537960" y="4526280"/>
            <a:ext cx="507492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ChatGPT</a:t>
            </a:r>
            <a:endParaRPr lang="en-US" sz="1400" dirty="0"/>
          </a:p>
        </p:txBody>
      </p:sp>
      <p:sp>
        <p:nvSpPr>
          <p:cNvPr id="28" name="Text 26"/>
          <p:cNvSpPr/>
          <p:nvPr/>
        </p:nvSpPr>
        <p:spPr>
          <a:xfrm>
            <a:off x="6537960" y="4937760"/>
            <a:ext cx="5074920" cy="228600"/>
          </a:xfrm>
          <a:prstGeom prst="rect">
            <a:avLst/>
          </a:prstGeom>
          <a:noFill/>
          <a:ln/>
        </p:spPr>
        <p:txBody>
          <a:bodyPr wrap="square" rtlCol="0" anchor="ctr"/>
          <a:lstStyle/>
          <a:p>
            <a:pPr indent="0" marL="0">
              <a:buNone/>
            </a:pPr>
            <a:r>
              <a:rPr lang="en-US" sz="900" b="1" spc="200" kern="0" dirty="0">
                <a:solidFill>
                  <a:srgbClr val="6B6760"/>
                </a:solidFill>
                <a:latin typeface="Calibri" pitchFamily="34" charset="0"/>
                <a:ea typeface="Calibri" pitchFamily="34" charset="-122"/>
                <a:cs typeface="Calibri" pitchFamily="34" charset="-120"/>
              </a:rPr>
              <a:t>WHAT IT DOES WELL</a:t>
            </a:r>
            <a:endParaRPr lang="en-US" sz="900" dirty="0"/>
          </a:p>
        </p:txBody>
      </p:sp>
      <p:sp>
        <p:nvSpPr>
          <p:cNvPr id="29" name="Text 27"/>
          <p:cNvSpPr/>
          <p:nvPr/>
        </p:nvSpPr>
        <p:spPr>
          <a:xfrm>
            <a:off x="6537960" y="5166360"/>
            <a:ext cx="5074920" cy="45720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Answers questions about code you paste in.</a:t>
            </a:r>
            <a:endParaRPr lang="en-US" sz="1100" dirty="0"/>
          </a:p>
        </p:txBody>
      </p:sp>
      <p:sp>
        <p:nvSpPr>
          <p:cNvPr id="30" name="Text 28"/>
          <p:cNvSpPr/>
          <p:nvPr/>
        </p:nvSpPr>
        <p:spPr>
          <a:xfrm>
            <a:off x="6537960" y="5623560"/>
            <a:ext cx="507492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WHERE CLAUDE CODE IS DIFFERENT</a:t>
            </a:r>
            <a:endParaRPr lang="en-US" sz="900" dirty="0"/>
          </a:p>
        </p:txBody>
      </p:sp>
      <p:sp>
        <p:nvSpPr>
          <p:cNvPr id="31" name="Text 29"/>
          <p:cNvSpPr/>
          <p:nvPr/>
        </p:nvSpPr>
        <p:spPr>
          <a:xfrm>
            <a:off x="6537960" y="5852160"/>
            <a:ext cx="5074920" cy="411480"/>
          </a:xfrm>
          <a:prstGeom prst="rect">
            <a:avLst/>
          </a:prstGeom>
          <a:noFill/>
          <a:ln/>
        </p:spPr>
        <p:txBody>
          <a:bodyPr wrap="square" rtlCol="0" anchor="ctr"/>
          <a:lstStyle/>
          <a:p>
            <a:pPr indent="0" marL="0">
              <a:lnSpc>
                <a:spcPct val="125000"/>
              </a:lnSpc>
              <a:buNone/>
            </a:pPr>
            <a:r>
              <a:rPr lang="en-US" sz="1100" dirty="0">
                <a:solidFill>
                  <a:srgbClr val="1F1F1E"/>
                </a:solidFill>
                <a:latin typeface="Calibri" pitchFamily="34" charset="0"/>
                <a:ea typeface="Calibri" pitchFamily="34" charset="-122"/>
                <a:cs typeface="Calibri" pitchFamily="34" charset="-120"/>
              </a:rPr>
              <a:t>Claude Code reads your actual codebase, git history, and test suite. You can't paste 180 engineers of institutional knowledge into a chat box.</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DATA, SECURITY, AND YOUR AUDITORS</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Plain answers to the questions you'll hear first.</a:t>
            </a:r>
            <a:endParaRPr lang="en-US" sz="3400" dirty="0"/>
          </a:p>
        </p:txBody>
      </p:sp>
      <p:sp>
        <p:nvSpPr>
          <p:cNvPr id="7" name="Text 5"/>
          <p:cNvSpPr/>
          <p:nvPr/>
        </p:nvSpPr>
        <p:spPr>
          <a:xfrm>
            <a:off x="502920" y="1737360"/>
            <a:ext cx="112471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Does my source code leave my machine?</a:t>
            </a:r>
            <a:endParaRPr lang="en-US" sz="1300" dirty="0"/>
          </a:p>
        </p:txBody>
      </p:sp>
      <p:sp>
        <p:nvSpPr>
          <p:cNvPr id="8" name="Text 6"/>
          <p:cNvSpPr/>
          <p:nvPr/>
        </p:nvSpPr>
        <p:spPr>
          <a:xfrm>
            <a:off x="502920" y="2057400"/>
            <a:ext cx="112471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No. Source files are read locally by the CLI. Only the session text, the prompt Claude needs to reason, is sent to the API. Nothing is uploaded in bulk, and nothing is kept after the session ends.</a:t>
            </a:r>
            <a:endParaRPr lang="en-US" sz="1150" dirty="0"/>
          </a:p>
        </p:txBody>
      </p:sp>
      <p:sp>
        <p:nvSpPr>
          <p:cNvPr id="9" name="Shape 7"/>
          <p:cNvSpPr/>
          <p:nvPr/>
        </p:nvSpPr>
        <p:spPr>
          <a:xfrm>
            <a:off x="502920" y="2606040"/>
            <a:ext cx="11247120" cy="0"/>
          </a:xfrm>
          <a:prstGeom prst="line">
            <a:avLst/>
          </a:prstGeom>
          <a:noFill/>
          <a:ln w="9525">
            <a:solidFill>
              <a:srgbClr val="D6D1C4"/>
            </a:solidFill>
            <a:prstDash val="solid"/>
          </a:ln>
        </p:spPr>
      </p:sp>
      <p:sp>
        <p:nvSpPr>
          <p:cNvPr id="10" name="Text 8"/>
          <p:cNvSpPr/>
          <p:nvPr/>
        </p:nvSpPr>
        <p:spPr>
          <a:xfrm>
            <a:off x="502920" y="2670048"/>
            <a:ext cx="112471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Is Anthropic training on my code?</a:t>
            </a:r>
            <a:endParaRPr lang="en-US" sz="1300" dirty="0"/>
          </a:p>
        </p:txBody>
      </p:sp>
      <p:sp>
        <p:nvSpPr>
          <p:cNvPr id="11" name="Text 9"/>
          <p:cNvSpPr/>
          <p:nvPr/>
        </p:nvSpPr>
        <p:spPr>
          <a:xfrm>
            <a:off x="502920" y="2990088"/>
            <a:ext cx="112471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No, and it's contractual, not just policy. The enterprise agreement explicitly forbids using API inputs for model training. I'll send the specific clause today.</a:t>
            </a:r>
            <a:endParaRPr lang="en-US" sz="1150" dirty="0"/>
          </a:p>
        </p:txBody>
      </p:sp>
      <p:sp>
        <p:nvSpPr>
          <p:cNvPr id="12" name="Shape 10"/>
          <p:cNvSpPr/>
          <p:nvPr/>
        </p:nvSpPr>
        <p:spPr>
          <a:xfrm>
            <a:off x="502920" y="3538728"/>
            <a:ext cx="11247120" cy="0"/>
          </a:xfrm>
          <a:prstGeom prst="line">
            <a:avLst/>
          </a:prstGeom>
          <a:noFill/>
          <a:ln w="9525">
            <a:solidFill>
              <a:srgbClr val="D6D1C4"/>
            </a:solidFill>
            <a:prstDash val="solid"/>
          </a:ln>
        </p:spPr>
      </p:sp>
      <p:sp>
        <p:nvSpPr>
          <p:cNvPr id="13" name="Text 11"/>
          <p:cNvSpPr/>
          <p:nvPr/>
        </p:nvSpPr>
        <p:spPr>
          <a:xfrm>
            <a:off x="502920" y="3602736"/>
            <a:ext cx="112471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What does my audit trail look like?</a:t>
            </a:r>
            <a:endParaRPr lang="en-US" sz="1300" dirty="0"/>
          </a:p>
        </p:txBody>
      </p:sp>
      <p:sp>
        <p:nvSpPr>
          <p:cNvPr id="14" name="Text 12"/>
          <p:cNvSpPr/>
          <p:nvPr/>
        </p:nvSpPr>
        <p:spPr>
          <a:xfrm>
            <a:off x="502920" y="3922776"/>
            <a:ext cx="112471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Every tool call is logged in the session transcript. CLAUDE.md is version controlled policy. Every commit is still attributed to an engineer. Your auditors see a clean chain of custody.</a:t>
            </a:r>
            <a:endParaRPr lang="en-US" sz="1150" dirty="0"/>
          </a:p>
        </p:txBody>
      </p:sp>
      <p:sp>
        <p:nvSpPr>
          <p:cNvPr id="15" name="Shape 13"/>
          <p:cNvSpPr/>
          <p:nvPr/>
        </p:nvSpPr>
        <p:spPr>
          <a:xfrm>
            <a:off x="502920" y="4471416"/>
            <a:ext cx="11247120" cy="0"/>
          </a:xfrm>
          <a:prstGeom prst="line">
            <a:avLst/>
          </a:prstGeom>
          <a:noFill/>
          <a:ln w="9525">
            <a:solidFill>
              <a:srgbClr val="D6D1C4"/>
            </a:solidFill>
            <a:prstDash val="solid"/>
          </a:ln>
        </p:spPr>
      </p:sp>
      <p:sp>
        <p:nvSpPr>
          <p:cNvPr id="16" name="Text 14"/>
          <p:cNvSpPr/>
          <p:nvPr/>
        </p:nvSpPr>
        <p:spPr>
          <a:xfrm>
            <a:off x="502920" y="4535424"/>
            <a:ext cx="112471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Can we deploy in an air-gapped environment?</a:t>
            </a:r>
            <a:endParaRPr lang="en-US" sz="1300" dirty="0"/>
          </a:p>
        </p:txBody>
      </p:sp>
      <p:sp>
        <p:nvSpPr>
          <p:cNvPr id="17" name="Text 15"/>
          <p:cNvSpPr/>
          <p:nvPr/>
        </p:nvSpPr>
        <p:spPr>
          <a:xfrm>
            <a:off x="502920" y="4855464"/>
            <a:ext cx="112471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Yes. Private deployment configurations are available for air-gapped and on-prem environments. Share your compliance framework and I'll send the right documentation.</a:t>
            </a:r>
            <a:endParaRPr lang="en-US" sz="1150" dirty="0"/>
          </a:p>
        </p:txBody>
      </p:sp>
      <p:sp>
        <p:nvSpPr>
          <p:cNvPr id="18" name="Shape 16"/>
          <p:cNvSpPr/>
          <p:nvPr/>
        </p:nvSpPr>
        <p:spPr>
          <a:xfrm>
            <a:off x="502920" y="5404104"/>
            <a:ext cx="11247120" cy="0"/>
          </a:xfrm>
          <a:prstGeom prst="line">
            <a:avLst/>
          </a:prstGeom>
          <a:noFill/>
          <a:ln w="9525">
            <a:solidFill>
              <a:srgbClr val="D6D1C4"/>
            </a:solidFill>
            <a:prstDash val="solid"/>
          </a:ln>
        </p:spPr>
      </p:sp>
      <p:sp>
        <p:nvSpPr>
          <p:cNvPr id="19" name="Text 17"/>
          <p:cNvSpPr/>
          <p:nvPr/>
        </p:nvSpPr>
        <p:spPr>
          <a:xfrm>
            <a:off x="502920" y="5468112"/>
            <a:ext cx="112471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What network access does Claude Code need?</a:t>
            </a:r>
            <a:endParaRPr lang="en-US" sz="1300" dirty="0"/>
          </a:p>
        </p:txBody>
      </p:sp>
      <p:sp>
        <p:nvSpPr>
          <p:cNvPr id="20" name="Text 18"/>
          <p:cNvSpPr/>
          <p:nvPr/>
        </p:nvSpPr>
        <p:spPr>
          <a:xfrm>
            <a:off x="502920" y="5788152"/>
            <a:ext cx="112471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Outbound HTTPS to api.anthropic.com only. No inbound access, and no VPN or firewall exceptions beyond standard HTTPS outbound.</a:t>
            </a:r>
            <a:endParaRPr lang="en-US" sz="1150" dirty="0"/>
          </a:p>
        </p:txBody>
      </p:sp>
      <p:sp>
        <p:nvSpPr>
          <p:cNvPr id="21" name="Shape 19"/>
          <p:cNvSpPr/>
          <p:nvPr/>
        </p:nvSpPr>
        <p:spPr>
          <a:xfrm>
            <a:off x="502920" y="6336792"/>
            <a:ext cx="11247120" cy="0"/>
          </a:xfrm>
          <a:prstGeom prst="line">
            <a:avLst/>
          </a:prstGeom>
          <a:noFill/>
          <a:ln w="9525">
            <a:solidFill>
              <a:srgbClr val="D6D1C4"/>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CLAUDE.MD · GOVERNANCE AT SCALE</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How 180 engineers get the same rules on day one.</a:t>
            </a:r>
            <a:endParaRPr lang="en-US" sz="3400" dirty="0"/>
          </a:p>
        </p:txBody>
      </p:sp>
      <p:sp>
        <p:nvSpPr>
          <p:cNvPr id="7" name="Text 5"/>
          <p:cNvSpPr/>
          <p:nvPr/>
        </p:nvSpPr>
        <p:spPr>
          <a:xfrm>
            <a:off x="502920" y="1691640"/>
            <a:ext cx="11247120" cy="457200"/>
          </a:xfrm>
          <a:prstGeom prst="rect">
            <a:avLst/>
          </a:prstGeom>
          <a:noFill/>
          <a:ln/>
        </p:spPr>
        <p:txBody>
          <a:bodyPr wrap="square" rtlCol="0" anchor="ctr"/>
          <a:lstStyle/>
          <a:p>
            <a:pPr indent="0" marL="0">
              <a:lnSpc>
                <a:spcPct val="125000"/>
              </a:lnSpc>
              <a:buNone/>
            </a:pPr>
            <a:r>
              <a:rPr lang="en-US" sz="1250" i="1" dirty="0">
                <a:solidFill>
                  <a:srgbClr val="6B6760"/>
                </a:solidFill>
                <a:latin typeface="Calibri" pitchFamily="34" charset="0"/>
                <a:ea typeface="Calibri" pitchFamily="34" charset="-122"/>
                <a:cs typeface="Calibri" pitchFamily="34" charset="-120"/>
              </a:rPr>
              <a:t>One plain English file, committed to the repo. Claude reads it before touching anything. Your standards travel with your codebase, automatically.</a:t>
            </a:r>
            <a:endParaRPr lang="en-US" sz="1250" dirty="0"/>
          </a:p>
        </p:txBody>
      </p:sp>
      <p:sp>
        <p:nvSpPr>
          <p:cNvPr id="8" name="Shape 6"/>
          <p:cNvSpPr/>
          <p:nvPr/>
        </p:nvSpPr>
        <p:spPr>
          <a:xfrm>
            <a:off x="502920" y="2377440"/>
            <a:ext cx="548640" cy="548640"/>
          </a:xfrm>
          <a:prstGeom prst="ellipse">
            <a:avLst/>
          </a:prstGeom>
          <a:solidFill>
            <a:srgbClr val="CC785C"/>
          </a:solidFill>
          <a:ln w="12700">
            <a:solidFill>
              <a:srgbClr val="CC785C"/>
            </a:solidFill>
            <a:prstDash val="solid"/>
          </a:ln>
        </p:spPr>
      </p:sp>
      <p:sp>
        <p:nvSpPr>
          <p:cNvPr id="9" name="Text 7"/>
          <p:cNvSpPr/>
          <p:nvPr/>
        </p:nvSpPr>
        <p:spPr>
          <a:xfrm>
            <a:off x="502920" y="2423160"/>
            <a:ext cx="54864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188720" y="2377440"/>
            <a:ext cx="1051560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Write it once.</a:t>
            </a:r>
            <a:endParaRPr lang="en-US" sz="1400" dirty="0"/>
          </a:p>
        </p:txBody>
      </p:sp>
      <p:sp>
        <p:nvSpPr>
          <p:cNvPr id="11" name="Text 9"/>
          <p:cNvSpPr/>
          <p:nvPr/>
        </p:nvSpPr>
        <p:spPr>
          <a:xfrm>
            <a:off x="1188720" y="2743200"/>
            <a:ext cx="10515600" cy="457200"/>
          </a:xfrm>
          <a:prstGeom prst="rect">
            <a:avLst/>
          </a:prstGeom>
          <a:noFill/>
          <a:ln/>
        </p:spPr>
        <p:txBody>
          <a:bodyPr wrap="square" rtlCol="0" anchor="ctr"/>
          <a:lstStyle/>
          <a:p>
            <a:pPr indent="0" marL="0">
              <a:lnSpc>
                <a:spcPct val="125000"/>
              </a:lnSpc>
              <a:buNone/>
            </a:pPr>
            <a:r>
              <a:rPr lang="en-US" sz="1150" dirty="0">
                <a:solidFill>
                  <a:srgbClr val="6B6760"/>
                </a:solidFill>
                <a:latin typeface="Calibri" pitchFamily="34" charset="0"/>
                <a:ea typeface="Calibri" pitchFamily="34" charset="-122"/>
                <a:cs typeface="Calibri" pitchFamily="34" charset="-120"/>
              </a:rPr>
              <a:t>In plain English. Your security rules, coding conventions, idempotency patterns, testing requirements, whatever you'd like Claude to respect.</a:t>
            </a:r>
            <a:endParaRPr lang="en-US" sz="1150" dirty="0"/>
          </a:p>
        </p:txBody>
      </p:sp>
      <p:sp>
        <p:nvSpPr>
          <p:cNvPr id="12" name="Shape 10"/>
          <p:cNvSpPr/>
          <p:nvPr/>
        </p:nvSpPr>
        <p:spPr>
          <a:xfrm>
            <a:off x="502920" y="3337560"/>
            <a:ext cx="548640" cy="548640"/>
          </a:xfrm>
          <a:prstGeom prst="ellipse">
            <a:avLst/>
          </a:prstGeom>
          <a:solidFill>
            <a:srgbClr val="CC785C"/>
          </a:solidFill>
          <a:ln w="12700">
            <a:solidFill>
              <a:srgbClr val="CC785C"/>
            </a:solidFill>
            <a:prstDash val="solid"/>
          </a:ln>
        </p:spPr>
      </p:sp>
      <p:sp>
        <p:nvSpPr>
          <p:cNvPr id="13" name="Text 11"/>
          <p:cNvSpPr/>
          <p:nvPr/>
        </p:nvSpPr>
        <p:spPr>
          <a:xfrm>
            <a:off x="502920" y="3383280"/>
            <a:ext cx="54864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1188720" y="3337560"/>
            <a:ext cx="1051560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Commit it to a template.</a:t>
            </a:r>
            <a:endParaRPr lang="en-US" sz="1400" dirty="0"/>
          </a:p>
        </p:txBody>
      </p:sp>
      <p:sp>
        <p:nvSpPr>
          <p:cNvPr id="15" name="Text 13"/>
          <p:cNvSpPr/>
          <p:nvPr/>
        </p:nvSpPr>
        <p:spPr>
          <a:xfrm>
            <a:off x="1188720" y="3703320"/>
            <a:ext cx="10515600" cy="457200"/>
          </a:xfrm>
          <a:prstGeom prst="rect">
            <a:avLst/>
          </a:prstGeom>
          <a:noFill/>
          <a:ln/>
        </p:spPr>
        <p:txBody>
          <a:bodyPr wrap="square" rtlCol="0" anchor="ctr"/>
          <a:lstStyle/>
          <a:p>
            <a:pPr indent="0" marL="0">
              <a:lnSpc>
                <a:spcPct val="125000"/>
              </a:lnSpc>
              <a:buNone/>
            </a:pPr>
            <a:r>
              <a:rPr lang="en-US" sz="1150" dirty="0">
                <a:solidFill>
                  <a:srgbClr val="6B6760"/>
                </a:solidFill>
                <a:latin typeface="Calibri" pitchFamily="34" charset="0"/>
                <a:ea typeface="Calibri" pitchFamily="34" charset="-122"/>
                <a:cs typeface="Calibri" pitchFamily="34" charset="-120"/>
              </a:rPr>
              <a:t>Your internal repo template picks it up. Any new repo your team spins up inherits the file automatically.</a:t>
            </a:r>
            <a:endParaRPr lang="en-US" sz="1150" dirty="0"/>
          </a:p>
        </p:txBody>
      </p:sp>
      <p:sp>
        <p:nvSpPr>
          <p:cNvPr id="16" name="Shape 14"/>
          <p:cNvSpPr/>
          <p:nvPr/>
        </p:nvSpPr>
        <p:spPr>
          <a:xfrm>
            <a:off x="502920" y="4297680"/>
            <a:ext cx="548640" cy="548640"/>
          </a:xfrm>
          <a:prstGeom prst="ellipse">
            <a:avLst/>
          </a:prstGeom>
          <a:solidFill>
            <a:srgbClr val="CC785C"/>
          </a:solidFill>
          <a:ln w="12700">
            <a:solidFill>
              <a:srgbClr val="CC785C"/>
            </a:solidFill>
            <a:prstDash val="solid"/>
          </a:ln>
        </p:spPr>
      </p:sp>
      <p:sp>
        <p:nvSpPr>
          <p:cNvPr id="17" name="Text 15"/>
          <p:cNvSpPr/>
          <p:nvPr/>
        </p:nvSpPr>
        <p:spPr>
          <a:xfrm>
            <a:off x="502920" y="4343400"/>
            <a:ext cx="54864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8" name="Text 16"/>
          <p:cNvSpPr/>
          <p:nvPr/>
        </p:nvSpPr>
        <p:spPr>
          <a:xfrm>
            <a:off x="1188720" y="4297680"/>
            <a:ext cx="1051560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One PR for existing repos.</a:t>
            </a:r>
            <a:endParaRPr lang="en-US" sz="1400" dirty="0"/>
          </a:p>
        </p:txBody>
      </p:sp>
      <p:sp>
        <p:nvSpPr>
          <p:cNvPr id="19" name="Text 17"/>
          <p:cNvSpPr/>
          <p:nvPr/>
        </p:nvSpPr>
        <p:spPr>
          <a:xfrm>
            <a:off x="1188720" y="4663440"/>
            <a:ext cx="10515600" cy="457200"/>
          </a:xfrm>
          <a:prstGeom prst="rect">
            <a:avLst/>
          </a:prstGeom>
          <a:noFill/>
          <a:ln/>
        </p:spPr>
        <p:txBody>
          <a:bodyPr wrap="square" rtlCol="0" anchor="ctr"/>
          <a:lstStyle/>
          <a:p>
            <a:pPr indent="0" marL="0">
              <a:lnSpc>
                <a:spcPct val="125000"/>
              </a:lnSpc>
              <a:buNone/>
            </a:pPr>
            <a:r>
              <a:rPr lang="en-US" sz="1150" dirty="0">
                <a:solidFill>
                  <a:srgbClr val="6B6760"/>
                </a:solidFill>
                <a:latin typeface="Calibri" pitchFamily="34" charset="0"/>
                <a:ea typeface="Calibri" pitchFamily="34" charset="-122"/>
                <a:cs typeface="Calibri" pitchFamily="34" charset="-120"/>
              </a:rPr>
              <a:t>No per-engineer configuration, no training session, no IT ticket.</a:t>
            </a:r>
            <a:endParaRPr lang="en-US" sz="1150" dirty="0"/>
          </a:p>
        </p:txBody>
      </p:sp>
      <p:sp>
        <p:nvSpPr>
          <p:cNvPr id="20" name="Shape 18"/>
          <p:cNvSpPr/>
          <p:nvPr/>
        </p:nvSpPr>
        <p:spPr>
          <a:xfrm>
            <a:off x="502920" y="5257800"/>
            <a:ext cx="548640" cy="548640"/>
          </a:xfrm>
          <a:prstGeom prst="ellipse">
            <a:avLst/>
          </a:prstGeom>
          <a:solidFill>
            <a:srgbClr val="CC785C"/>
          </a:solidFill>
          <a:ln w="12700">
            <a:solidFill>
              <a:srgbClr val="CC785C"/>
            </a:solidFill>
            <a:prstDash val="solid"/>
          </a:ln>
        </p:spPr>
      </p:sp>
      <p:sp>
        <p:nvSpPr>
          <p:cNvPr id="21" name="Text 19"/>
          <p:cNvSpPr/>
          <p:nvPr/>
        </p:nvSpPr>
        <p:spPr>
          <a:xfrm>
            <a:off x="502920" y="5303520"/>
            <a:ext cx="54864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2" name="Text 20"/>
          <p:cNvSpPr/>
          <p:nvPr/>
        </p:nvSpPr>
        <p:spPr>
          <a:xfrm>
            <a:off x="1188720" y="5257800"/>
            <a:ext cx="10515600" cy="365760"/>
          </a:xfrm>
          <a:prstGeom prst="rect">
            <a:avLst/>
          </a:prstGeom>
          <a:noFill/>
          <a:ln/>
        </p:spPr>
        <p:txBody>
          <a:bodyPr wrap="square" rtlCol="0" anchor="ctr"/>
          <a:lstStyle/>
          <a:p>
            <a:pPr indent="0" marL="0">
              <a:buNone/>
            </a:pPr>
            <a:r>
              <a:rPr lang="en-US" sz="1400" b="1" dirty="0">
                <a:solidFill>
                  <a:srgbClr val="1F1F1E"/>
                </a:solidFill>
                <a:latin typeface="Calibri" pitchFamily="34" charset="0"/>
                <a:ea typeface="Calibri" pitchFamily="34" charset="-122"/>
                <a:cs typeface="Calibri" pitchFamily="34" charset="-120"/>
              </a:rPr>
              <a:t>Every engineer, every time.</a:t>
            </a:r>
            <a:endParaRPr lang="en-US" sz="1400" dirty="0"/>
          </a:p>
        </p:txBody>
      </p:sp>
      <p:sp>
        <p:nvSpPr>
          <p:cNvPr id="23" name="Text 21"/>
          <p:cNvSpPr/>
          <p:nvPr/>
        </p:nvSpPr>
        <p:spPr>
          <a:xfrm>
            <a:off x="1188720" y="5623560"/>
            <a:ext cx="10515600" cy="457200"/>
          </a:xfrm>
          <a:prstGeom prst="rect">
            <a:avLst/>
          </a:prstGeom>
          <a:noFill/>
          <a:ln/>
        </p:spPr>
        <p:txBody>
          <a:bodyPr wrap="square" rtlCol="0" anchor="ctr"/>
          <a:lstStyle/>
          <a:p>
            <a:pPr indent="0" marL="0">
              <a:lnSpc>
                <a:spcPct val="125000"/>
              </a:lnSpc>
              <a:buNone/>
            </a:pPr>
            <a:r>
              <a:rPr lang="en-US" sz="1150" dirty="0">
                <a:solidFill>
                  <a:srgbClr val="6B6760"/>
                </a:solidFill>
                <a:latin typeface="Calibri" pitchFamily="34" charset="0"/>
                <a:ea typeface="Calibri" pitchFamily="34" charset="-122"/>
                <a:cs typeface="Calibri" pitchFamily="34" charset="-120"/>
              </a:rPr>
              <a:t>Claude reads the file before any change. Your rules apply on day one, at 3am, in an unfamiliar service. Same standards every time.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MCP  ·  INTERNAL TOOL INTEGRATION</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Claude Code plugs into Jira, Confluence, and your internal APIs.</a:t>
            </a:r>
            <a:endParaRPr lang="en-US" sz="3400" dirty="0"/>
          </a:p>
        </p:txBody>
      </p:sp>
      <p:sp>
        <p:nvSpPr>
          <p:cNvPr id="7" name="Text 5"/>
          <p:cNvSpPr/>
          <p:nvPr/>
        </p:nvSpPr>
        <p:spPr>
          <a:xfrm>
            <a:off x="502920" y="1691640"/>
            <a:ext cx="11247120" cy="640080"/>
          </a:xfrm>
          <a:prstGeom prst="rect">
            <a:avLst/>
          </a:prstGeom>
          <a:noFill/>
          <a:ln/>
        </p:spPr>
        <p:txBody>
          <a:bodyPr wrap="square" rtlCol="0" anchor="ctr"/>
          <a:lstStyle/>
          <a:p>
            <a:pPr indent="0" marL="0">
              <a:lnSpc>
                <a:spcPct val="130000"/>
              </a:lnSpc>
              <a:buNone/>
            </a:pPr>
            <a:r>
              <a:rPr lang="en-US" sz="1250" dirty="0">
                <a:solidFill>
                  <a:srgbClr val="6B6760"/>
                </a:solidFill>
                <a:latin typeface="Calibri" pitchFamily="34" charset="0"/>
                <a:ea typeface="Calibri" pitchFamily="34" charset="-122"/>
                <a:cs typeface="Calibri" pitchFamily="34" charset="-120"/>
              </a:rPr>
              <a:t>Model Context Protocol is how Claude talks to Jira, Confluence, your monitoring stack, and your internal APIs. One config file per tool, with pre-built servers for the common ones. Custom internal tools take about an afternoon.</a:t>
            </a:r>
            <a:endParaRPr lang="en-US" sz="1250" dirty="0"/>
          </a:p>
        </p:txBody>
      </p:sp>
      <p:sp>
        <p:nvSpPr>
          <p:cNvPr id="8" name="Text 6"/>
          <p:cNvSpPr/>
          <p:nvPr/>
        </p:nvSpPr>
        <p:spPr>
          <a:xfrm>
            <a:off x="502920" y="2514600"/>
            <a:ext cx="54864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WHAT YOUR ENGINEERS GET</a:t>
            </a:r>
            <a:endParaRPr lang="en-US" sz="1000" dirty="0"/>
          </a:p>
        </p:txBody>
      </p:sp>
      <p:sp>
        <p:nvSpPr>
          <p:cNvPr id="9" name="Text 7"/>
          <p:cNvSpPr/>
          <p:nvPr/>
        </p:nvSpPr>
        <p:spPr>
          <a:xfrm>
            <a:off x="502920" y="2834640"/>
            <a:ext cx="5486400" cy="274320"/>
          </a:xfrm>
          <a:prstGeom prst="rect">
            <a:avLst/>
          </a:prstGeom>
          <a:noFill/>
          <a:ln/>
        </p:spPr>
        <p:txBody>
          <a:bodyPr wrap="square"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Jira / Linear</a:t>
            </a:r>
            <a:endParaRPr lang="en-US" sz="1250" dirty="0"/>
          </a:p>
        </p:txBody>
      </p:sp>
      <p:sp>
        <p:nvSpPr>
          <p:cNvPr id="10" name="Text 8"/>
          <p:cNvSpPr/>
          <p:nvPr/>
        </p:nvSpPr>
        <p:spPr>
          <a:xfrm>
            <a:off x="502920" y="3108960"/>
            <a:ext cx="5486400" cy="502920"/>
          </a:xfrm>
          <a:prstGeom prst="rect">
            <a:avLst/>
          </a:prstGeom>
          <a:noFill/>
          <a:ln/>
        </p:spPr>
        <p:txBody>
          <a:bodyPr wrap="square" rtlCol="0" anchor="ctr"/>
          <a:lstStyle/>
          <a:p>
            <a:pPr indent="0" marL="0">
              <a:lnSpc>
                <a:spcPct val="125000"/>
              </a:lnSpc>
              <a:buNone/>
            </a:pPr>
            <a:r>
              <a:rPr lang="en-US" sz="1100" dirty="0">
                <a:solidFill>
                  <a:srgbClr val="6B6760"/>
                </a:solidFill>
                <a:latin typeface="Calibri" pitchFamily="34" charset="0"/>
                <a:ea typeface="Calibri" pitchFamily="34" charset="-122"/>
                <a:cs typeface="Calibri" pitchFamily="34" charset="-120"/>
              </a:rPr>
              <a:t>Pull ticket context right into the session. No copy-paste, no tab-switching.</a:t>
            </a:r>
            <a:endParaRPr lang="en-US" sz="1100" dirty="0"/>
          </a:p>
        </p:txBody>
      </p:sp>
      <p:sp>
        <p:nvSpPr>
          <p:cNvPr id="11" name="Text 9"/>
          <p:cNvSpPr/>
          <p:nvPr/>
        </p:nvSpPr>
        <p:spPr>
          <a:xfrm>
            <a:off x="502920" y="3639312"/>
            <a:ext cx="5486400" cy="274320"/>
          </a:xfrm>
          <a:prstGeom prst="rect">
            <a:avLst/>
          </a:prstGeom>
          <a:noFill/>
          <a:ln/>
        </p:spPr>
        <p:txBody>
          <a:bodyPr wrap="square"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Confluence / Notion</a:t>
            </a:r>
            <a:endParaRPr lang="en-US" sz="1250" dirty="0"/>
          </a:p>
        </p:txBody>
      </p:sp>
      <p:sp>
        <p:nvSpPr>
          <p:cNvPr id="12" name="Text 10"/>
          <p:cNvSpPr/>
          <p:nvPr/>
        </p:nvSpPr>
        <p:spPr>
          <a:xfrm>
            <a:off x="502920" y="3913632"/>
            <a:ext cx="5486400" cy="502920"/>
          </a:xfrm>
          <a:prstGeom prst="rect">
            <a:avLst/>
          </a:prstGeom>
          <a:noFill/>
          <a:ln/>
        </p:spPr>
        <p:txBody>
          <a:bodyPr wrap="square" rtlCol="0" anchor="ctr"/>
          <a:lstStyle/>
          <a:p>
            <a:pPr indent="0" marL="0">
              <a:lnSpc>
                <a:spcPct val="125000"/>
              </a:lnSpc>
              <a:buNone/>
            </a:pPr>
            <a:r>
              <a:rPr lang="en-US" sz="1100" dirty="0">
                <a:solidFill>
                  <a:srgbClr val="6B6760"/>
                </a:solidFill>
                <a:latin typeface="Calibri" pitchFamily="34" charset="0"/>
                <a:ea typeface="Calibri" pitchFamily="34" charset="-122"/>
                <a:cs typeface="Calibri" pitchFamily="34" charset="-120"/>
              </a:rPr>
              <a:t>Read runbooks and architecture docs without leaving the terminal.</a:t>
            </a:r>
            <a:endParaRPr lang="en-US" sz="1100" dirty="0"/>
          </a:p>
        </p:txBody>
      </p:sp>
      <p:sp>
        <p:nvSpPr>
          <p:cNvPr id="13" name="Text 11"/>
          <p:cNvSpPr/>
          <p:nvPr/>
        </p:nvSpPr>
        <p:spPr>
          <a:xfrm>
            <a:off x="502920" y="4443984"/>
            <a:ext cx="5486400" cy="274320"/>
          </a:xfrm>
          <a:prstGeom prst="rect">
            <a:avLst/>
          </a:prstGeom>
          <a:noFill/>
          <a:ln/>
        </p:spPr>
        <p:txBody>
          <a:bodyPr wrap="square"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Monitoring &amp; APIs</a:t>
            </a:r>
            <a:endParaRPr lang="en-US" sz="1250" dirty="0"/>
          </a:p>
        </p:txBody>
      </p:sp>
      <p:sp>
        <p:nvSpPr>
          <p:cNvPr id="14" name="Text 12"/>
          <p:cNvSpPr/>
          <p:nvPr/>
        </p:nvSpPr>
        <p:spPr>
          <a:xfrm>
            <a:off x="502920" y="4718304"/>
            <a:ext cx="5486400" cy="502920"/>
          </a:xfrm>
          <a:prstGeom prst="rect">
            <a:avLst/>
          </a:prstGeom>
          <a:noFill/>
          <a:ln/>
        </p:spPr>
        <p:txBody>
          <a:bodyPr wrap="square" rtlCol="0" anchor="ctr"/>
          <a:lstStyle/>
          <a:p>
            <a:pPr indent="0" marL="0">
              <a:lnSpc>
                <a:spcPct val="125000"/>
              </a:lnSpc>
              <a:buNone/>
            </a:pPr>
            <a:r>
              <a:rPr lang="en-US" sz="1100" dirty="0">
                <a:solidFill>
                  <a:srgbClr val="6B6760"/>
                </a:solidFill>
                <a:latin typeface="Calibri" pitchFamily="34" charset="0"/>
                <a:ea typeface="Calibri" pitchFamily="34" charset="-122"/>
                <a:cs typeface="Calibri" pitchFamily="34" charset="-120"/>
              </a:rPr>
              <a:t>Query metrics, alert history, and service health, in context, during the task.</a:t>
            </a:r>
            <a:endParaRPr lang="en-US" sz="1100" dirty="0"/>
          </a:p>
        </p:txBody>
      </p:sp>
      <p:sp>
        <p:nvSpPr>
          <p:cNvPr id="15" name="Text 13"/>
          <p:cNvSpPr/>
          <p:nvPr/>
        </p:nvSpPr>
        <p:spPr>
          <a:xfrm>
            <a:off x="502920" y="5248656"/>
            <a:ext cx="5486400" cy="274320"/>
          </a:xfrm>
          <a:prstGeom prst="rect">
            <a:avLst/>
          </a:prstGeom>
          <a:noFill/>
          <a:ln/>
        </p:spPr>
        <p:txBody>
          <a:bodyPr wrap="square"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Your custom tools</a:t>
            </a:r>
            <a:endParaRPr lang="en-US" sz="1250" dirty="0"/>
          </a:p>
        </p:txBody>
      </p:sp>
      <p:sp>
        <p:nvSpPr>
          <p:cNvPr id="16" name="Text 14"/>
          <p:cNvSpPr/>
          <p:nvPr/>
        </p:nvSpPr>
        <p:spPr>
          <a:xfrm>
            <a:off x="502920" y="5522976"/>
            <a:ext cx="5486400" cy="502920"/>
          </a:xfrm>
          <a:prstGeom prst="rect">
            <a:avLst/>
          </a:prstGeom>
          <a:noFill/>
          <a:ln/>
        </p:spPr>
        <p:txBody>
          <a:bodyPr wrap="square" rtlCol="0" anchor="ctr"/>
          <a:lstStyle/>
          <a:p>
            <a:pPr indent="0" marL="0">
              <a:lnSpc>
                <a:spcPct val="125000"/>
              </a:lnSpc>
              <a:buNone/>
            </a:pPr>
            <a:r>
              <a:rPr lang="en-US" sz="1100" dirty="0">
                <a:solidFill>
                  <a:srgbClr val="6B6760"/>
                </a:solidFill>
                <a:latin typeface="Calibri" pitchFamily="34" charset="0"/>
                <a:ea typeface="Calibri" pitchFamily="34" charset="-122"/>
                <a:cs typeface="Calibri" pitchFamily="34" charset="-120"/>
              </a:rPr>
              <a:t>Any HTTP API becomes a capability. One engineer, a few hours, team-wide.</a:t>
            </a:r>
            <a:endParaRPr lang="en-US" sz="1100" dirty="0"/>
          </a:p>
        </p:txBody>
      </p:sp>
      <p:sp>
        <p:nvSpPr>
          <p:cNvPr id="17" name="Text 15"/>
          <p:cNvSpPr/>
          <p:nvPr/>
        </p:nvSpPr>
        <p:spPr>
          <a:xfrm>
            <a:off x="6263640" y="2514600"/>
            <a:ext cx="54864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HOW HARD IS SETUP?</a:t>
            </a:r>
            <a:endParaRPr lang="en-US" sz="1000" dirty="0"/>
          </a:p>
        </p:txBody>
      </p:sp>
      <p:sp>
        <p:nvSpPr>
          <p:cNvPr id="18" name="Shape 16"/>
          <p:cNvSpPr/>
          <p:nvPr/>
        </p:nvSpPr>
        <p:spPr>
          <a:xfrm>
            <a:off x="6263640" y="2834640"/>
            <a:ext cx="5440680" cy="2286000"/>
          </a:xfrm>
          <a:prstGeom prst="rect">
            <a:avLst/>
          </a:prstGeom>
          <a:solidFill>
            <a:srgbClr val="1F1F1E"/>
          </a:solidFill>
          <a:ln w="12700">
            <a:solidFill>
              <a:srgbClr val="1F1F1E"/>
            </a:solidFill>
            <a:prstDash val="solid"/>
          </a:ln>
        </p:spPr>
      </p:sp>
      <p:sp>
        <p:nvSpPr>
          <p:cNvPr id="19" name="Text 17"/>
          <p:cNvSpPr/>
          <p:nvPr/>
        </p:nvSpPr>
        <p:spPr>
          <a:xfrm>
            <a:off x="6446520" y="2926080"/>
            <a:ext cx="5212080" cy="2103120"/>
          </a:xfrm>
          <a:prstGeom prst="rect">
            <a:avLst/>
          </a:prstGeom>
          <a:noFill/>
          <a:ln/>
        </p:spPr>
        <p:txBody>
          <a:bodyPr wrap="square" rtlCol="0" anchor="ctr"/>
          <a:lstStyle/>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 .claude/mcp.json</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  "jira": {</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    "command": "npx",</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    "args": ["@mcp/jira"],</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    "env": { "JIRA_URL": "..." }</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  }</a:t>
            </a:r>
            <a:endParaRPr lang="en-US" sz="1300" dirty="0"/>
          </a:p>
          <a:p>
            <a:pPr indent="0" marL="0">
              <a:lnSpc>
                <a:spcPct val="135000"/>
              </a:lnSpc>
              <a:buNone/>
            </a:pPr>
            <a:r>
              <a:rPr lang="en-US" sz="1300" dirty="0">
                <a:solidFill>
                  <a:srgbClr val="F0EEE6"/>
                </a:solidFill>
                <a:latin typeface="Courier New" pitchFamily="34" charset="0"/>
                <a:ea typeface="Courier New" pitchFamily="34" charset="-122"/>
                <a:cs typeface="Courier New" pitchFamily="34" charset="-120"/>
              </a:rPr>
              <a:t>}</a:t>
            </a:r>
            <a:endParaRPr lang="en-US" sz="1300" dirty="0"/>
          </a:p>
        </p:txBody>
      </p:sp>
      <p:sp>
        <p:nvSpPr>
          <p:cNvPr id="20" name="Text 18"/>
          <p:cNvSpPr/>
          <p:nvPr/>
        </p:nvSpPr>
        <p:spPr>
          <a:xfrm>
            <a:off x="6263640" y="5212080"/>
            <a:ext cx="5440680" cy="731520"/>
          </a:xfrm>
          <a:prstGeom prst="rect">
            <a:avLst/>
          </a:prstGeom>
          <a:noFill/>
          <a:ln/>
        </p:spPr>
        <p:txBody>
          <a:bodyPr wrap="square" rtlCol="0" anchor="ctr"/>
          <a:lstStyle/>
          <a:p>
            <a:pPr indent="0" marL="0">
              <a:lnSpc>
                <a:spcPct val="130000"/>
              </a:lnSpc>
              <a:buNone/>
            </a:pPr>
            <a:r>
              <a:rPr lang="en-US" sz="1100" i="1" dirty="0">
                <a:solidFill>
                  <a:srgbClr val="6B6760"/>
                </a:solidFill>
                <a:latin typeface="Calibri" pitchFamily="34" charset="0"/>
                <a:ea typeface="Calibri" pitchFamily="34" charset="-122"/>
                <a:cs typeface="Calibri" pitchFamily="34" charset="-120"/>
              </a:rPr>
              <a:t>That's the whole Jira setup. Twenty lines does it for a custom internal API. One engineer configures it once, and everyone on the team benefits.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HONEST LIMITATIONS</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Five things Claude Code won't do, so you can plan around them.</a:t>
            </a:r>
            <a:endParaRPr lang="en-US" sz="3400" dirty="0"/>
          </a:p>
        </p:txBody>
      </p:sp>
      <p:sp>
        <p:nvSpPr>
          <p:cNvPr id="7" name="Shape 5"/>
          <p:cNvSpPr/>
          <p:nvPr/>
        </p:nvSpPr>
        <p:spPr>
          <a:xfrm>
            <a:off x="502920" y="1783080"/>
            <a:ext cx="73152" cy="822960"/>
          </a:xfrm>
          <a:prstGeom prst="rect">
            <a:avLst/>
          </a:prstGeom>
          <a:solidFill>
            <a:srgbClr val="CC785C"/>
          </a:solidFill>
          <a:ln w="12700">
            <a:solidFill>
              <a:srgbClr val="CC785C"/>
            </a:solidFill>
            <a:prstDash val="solid"/>
          </a:ln>
        </p:spPr>
      </p:sp>
      <p:sp>
        <p:nvSpPr>
          <p:cNvPr id="8" name="Text 6"/>
          <p:cNvSpPr/>
          <p:nvPr/>
        </p:nvSpPr>
        <p:spPr>
          <a:xfrm>
            <a:off x="777240" y="1783080"/>
            <a:ext cx="107899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It doesn't replace your senior engineers.</a:t>
            </a:r>
            <a:endParaRPr lang="en-US" sz="1300" dirty="0"/>
          </a:p>
        </p:txBody>
      </p:sp>
      <p:sp>
        <p:nvSpPr>
          <p:cNvPr id="9" name="Text 7"/>
          <p:cNvSpPr/>
          <p:nvPr/>
        </p:nvSpPr>
        <p:spPr>
          <a:xfrm>
            <a:off x="777240" y="2103120"/>
            <a:ext cx="107899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It surfaces options and writes code. Your senior engineers still make architecture decisions, weigh tradeoffs, and own the outcome. Claude makes them faster, not redundant.</a:t>
            </a:r>
            <a:endParaRPr lang="en-US" sz="1150" dirty="0"/>
          </a:p>
        </p:txBody>
      </p:sp>
      <p:sp>
        <p:nvSpPr>
          <p:cNvPr id="10" name="Shape 8"/>
          <p:cNvSpPr/>
          <p:nvPr/>
        </p:nvSpPr>
        <p:spPr>
          <a:xfrm>
            <a:off x="502920" y="2715768"/>
            <a:ext cx="73152" cy="822960"/>
          </a:xfrm>
          <a:prstGeom prst="rect">
            <a:avLst/>
          </a:prstGeom>
          <a:solidFill>
            <a:srgbClr val="CC785C"/>
          </a:solidFill>
          <a:ln w="12700">
            <a:solidFill>
              <a:srgbClr val="CC785C"/>
            </a:solidFill>
            <a:prstDash val="solid"/>
          </a:ln>
        </p:spPr>
      </p:sp>
      <p:sp>
        <p:nvSpPr>
          <p:cNvPr id="11" name="Text 9"/>
          <p:cNvSpPr/>
          <p:nvPr/>
        </p:nvSpPr>
        <p:spPr>
          <a:xfrm>
            <a:off x="777240" y="2715768"/>
            <a:ext cx="107899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It doesn't eliminate code review.</a:t>
            </a:r>
            <a:endParaRPr lang="en-US" sz="1300" dirty="0"/>
          </a:p>
        </p:txBody>
      </p:sp>
      <p:sp>
        <p:nvSpPr>
          <p:cNvPr id="12" name="Text 10"/>
          <p:cNvSpPr/>
          <p:nvPr/>
        </p:nvSpPr>
        <p:spPr>
          <a:xfrm>
            <a:off x="777240" y="3035808"/>
            <a:ext cx="107899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The review plugin we showed is Claude reviewing Claude's own work, and it still flags issues. Human review still matters. Claude just makes it faster and more thorough.</a:t>
            </a:r>
            <a:endParaRPr lang="en-US" sz="1150" dirty="0"/>
          </a:p>
        </p:txBody>
      </p:sp>
      <p:sp>
        <p:nvSpPr>
          <p:cNvPr id="13" name="Shape 11"/>
          <p:cNvSpPr/>
          <p:nvPr/>
        </p:nvSpPr>
        <p:spPr>
          <a:xfrm>
            <a:off x="502920" y="3648456"/>
            <a:ext cx="73152" cy="822960"/>
          </a:xfrm>
          <a:prstGeom prst="rect">
            <a:avLst/>
          </a:prstGeom>
          <a:solidFill>
            <a:srgbClr val="CC785C"/>
          </a:solidFill>
          <a:ln w="12700">
            <a:solidFill>
              <a:srgbClr val="CC785C"/>
            </a:solidFill>
            <a:prstDash val="solid"/>
          </a:ln>
        </p:spPr>
      </p:sp>
      <p:sp>
        <p:nvSpPr>
          <p:cNvPr id="14" name="Text 12"/>
          <p:cNvSpPr/>
          <p:nvPr/>
        </p:nvSpPr>
        <p:spPr>
          <a:xfrm>
            <a:off x="777240" y="3648456"/>
            <a:ext cx="107899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It gets things wrong sometimes.</a:t>
            </a:r>
            <a:endParaRPr lang="en-US" sz="1300" dirty="0"/>
          </a:p>
        </p:txBody>
      </p:sp>
      <p:sp>
        <p:nvSpPr>
          <p:cNvPr id="15" name="Text 13"/>
          <p:cNvSpPr/>
          <p:nvPr/>
        </p:nvSpPr>
        <p:spPr>
          <a:xfrm>
            <a:off x="777240" y="3968496"/>
            <a:ext cx="107899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That's why the Safety Gate, governance hooks, and human approval exist. The workflow is designed for a world where the tool is very good, but not infallible.</a:t>
            </a:r>
            <a:endParaRPr lang="en-US" sz="1150" dirty="0"/>
          </a:p>
        </p:txBody>
      </p:sp>
      <p:sp>
        <p:nvSpPr>
          <p:cNvPr id="16" name="Shape 14"/>
          <p:cNvSpPr/>
          <p:nvPr/>
        </p:nvSpPr>
        <p:spPr>
          <a:xfrm>
            <a:off x="502920" y="4581144"/>
            <a:ext cx="73152" cy="822960"/>
          </a:xfrm>
          <a:prstGeom prst="rect">
            <a:avLst/>
          </a:prstGeom>
          <a:solidFill>
            <a:srgbClr val="CC785C"/>
          </a:solidFill>
          <a:ln w="12700">
            <a:solidFill>
              <a:srgbClr val="CC785C"/>
            </a:solidFill>
            <a:prstDash val="solid"/>
          </a:ln>
        </p:spPr>
      </p:sp>
      <p:sp>
        <p:nvSpPr>
          <p:cNvPr id="17" name="Text 15"/>
          <p:cNvSpPr/>
          <p:nvPr/>
        </p:nvSpPr>
        <p:spPr>
          <a:xfrm>
            <a:off x="777240" y="4581144"/>
            <a:ext cx="107899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It won't fix a broken engineering culture.</a:t>
            </a:r>
            <a:endParaRPr lang="en-US" sz="1300" dirty="0"/>
          </a:p>
        </p:txBody>
      </p:sp>
      <p:sp>
        <p:nvSpPr>
          <p:cNvPr id="18" name="Text 16"/>
          <p:cNvSpPr/>
          <p:nvPr/>
        </p:nvSpPr>
        <p:spPr>
          <a:xfrm>
            <a:off x="777240" y="4901184"/>
            <a:ext cx="107899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It amplifies what's already there. Teams with good practices get more leverage. Teams without them move faster in the wrong direction. CLAUDE.md is how you encode the good practices.</a:t>
            </a:r>
            <a:endParaRPr lang="en-US" sz="1150" dirty="0"/>
          </a:p>
        </p:txBody>
      </p:sp>
      <p:sp>
        <p:nvSpPr>
          <p:cNvPr id="19" name="Shape 17"/>
          <p:cNvSpPr/>
          <p:nvPr/>
        </p:nvSpPr>
        <p:spPr>
          <a:xfrm>
            <a:off x="502920" y="5513832"/>
            <a:ext cx="73152" cy="822960"/>
          </a:xfrm>
          <a:prstGeom prst="rect">
            <a:avLst/>
          </a:prstGeom>
          <a:solidFill>
            <a:srgbClr val="CC785C"/>
          </a:solidFill>
          <a:ln w="12700">
            <a:solidFill>
              <a:srgbClr val="CC785C"/>
            </a:solidFill>
            <a:prstDash val="solid"/>
          </a:ln>
        </p:spPr>
      </p:sp>
      <p:sp>
        <p:nvSpPr>
          <p:cNvPr id="20" name="Text 18"/>
          <p:cNvSpPr/>
          <p:nvPr/>
        </p:nvSpPr>
        <p:spPr>
          <a:xfrm>
            <a:off x="777240" y="5513832"/>
            <a:ext cx="1078992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It works best with a real test suite.</a:t>
            </a:r>
            <a:endParaRPr lang="en-US" sz="1300" dirty="0"/>
          </a:p>
        </p:txBody>
      </p:sp>
      <p:sp>
        <p:nvSpPr>
          <p:cNvPr id="21" name="Text 19"/>
          <p:cNvSpPr/>
          <p:nvPr/>
        </p:nvSpPr>
        <p:spPr>
          <a:xfrm>
            <a:off x="777240" y="5833872"/>
            <a:ext cx="10789920" cy="548640"/>
          </a:xfrm>
          <a:prstGeom prst="rect">
            <a:avLst/>
          </a:prstGeom>
          <a:noFill/>
          <a:ln/>
        </p:spPr>
        <p:txBody>
          <a:bodyPr wrap="square" rtlCol="0" anchor="ctr"/>
          <a:lstStyle/>
          <a:p>
            <a:pPr indent="0" marL="0">
              <a:lnSpc>
                <a:spcPct val="130000"/>
              </a:lnSpc>
              <a:buNone/>
            </a:pPr>
            <a:r>
              <a:rPr lang="en-US" sz="1150" dirty="0">
                <a:solidFill>
                  <a:srgbClr val="6B6760"/>
                </a:solidFill>
                <a:latin typeface="Calibri" pitchFamily="34" charset="0"/>
                <a:ea typeface="Calibri" pitchFamily="34" charset="-122"/>
                <a:cs typeface="Calibri" pitchFamily="34" charset="-120"/>
              </a:rPr>
              <a:t>The governance hook validates changes by running your tests. No tests means no automated safety net. The pilot can be a good moment to invest in coverage if it's thin.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FinTechCo</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FAILURE MODES  ·  DESIGNED FOR, NOT AROUND</a:t>
            </a:r>
            <a:endParaRPr lang="en-US" sz="1100" dirty="0"/>
          </a:p>
        </p:txBody>
      </p:sp>
      <p:sp>
        <p:nvSpPr>
          <p:cNvPr id="6" name="Text 4"/>
          <p:cNvSpPr/>
          <p:nvPr/>
        </p:nvSpPr>
        <p:spPr>
          <a:xfrm>
            <a:off x="457200" y="777240"/>
            <a:ext cx="10972800" cy="822960"/>
          </a:xfrm>
          <a:prstGeom prst="rect">
            <a:avLst/>
          </a:prstGeom>
          <a:noFill/>
          <a:ln/>
        </p:spPr>
        <p:txBody>
          <a:bodyPr wrap="square" rtlCol="0" anchor="ctr"/>
          <a:lstStyle/>
          <a:p>
            <a:pPr indent="0" marL="0">
              <a:buNone/>
            </a:pPr>
            <a:r>
              <a:rPr lang="en-US" sz="3400" dirty="0">
                <a:solidFill>
                  <a:srgbClr val="1F1F1E"/>
                </a:solidFill>
                <a:latin typeface="Georgia" pitchFamily="34" charset="0"/>
                <a:ea typeface="Georgia" pitchFamily="34" charset="-122"/>
                <a:cs typeface="Georgia" pitchFamily="34" charset="-120"/>
              </a:rPr>
              <a:t>When things go wrong, here's what happens.</a:t>
            </a:r>
            <a:endParaRPr lang="en-US" sz="3400" dirty="0"/>
          </a:p>
        </p:txBody>
      </p:sp>
      <p:sp>
        <p:nvSpPr>
          <p:cNvPr id="7" name="Text 5"/>
          <p:cNvSpPr/>
          <p:nvPr/>
        </p:nvSpPr>
        <p:spPr>
          <a:xfrm>
            <a:off x="502920" y="1691640"/>
            <a:ext cx="11247120" cy="502920"/>
          </a:xfrm>
          <a:prstGeom prst="rect">
            <a:avLst/>
          </a:prstGeom>
          <a:noFill/>
          <a:ln/>
        </p:spPr>
        <p:txBody>
          <a:bodyPr wrap="square" rtlCol="0" anchor="ctr"/>
          <a:lstStyle/>
          <a:p>
            <a:pPr indent="0" marL="0">
              <a:lnSpc>
                <a:spcPct val="130000"/>
              </a:lnSpc>
              <a:buNone/>
            </a:pPr>
            <a:r>
              <a:rPr lang="en-US" sz="1250" i="1" dirty="0">
                <a:solidFill>
                  <a:srgbClr val="6B6760"/>
                </a:solidFill>
                <a:latin typeface="Calibri" pitchFamily="34" charset="0"/>
                <a:ea typeface="Calibri" pitchFamily="34" charset="-122"/>
                <a:cs typeface="Calibri" pitchFamily="34" charset="-120"/>
              </a:rPr>
              <a:t>Every safety claim in this deck assumes things will sometimes break. Here's the behavior you can expect, and what your on-call engineer sees.</a:t>
            </a:r>
            <a:endParaRPr lang="en-US" sz="1250" dirty="0"/>
          </a:p>
        </p:txBody>
      </p:sp>
      <p:sp>
        <p:nvSpPr>
          <p:cNvPr id="8" name="Shape 6"/>
          <p:cNvSpPr/>
          <p:nvPr/>
        </p:nvSpPr>
        <p:spPr>
          <a:xfrm>
            <a:off x="502920" y="2331720"/>
            <a:ext cx="11247120" cy="713232"/>
          </a:xfrm>
          <a:prstGeom prst="rect">
            <a:avLst/>
          </a:prstGeom>
          <a:solidFill>
            <a:srgbClr val="E8E4D8"/>
          </a:solidFill>
          <a:ln w="9525">
            <a:solidFill>
              <a:srgbClr val="D6D1C4"/>
            </a:solidFill>
            <a:prstDash val="solid"/>
          </a:ln>
        </p:spPr>
      </p:sp>
      <p:sp>
        <p:nvSpPr>
          <p:cNvPr id="9" name="Shape 7"/>
          <p:cNvSpPr/>
          <p:nvPr/>
        </p:nvSpPr>
        <p:spPr>
          <a:xfrm>
            <a:off x="502920" y="2331720"/>
            <a:ext cx="91440" cy="713232"/>
          </a:xfrm>
          <a:prstGeom prst="rect">
            <a:avLst/>
          </a:prstGeom>
          <a:solidFill>
            <a:srgbClr val="CC785C"/>
          </a:solidFill>
          <a:ln w="12700">
            <a:solidFill>
              <a:srgbClr val="CC785C"/>
            </a:solidFill>
            <a:prstDash val="solid"/>
          </a:ln>
        </p:spPr>
      </p:sp>
      <p:sp>
        <p:nvSpPr>
          <p:cNvPr id="10" name="Text 8"/>
          <p:cNvSpPr/>
          <p:nvPr/>
        </p:nvSpPr>
        <p:spPr>
          <a:xfrm>
            <a:off x="777240" y="2404872"/>
            <a:ext cx="731520" cy="228600"/>
          </a:xfrm>
          <a:prstGeom prst="rect">
            <a:avLst/>
          </a:prstGeom>
          <a:noFill/>
          <a:ln/>
        </p:spPr>
        <p:txBody>
          <a:bodyPr wrap="square" rtlCol="0" anchor="ctr"/>
          <a:lstStyle/>
          <a:p>
            <a:pPr indent="0" marL="0">
              <a:buNone/>
            </a:pPr>
            <a:r>
              <a:rPr lang="en-US" sz="850" b="1" spc="200" kern="0" dirty="0">
                <a:solidFill>
                  <a:srgbClr val="CC785C"/>
                </a:solidFill>
                <a:latin typeface="Calibri" pitchFamily="34" charset="0"/>
                <a:ea typeface="Calibri" pitchFamily="34" charset="-122"/>
                <a:cs typeface="Calibri" pitchFamily="34" charset="-120"/>
              </a:rPr>
              <a:t>WHEN</a:t>
            </a:r>
            <a:endParaRPr lang="en-US" sz="850" dirty="0"/>
          </a:p>
        </p:txBody>
      </p:sp>
      <p:sp>
        <p:nvSpPr>
          <p:cNvPr id="11" name="Text 9"/>
          <p:cNvSpPr/>
          <p:nvPr/>
        </p:nvSpPr>
        <p:spPr>
          <a:xfrm>
            <a:off x="1554480" y="2377440"/>
            <a:ext cx="4114800" cy="32004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Claude proposes a wrong fix</a:t>
            </a:r>
            <a:endParaRPr lang="en-US" sz="1200" dirty="0"/>
          </a:p>
        </p:txBody>
      </p:sp>
      <p:sp>
        <p:nvSpPr>
          <p:cNvPr id="12" name="Text 10"/>
          <p:cNvSpPr/>
          <p:nvPr/>
        </p:nvSpPr>
        <p:spPr>
          <a:xfrm>
            <a:off x="777240" y="2715768"/>
            <a:ext cx="731520" cy="228600"/>
          </a:xfrm>
          <a:prstGeom prst="rect">
            <a:avLst/>
          </a:prstGeom>
          <a:noFill/>
          <a:ln/>
        </p:spPr>
        <p:txBody>
          <a:bodyPr wrap="square" rtlCol="0" anchor="ctr"/>
          <a:lstStyle/>
          <a:p>
            <a:pPr indent="0" marL="0">
              <a:buNone/>
            </a:pPr>
            <a:r>
              <a:rPr lang="en-US" sz="850" b="1" spc="200" kern="0" dirty="0">
                <a:solidFill>
                  <a:srgbClr val="6B6760"/>
                </a:solidFill>
                <a:latin typeface="Calibri" pitchFamily="34" charset="0"/>
                <a:ea typeface="Calibri" pitchFamily="34" charset="-122"/>
                <a:cs typeface="Calibri" pitchFamily="34" charset="-120"/>
              </a:rPr>
              <a:t>THEN</a:t>
            </a:r>
            <a:endParaRPr lang="en-US" sz="850" dirty="0"/>
          </a:p>
        </p:txBody>
      </p:sp>
      <p:sp>
        <p:nvSpPr>
          <p:cNvPr id="13" name="Text 11"/>
          <p:cNvSpPr/>
          <p:nvPr/>
        </p:nvSpPr>
        <p:spPr>
          <a:xfrm>
            <a:off x="1554480" y="2679192"/>
            <a:ext cx="9966960" cy="347472"/>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The Safety Gate shows a full diff before anything changes. Engineer declines. Zero side effects. The session transcript captures the miss for your eval loop.</a:t>
            </a:r>
            <a:endParaRPr lang="en-US" sz="1100" dirty="0"/>
          </a:p>
        </p:txBody>
      </p:sp>
      <p:sp>
        <p:nvSpPr>
          <p:cNvPr id="14" name="Shape 12"/>
          <p:cNvSpPr/>
          <p:nvPr/>
        </p:nvSpPr>
        <p:spPr>
          <a:xfrm>
            <a:off x="502920" y="3136392"/>
            <a:ext cx="11247120" cy="713232"/>
          </a:xfrm>
          <a:prstGeom prst="rect">
            <a:avLst/>
          </a:prstGeom>
          <a:solidFill>
            <a:srgbClr val="E8E4D8"/>
          </a:solidFill>
          <a:ln w="9525">
            <a:solidFill>
              <a:srgbClr val="D6D1C4"/>
            </a:solidFill>
            <a:prstDash val="solid"/>
          </a:ln>
        </p:spPr>
      </p:sp>
      <p:sp>
        <p:nvSpPr>
          <p:cNvPr id="15" name="Shape 13"/>
          <p:cNvSpPr/>
          <p:nvPr/>
        </p:nvSpPr>
        <p:spPr>
          <a:xfrm>
            <a:off x="502920" y="3136392"/>
            <a:ext cx="91440" cy="713232"/>
          </a:xfrm>
          <a:prstGeom prst="rect">
            <a:avLst/>
          </a:prstGeom>
          <a:solidFill>
            <a:srgbClr val="CC785C"/>
          </a:solidFill>
          <a:ln w="12700">
            <a:solidFill>
              <a:srgbClr val="CC785C"/>
            </a:solidFill>
            <a:prstDash val="solid"/>
          </a:ln>
        </p:spPr>
      </p:sp>
      <p:sp>
        <p:nvSpPr>
          <p:cNvPr id="16" name="Text 14"/>
          <p:cNvSpPr/>
          <p:nvPr/>
        </p:nvSpPr>
        <p:spPr>
          <a:xfrm>
            <a:off x="777240" y="3209544"/>
            <a:ext cx="731520" cy="228600"/>
          </a:xfrm>
          <a:prstGeom prst="rect">
            <a:avLst/>
          </a:prstGeom>
          <a:noFill/>
          <a:ln/>
        </p:spPr>
        <p:txBody>
          <a:bodyPr wrap="square" rtlCol="0" anchor="ctr"/>
          <a:lstStyle/>
          <a:p>
            <a:pPr indent="0" marL="0">
              <a:buNone/>
            </a:pPr>
            <a:r>
              <a:rPr lang="en-US" sz="850" b="1" spc="200" kern="0" dirty="0">
                <a:solidFill>
                  <a:srgbClr val="CC785C"/>
                </a:solidFill>
                <a:latin typeface="Calibri" pitchFamily="34" charset="0"/>
                <a:ea typeface="Calibri" pitchFamily="34" charset="-122"/>
                <a:cs typeface="Calibri" pitchFamily="34" charset="-120"/>
              </a:rPr>
              <a:t>WHEN</a:t>
            </a:r>
            <a:endParaRPr lang="en-US" sz="850" dirty="0"/>
          </a:p>
        </p:txBody>
      </p:sp>
      <p:sp>
        <p:nvSpPr>
          <p:cNvPr id="17" name="Text 15"/>
          <p:cNvSpPr/>
          <p:nvPr/>
        </p:nvSpPr>
        <p:spPr>
          <a:xfrm>
            <a:off x="1554480" y="3182112"/>
            <a:ext cx="4114800" cy="32004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CLAUDE.md is incomplete or ambiguous</a:t>
            </a:r>
            <a:endParaRPr lang="en-US" sz="1200" dirty="0"/>
          </a:p>
        </p:txBody>
      </p:sp>
      <p:sp>
        <p:nvSpPr>
          <p:cNvPr id="18" name="Text 16"/>
          <p:cNvSpPr/>
          <p:nvPr/>
        </p:nvSpPr>
        <p:spPr>
          <a:xfrm>
            <a:off x="777240" y="3520440"/>
            <a:ext cx="731520" cy="228600"/>
          </a:xfrm>
          <a:prstGeom prst="rect">
            <a:avLst/>
          </a:prstGeom>
          <a:noFill/>
          <a:ln/>
        </p:spPr>
        <p:txBody>
          <a:bodyPr wrap="square" rtlCol="0" anchor="ctr"/>
          <a:lstStyle/>
          <a:p>
            <a:pPr indent="0" marL="0">
              <a:buNone/>
            </a:pPr>
            <a:r>
              <a:rPr lang="en-US" sz="850" b="1" spc="200" kern="0" dirty="0">
                <a:solidFill>
                  <a:srgbClr val="6B6760"/>
                </a:solidFill>
                <a:latin typeface="Calibri" pitchFamily="34" charset="0"/>
                <a:ea typeface="Calibri" pitchFamily="34" charset="-122"/>
                <a:cs typeface="Calibri" pitchFamily="34" charset="-120"/>
              </a:rPr>
              <a:t>THEN</a:t>
            </a:r>
            <a:endParaRPr lang="en-US" sz="850" dirty="0"/>
          </a:p>
        </p:txBody>
      </p:sp>
      <p:sp>
        <p:nvSpPr>
          <p:cNvPr id="19" name="Text 17"/>
          <p:cNvSpPr/>
          <p:nvPr/>
        </p:nvSpPr>
        <p:spPr>
          <a:xfrm>
            <a:off x="1554480" y="3483864"/>
            <a:ext cx="9966960" cy="347472"/>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Claude falls back to conservative defaults and flags the gap in its plan. Engineer sees the assumption and can amend the policy file in the same PR.</a:t>
            </a:r>
            <a:endParaRPr lang="en-US" sz="1100" dirty="0"/>
          </a:p>
        </p:txBody>
      </p:sp>
      <p:sp>
        <p:nvSpPr>
          <p:cNvPr id="20" name="Shape 18"/>
          <p:cNvSpPr/>
          <p:nvPr/>
        </p:nvSpPr>
        <p:spPr>
          <a:xfrm>
            <a:off x="502920" y="3941064"/>
            <a:ext cx="11247120" cy="713232"/>
          </a:xfrm>
          <a:prstGeom prst="rect">
            <a:avLst/>
          </a:prstGeom>
          <a:solidFill>
            <a:srgbClr val="E8E4D8"/>
          </a:solidFill>
          <a:ln w="9525">
            <a:solidFill>
              <a:srgbClr val="D6D1C4"/>
            </a:solidFill>
            <a:prstDash val="solid"/>
          </a:ln>
        </p:spPr>
      </p:sp>
      <p:sp>
        <p:nvSpPr>
          <p:cNvPr id="21" name="Shape 19"/>
          <p:cNvSpPr/>
          <p:nvPr/>
        </p:nvSpPr>
        <p:spPr>
          <a:xfrm>
            <a:off x="502920" y="3941064"/>
            <a:ext cx="91440" cy="713232"/>
          </a:xfrm>
          <a:prstGeom prst="rect">
            <a:avLst/>
          </a:prstGeom>
          <a:solidFill>
            <a:srgbClr val="CC785C"/>
          </a:solidFill>
          <a:ln w="12700">
            <a:solidFill>
              <a:srgbClr val="CC785C"/>
            </a:solidFill>
            <a:prstDash val="solid"/>
          </a:ln>
        </p:spPr>
      </p:sp>
      <p:sp>
        <p:nvSpPr>
          <p:cNvPr id="22" name="Text 20"/>
          <p:cNvSpPr/>
          <p:nvPr/>
        </p:nvSpPr>
        <p:spPr>
          <a:xfrm>
            <a:off x="777240" y="4014216"/>
            <a:ext cx="731520" cy="228600"/>
          </a:xfrm>
          <a:prstGeom prst="rect">
            <a:avLst/>
          </a:prstGeom>
          <a:noFill/>
          <a:ln/>
        </p:spPr>
        <p:txBody>
          <a:bodyPr wrap="square" rtlCol="0" anchor="ctr"/>
          <a:lstStyle/>
          <a:p>
            <a:pPr indent="0" marL="0">
              <a:buNone/>
            </a:pPr>
            <a:r>
              <a:rPr lang="en-US" sz="850" b="1" spc="200" kern="0" dirty="0">
                <a:solidFill>
                  <a:srgbClr val="CC785C"/>
                </a:solidFill>
                <a:latin typeface="Calibri" pitchFamily="34" charset="0"/>
                <a:ea typeface="Calibri" pitchFamily="34" charset="-122"/>
                <a:cs typeface="Calibri" pitchFamily="34" charset="-120"/>
              </a:rPr>
              <a:t>WHEN</a:t>
            </a:r>
            <a:endParaRPr lang="en-US" sz="850" dirty="0"/>
          </a:p>
        </p:txBody>
      </p:sp>
      <p:sp>
        <p:nvSpPr>
          <p:cNvPr id="23" name="Text 21"/>
          <p:cNvSpPr/>
          <p:nvPr/>
        </p:nvSpPr>
        <p:spPr>
          <a:xfrm>
            <a:off x="1554480" y="3986784"/>
            <a:ext cx="4114800" cy="32004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The test suite is thin or missing</a:t>
            </a:r>
            <a:endParaRPr lang="en-US" sz="1200" dirty="0"/>
          </a:p>
        </p:txBody>
      </p:sp>
      <p:sp>
        <p:nvSpPr>
          <p:cNvPr id="24" name="Text 22"/>
          <p:cNvSpPr/>
          <p:nvPr/>
        </p:nvSpPr>
        <p:spPr>
          <a:xfrm>
            <a:off x="777240" y="4325112"/>
            <a:ext cx="731520" cy="228600"/>
          </a:xfrm>
          <a:prstGeom prst="rect">
            <a:avLst/>
          </a:prstGeom>
          <a:noFill/>
          <a:ln/>
        </p:spPr>
        <p:txBody>
          <a:bodyPr wrap="square" rtlCol="0" anchor="ctr"/>
          <a:lstStyle/>
          <a:p>
            <a:pPr indent="0" marL="0">
              <a:buNone/>
            </a:pPr>
            <a:r>
              <a:rPr lang="en-US" sz="850" b="1" spc="200" kern="0" dirty="0">
                <a:solidFill>
                  <a:srgbClr val="6B6760"/>
                </a:solidFill>
                <a:latin typeface="Calibri" pitchFamily="34" charset="0"/>
                <a:ea typeface="Calibri" pitchFamily="34" charset="-122"/>
                <a:cs typeface="Calibri" pitchFamily="34" charset="-120"/>
              </a:rPr>
              <a:t>THEN</a:t>
            </a:r>
            <a:endParaRPr lang="en-US" sz="850" dirty="0"/>
          </a:p>
        </p:txBody>
      </p:sp>
      <p:sp>
        <p:nvSpPr>
          <p:cNvPr id="25" name="Text 23"/>
          <p:cNvSpPr/>
          <p:nvPr/>
        </p:nvSpPr>
        <p:spPr>
          <a:xfrm>
            <a:off x="1554480" y="4288536"/>
            <a:ext cx="9966960" cy="347472"/>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The governance hook reports "no coverage for this change" rather than silently passing. Your pilot can scope coverage investment as part of phase two.</a:t>
            </a:r>
            <a:endParaRPr lang="en-US" sz="1100" dirty="0"/>
          </a:p>
        </p:txBody>
      </p:sp>
      <p:sp>
        <p:nvSpPr>
          <p:cNvPr id="26" name="Shape 24"/>
          <p:cNvSpPr/>
          <p:nvPr/>
        </p:nvSpPr>
        <p:spPr>
          <a:xfrm>
            <a:off x="502920" y="4745736"/>
            <a:ext cx="11247120" cy="713232"/>
          </a:xfrm>
          <a:prstGeom prst="rect">
            <a:avLst/>
          </a:prstGeom>
          <a:solidFill>
            <a:srgbClr val="E8E4D8"/>
          </a:solidFill>
          <a:ln w="9525">
            <a:solidFill>
              <a:srgbClr val="D6D1C4"/>
            </a:solidFill>
            <a:prstDash val="solid"/>
          </a:ln>
        </p:spPr>
      </p:sp>
      <p:sp>
        <p:nvSpPr>
          <p:cNvPr id="27" name="Shape 25"/>
          <p:cNvSpPr/>
          <p:nvPr/>
        </p:nvSpPr>
        <p:spPr>
          <a:xfrm>
            <a:off x="502920" y="4745736"/>
            <a:ext cx="91440" cy="713232"/>
          </a:xfrm>
          <a:prstGeom prst="rect">
            <a:avLst/>
          </a:prstGeom>
          <a:solidFill>
            <a:srgbClr val="CC785C"/>
          </a:solidFill>
          <a:ln w="12700">
            <a:solidFill>
              <a:srgbClr val="CC785C"/>
            </a:solidFill>
            <a:prstDash val="solid"/>
          </a:ln>
        </p:spPr>
      </p:sp>
      <p:sp>
        <p:nvSpPr>
          <p:cNvPr id="28" name="Text 26"/>
          <p:cNvSpPr/>
          <p:nvPr/>
        </p:nvSpPr>
        <p:spPr>
          <a:xfrm>
            <a:off x="777240" y="4818888"/>
            <a:ext cx="731520" cy="228600"/>
          </a:xfrm>
          <a:prstGeom prst="rect">
            <a:avLst/>
          </a:prstGeom>
          <a:noFill/>
          <a:ln/>
        </p:spPr>
        <p:txBody>
          <a:bodyPr wrap="square" rtlCol="0" anchor="ctr"/>
          <a:lstStyle/>
          <a:p>
            <a:pPr indent="0" marL="0">
              <a:buNone/>
            </a:pPr>
            <a:r>
              <a:rPr lang="en-US" sz="850" b="1" spc="200" kern="0" dirty="0">
                <a:solidFill>
                  <a:srgbClr val="CC785C"/>
                </a:solidFill>
                <a:latin typeface="Calibri" pitchFamily="34" charset="0"/>
                <a:ea typeface="Calibri" pitchFamily="34" charset="-122"/>
                <a:cs typeface="Calibri" pitchFamily="34" charset="-120"/>
              </a:rPr>
              <a:t>WHEN</a:t>
            </a:r>
            <a:endParaRPr lang="en-US" sz="850" dirty="0"/>
          </a:p>
        </p:txBody>
      </p:sp>
      <p:sp>
        <p:nvSpPr>
          <p:cNvPr id="29" name="Text 27"/>
          <p:cNvSpPr/>
          <p:nvPr/>
        </p:nvSpPr>
        <p:spPr>
          <a:xfrm>
            <a:off x="1554480" y="4791456"/>
            <a:ext cx="4114800" cy="32004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Engineer disagrees with a proposed change</a:t>
            </a:r>
            <a:endParaRPr lang="en-US" sz="1200" dirty="0"/>
          </a:p>
        </p:txBody>
      </p:sp>
      <p:sp>
        <p:nvSpPr>
          <p:cNvPr id="30" name="Text 28"/>
          <p:cNvSpPr/>
          <p:nvPr/>
        </p:nvSpPr>
        <p:spPr>
          <a:xfrm>
            <a:off x="777240" y="5129784"/>
            <a:ext cx="731520" cy="228600"/>
          </a:xfrm>
          <a:prstGeom prst="rect">
            <a:avLst/>
          </a:prstGeom>
          <a:noFill/>
          <a:ln/>
        </p:spPr>
        <p:txBody>
          <a:bodyPr wrap="square" rtlCol="0" anchor="ctr"/>
          <a:lstStyle/>
          <a:p>
            <a:pPr indent="0" marL="0">
              <a:buNone/>
            </a:pPr>
            <a:r>
              <a:rPr lang="en-US" sz="850" b="1" spc="200" kern="0" dirty="0">
                <a:solidFill>
                  <a:srgbClr val="6B6760"/>
                </a:solidFill>
                <a:latin typeface="Calibri" pitchFamily="34" charset="0"/>
                <a:ea typeface="Calibri" pitchFamily="34" charset="-122"/>
                <a:cs typeface="Calibri" pitchFamily="34" charset="-120"/>
              </a:rPr>
              <a:t>THEN</a:t>
            </a:r>
            <a:endParaRPr lang="en-US" sz="850" dirty="0"/>
          </a:p>
        </p:txBody>
      </p:sp>
      <p:sp>
        <p:nvSpPr>
          <p:cNvPr id="31" name="Text 29"/>
          <p:cNvSpPr/>
          <p:nvPr/>
        </p:nvSpPr>
        <p:spPr>
          <a:xfrm>
            <a:off x="1554480" y="5093208"/>
            <a:ext cx="9966960" cy="347472"/>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Decline is the default action. No commit, no artifact, no partial state. The session ends clean.</a:t>
            </a:r>
            <a:endParaRPr lang="en-US" sz="1100" dirty="0"/>
          </a:p>
        </p:txBody>
      </p:sp>
      <p:sp>
        <p:nvSpPr>
          <p:cNvPr id="32" name="Shape 30"/>
          <p:cNvSpPr/>
          <p:nvPr/>
        </p:nvSpPr>
        <p:spPr>
          <a:xfrm>
            <a:off x="502920" y="5550408"/>
            <a:ext cx="11247120" cy="713232"/>
          </a:xfrm>
          <a:prstGeom prst="rect">
            <a:avLst/>
          </a:prstGeom>
          <a:solidFill>
            <a:srgbClr val="E8E4D8"/>
          </a:solidFill>
          <a:ln w="9525">
            <a:solidFill>
              <a:srgbClr val="D6D1C4"/>
            </a:solidFill>
            <a:prstDash val="solid"/>
          </a:ln>
        </p:spPr>
      </p:sp>
      <p:sp>
        <p:nvSpPr>
          <p:cNvPr id="33" name="Shape 31"/>
          <p:cNvSpPr/>
          <p:nvPr/>
        </p:nvSpPr>
        <p:spPr>
          <a:xfrm>
            <a:off x="502920" y="5550408"/>
            <a:ext cx="91440" cy="713232"/>
          </a:xfrm>
          <a:prstGeom prst="rect">
            <a:avLst/>
          </a:prstGeom>
          <a:solidFill>
            <a:srgbClr val="CC785C"/>
          </a:solidFill>
          <a:ln w="12700">
            <a:solidFill>
              <a:srgbClr val="CC785C"/>
            </a:solidFill>
            <a:prstDash val="solid"/>
          </a:ln>
        </p:spPr>
      </p:sp>
      <p:sp>
        <p:nvSpPr>
          <p:cNvPr id="34" name="Text 32"/>
          <p:cNvSpPr/>
          <p:nvPr/>
        </p:nvSpPr>
        <p:spPr>
          <a:xfrm>
            <a:off x="777240" y="5623560"/>
            <a:ext cx="731520" cy="228600"/>
          </a:xfrm>
          <a:prstGeom prst="rect">
            <a:avLst/>
          </a:prstGeom>
          <a:noFill/>
          <a:ln/>
        </p:spPr>
        <p:txBody>
          <a:bodyPr wrap="square" rtlCol="0" anchor="ctr"/>
          <a:lstStyle/>
          <a:p>
            <a:pPr indent="0" marL="0">
              <a:buNone/>
            </a:pPr>
            <a:r>
              <a:rPr lang="en-US" sz="850" b="1" spc="200" kern="0" dirty="0">
                <a:solidFill>
                  <a:srgbClr val="CC785C"/>
                </a:solidFill>
                <a:latin typeface="Calibri" pitchFamily="34" charset="0"/>
                <a:ea typeface="Calibri" pitchFamily="34" charset="-122"/>
                <a:cs typeface="Calibri" pitchFamily="34" charset="-120"/>
              </a:rPr>
              <a:t>WHEN</a:t>
            </a:r>
            <a:endParaRPr lang="en-US" sz="850" dirty="0"/>
          </a:p>
        </p:txBody>
      </p:sp>
      <p:sp>
        <p:nvSpPr>
          <p:cNvPr id="35" name="Text 33"/>
          <p:cNvSpPr/>
          <p:nvPr/>
        </p:nvSpPr>
        <p:spPr>
          <a:xfrm>
            <a:off x="1554480" y="5596128"/>
            <a:ext cx="4114800" cy="32004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api.anthropic.com is unreachable</a:t>
            </a:r>
            <a:endParaRPr lang="en-US" sz="1200" dirty="0"/>
          </a:p>
        </p:txBody>
      </p:sp>
      <p:sp>
        <p:nvSpPr>
          <p:cNvPr id="36" name="Text 34"/>
          <p:cNvSpPr/>
          <p:nvPr/>
        </p:nvSpPr>
        <p:spPr>
          <a:xfrm>
            <a:off x="777240" y="5934456"/>
            <a:ext cx="731520" cy="228600"/>
          </a:xfrm>
          <a:prstGeom prst="rect">
            <a:avLst/>
          </a:prstGeom>
          <a:noFill/>
          <a:ln/>
        </p:spPr>
        <p:txBody>
          <a:bodyPr wrap="square" rtlCol="0" anchor="ctr"/>
          <a:lstStyle/>
          <a:p>
            <a:pPr indent="0" marL="0">
              <a:buNone/>
            </a:pPr>
            <a:r>
              <a:rPr lang="en-US" sz="850" b="1" spc="200" kern="0" dirty="0">
                <a:solidFill>
                  <a:srgbClr val="6B6760"/>
                </a:solidFill>
                <a:latin typeface="Calibri" pitchFamily="34" charset="0"/>
                <a:ea typeface="Calibri" pitchFamily="34" charset="-122"/>
                <a:cs typeface="Calibri" pitchFamily="34" charset="-120"/>
              </a:rPr>
              <a:t>THEN</a:t>
            </a:r>
            <a:endParaRPr lang="en-US" sz="850" dirty="0"/>
          </a:p>
        </p:txBody>
      </p:sp>
      <p:sp>
        <p:nvSpPr>
          <p:cNvPr id="37" name="Text 35"/>
          <p:cNvSpPr/>
          <p:nvPr/>
        </p:nvSpPr>
        <p:spPr>
          <a:xfrm>
            <a:off x="1554480" y="5897880"/>
            <a:ext cx="9966960" cy="347472"/>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The CLI degrades to read-only. Engineers can still inspect CLAUDE.md, read the codebase, and prepare context. Writes resume automatically when the connection returns.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EEE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EEE6"/>
          </a:solidFill>
          <a:ln w="12700">
            <a:solidFill>
              <a:srgbClr val="F0EEE6"/>
            </a:solidFill>
            <a:prstDash val="solid"/>
          </a:ln>
        </p:spPr>
      </p:sp>
      <p:sp>
        <p:nvSpPr>
          <p:cNvPr id="3" name="Shape 1"/>
          <p:cNvSpPr/>
          <p:nvPr/>
        </p:nvSpPr>
        <p:spPr>
          <a:xfrm>
            <a:off x="0" y="0"/>
            <a:ext cx="548640" cy="6858000"/>
          </a:xfrm>
          <a:prstGeom prst="rect">
            <a:avLst/>
          </a:prstGeom>
          <a:solidFill>
            <a:srgbClr val="CC785C"/>
          </a:solidFill>
          <a:ln w="12700">
            <a:solidFill>
              <a:srgbClr val="CC785C"/>
            </a:solidFill>
            <a:prstDash val="solid"/>
          </a:ln>
        </p:spPr>
      </p:sp>
      <p:sp>
        <p:nvSpPr>
          <p:cNvPr id="4" name="Text 2"/>
          <p:cNvSpPr/>
          <p:nvPr/>
        </p:nvSpPr>
        <p:spPr>
          <a:xfrm>
            <a:off x="1097280" y="822960"/>
            <a:ext cx="10972800" cy="365760"/>
          </a:xfrm>
          <a:prstGeom prst="rect">
            <a:avLst/>
          </a:prstGeom>
          <a:noFill/>
          <a:ln/>
        </p:spPr>
        <p:txBody>
          <a:bodyPr wrap="square" rtlCol="0" anchor="ctr"/>
          <a:lstStyle/>
          <a:p>
            <a:pPr indent="0" marL="0">
              <a:buNone/>
            </a:pPr>
            <a:r>
              <a:rPr lang="en-US" sz="1200" b="1" spc="300" kern="0" dirty="0">
                <a:solidFill>
                  <a:srgbClr val="CC785C"/>
                </a:solidFill>
                <a:latin typeface="Calibri" pitchFamily="34" charset="0"/>
                <a:ea typeface="Calibri" pitchFamily="34" charset="-122"/>
                <a:cs typeface="Calibri" pitchFamily="34" charset="-120"/>
              </a:rPr>
              <a:t>THANK YOU</a:t>
            </a:r>
            <a:endParaRPr lang="en-US" sz="1200" dirty="0"/>
          </a:p>
        </p:txBody>
      </p:sp>
      <p:sp>
        <p:nvSpPr>
          <p:cNvPr id="5" name="Text 3"/>
          <p:cNvSpPr/>
          <p:nvPr/>
        </p:nvSpPr>
        <p:spPr>
          <a:xfrm>
            <a:off x="1097280" y="1280160"/>
            <a:ext cx="10972800" cy="1097280"/>
          </a:xfrm>
          <a:prstGeom prst="rect">
            <a:avLst/>
          </a:prstGeom>
          <a:noFill/>
          <a:ln/>
        </p:spPr>
        <p:txBody>
          <a:bodyPr wrap="square" rtlCol="0" anchor="ctr"/>
          <a:lstStyle/>
          <a:p>
            <a:pPr indent="0" marL="0">
              <a:buNone/>
            </a:pPr>
            <a:r>
              <a:rPr lang="en-US" sz="5400" dirty="0">
                <a:solidFill>
                  <a:srgbClr val="1F1F1E"/>
                </a:solidFill>
                <a:latin typeface="Georgia" pitchFamily="34" charset="0"/>
                <a:ea typeface="Georgia" pitchFamily="34" charset="-122"/>
                <a:cs typeface="Georgia" pitchFamily="34" charset="-120"/>
              </a:rPr>
              <a:t>Let's build the pilot together.</a:t>
            </a:r>
            <a:endParaRPr lang="en-US" sz="5400" dirty="0"/>
          </a:p>
        </p:txBody>
      </p:sp>
      <p:sp>
        <p:nvSpPr>
          <p:cNvPr id="6" name="Text 4"/>
          <p:cNvSpPr/>
          <p:nvPr/>
        </p:nvSpPr>
        <p:spPr>
          <a:xfrm>
            <a:off x="1097280" y="2651760"/>
            <a:ext cx="10515600" cy="1280160"/>
          </a:xfrm>
          <a:prstGeom prst="rect">
            <a:avLst/>
          </a:prstGeom>
          <a:noFill/>
          <a:ln/>
        </p:spPr>
        <p:txBody>
          <a:bodyPr wrap="square" rtlCol="0" anchor="ctr"/>
          <a:lstStyle/>
          <a:p>
            <a:pPr indent="0" marL="0">
              <a:lnSpc>
                <a:spcPct val="130000"/>
              </a:lnSpc>
              <a:buNone/>
            </a:pPr>
            <a:r>
              <a:rPr lang="en-US" sz="2000" i="1" dirty="0">
                <a:solidFill>
                  <a:srgbClr val="1F1F1E"/>
                </a:solidFill>
                <a:latin typeface="Calibri" pitchFamily="34" charset="0"/>
                <a:ea typeface="Calibri" pitchFamily="34" charset="-122"/>
                <a:cs typeface="Calibri" pitchFamily="34" charset="-120"/>
              </a:rPr>
              <a:t>I'd rather end on a name and a date than a thank-you.</a:t>
            </a:r>
            <a:endParaRPr lang="en-US" sz="2000" dirty="0"/>
          </a:p>
          <a:p>
            <a:pPr indent="0" marL="0">
              <a:lnSpc>
                <a:spcPct val="130000"/>
              </a:lnSpc>
              <a:buNone/>
            </a:pPr>
            <a:r>
              <a:rPr lang="en-US" sz="2000" i="1" dirty="0">
                <a:solidFill>
                  <a:srgbClr val="1F1F1E"/>
                </a:solidFill>
                <a:latin typeface="Calibri" pitchFamily="34" charset="0"/>
                <a:ea typeface="Calibri" pitchFamily="34" charset="-122"/>
                <a:cs typeface="Calibri" pitchFamily="34" charset="-120"/>
              </a:rPr>
              <a:t>So, who on your side is the natural owner?</a:t>
            </a:r>
            <a:endParaRPr lang="en-US" sz="2000" dirty="0"/>
          </a:p>
        </p:txBody>
      </p:sp>
      <p:sp>
        <p:nvSpPr>
          <p:cNvPr id="7" name="Shape 5"/>
          <p:cNvSpPr/>
          <p:nvPr/>
        </p:nvSpPr>
        <p:spPr>
          <a:xfrm>
            <a:off x="1097280" y="4937760"/>
            <a:ext cx="2743200" cy="0"/>
          </a:xfrm>
          <a:prstGeom prst="line">
            <a:avLst/>
          </a:prstGeom>
          <a:noFill/>
          <a:ln w="25400">
            <a:solidFill>
              <a:srgbClr val="CC785C"/>
            </a:solidFill>
            <a:prstDash val="solid"/>
          </a:ln>
        </p:spPr>
      </p:sp>
      <p:sp>
        <p:nvSpPr>
          <p:cNvPr id="8" name="Text 6"/>
          <p:cNvSpPr/>
          <p:nvPr/>
        </p:nvSpPr>
        <p:spPr>
          <a:xfrm>
            <a:off x="1097280" y="5074920"/>
            <a:ext cx="5486400" cy="320040"/>
          </a:xfrm>
          <a:prstGeom prst="rect">
            <a:avLst/>
          </a:prstGeom>
          <a:noFill/>
          <a:ln/>
        </p:spPr>
        <p:txBody>
          <a:bodyPr wrap="square" rtlCol="0" anchor="ctr"/>
          <a:lstStyle/>
          <a:p>
            <a:pPr indent="0" marL="0">
              <a:buNone/>
            </a:pPr>
            <a:r>
              <a:rPr lang="en-US" sz="1600" b="1" dirty="0">
                <a:solidFill>
                  <a:srgbClr val="1F1F1E"/>
                </a:solidFill>
                <a:latin typeface="Calibri" pitchFamily="34" charset="0"/>
                <a:ea typeface="Calibri" pitchFamily="34" charset="-122"/>
                <a:cs typeface="Calibri" pitchFamily="34" charset="-120"/>
              </a:rPr>
              <a:t>Holden Ottolini</a:t>
            </a:r>
            <a:endParaRPr lang="en-US" sz="1600" dirty="0"/>
          </a:p>
        </p:txBody>
      </p:sp>
      <p:sp>
        <p:nvSpPr>
          <p:cNvPr id="9" name="Text 7"/>
          <p:cNvSpPr/>
          <p:nvPr/>
        </p:nvSpPr>
        <p:spPr>
          <a:xfrm>
            <a:off x="1097280" y="5394960"/>
            <a:ext cx="5486400" cy="274320"/>
          </a:xfrm>
          <a:prstGeom prst="rect">
            <a:avLst/>
          </a:prstGeom>
          <a:noFill/>
          <a:ln/>
        </p:spPr>
        <p:txBody>
          <a:bodyPr wrap="square" rtlCol="0" anchor="ctr"/>
          <a:lstStyle/>
          <a:p>
            <a:pPr indent="0" marL="0">
              <a:buNone/>
            </a:pPr>
            <a:r>
              <a:rPr lang="en-US" sz="1200" dirty="0">
                <a:solidFill>
                  <a:srgbClr val="6B6760"/>
                </a:solidFill>
                <a:latin typeface="Calibri" pitchFamily="34" charset="0"/>
                <a:ea typeface="Calibri" pitchFamily="34" charset="-122"/>
                <a:cs typeface="Calibri" pitchFamily="34" charset="-120"/>
              </a:rPr>
              <a:t>Solutions Engineering  ·  Anthropic</a:t>
            </a:r>
            <a:endParaRPr lang="en-US" sz="1200" dirty="0"/>
          </a:p>
        </p:txBody>
      </p:sp>
      <p:sp>
        <p:nvSpPr>
          <p:cNvPr id="10" name="Text 8"/>
          <p:cNvSpPr/>
          <p:nvPr/>
        </p:nvSpPr>
        <p:spPr>
          <a:xfrm>
            <a:off x="1097280" y="5669280"/>
            <a:ext cx="5486400" cy="274320"/>
          </a:xfrm>
          <a:prstGeom prst="rect">
            <a:avLst/>
          </a:prstGeom>
          <a:noFill/>
          <a:ln/>
        </p:spPr>
        <p:txBody>
          <a:bodyPr wrap="square" rtlCol="0" anchor="ctr"/>
          <a:lstStyle/>
          <a:p>
            <a:pPr indent="0" marL="0">
              <a:buNone/>
            </a:pPr>
            <a:r>
              <a:rPr lang="en-US" sz="1200" dirty="0">
                <a:solidFill>
                  <a:srgbClr val="6B6760"/>
                </a:solidFill>
                <a:latin typeface="Calibri" pitchFamily="34" charset="0"/>
                <a:ea typeface="Calibri" pitchFamily="34" charset="-122"/>
                <a:cs typeface="Calibri" pitchFamily="34" charset="-120"/>
              </a:rPr>
              <a:t>holdenstirling@gmail.com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2026-04-14T15:02:41Z</dcterms:created>
  <dcterms:modified xsi:type="dcterms:W3CDTF">2026-04-14T15:02:41Z</dcterms:modified>
</cp:coreProperties>
</file>