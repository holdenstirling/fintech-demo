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Solutioning  ·  Case study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Holden Ottolini  ·  Anthropic SA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164592" cy="164592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THE CHALLENGE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F1F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$140K single-site rebuild that became a global digital estate.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11247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2023: a subsidiary of a Fortune 500 building-systems manufacturer engaged Arc4 for one consumer-facing site rebuild. $140K scope, one property, one stakeholder on kickoff. By month three it was clear the real engagement was a multi-BU, multi-country digital estate with five stakeholder groups who did not agree on the outcome.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880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STAKEHOLDER GROUPS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3246120"/>
            <a:ext cx="73152" cy="50292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2644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BU (US)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54680" y="329184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SOW. COMMERCIAL CHAMPION.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840480"/>
            <a:ext cx="73152" cy="50292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85876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Solutions BU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54680" y="38862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B2B. Different data model entirely.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4434840"/>
            <a:ext cx="73152" cy="50292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45312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Adjacent Brand BU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154680" y="44805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Sister portfolio. Same platform, own GTM.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5029200"/>
            <a:ext cx="73152" cy="50292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504748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of Record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154680" y="507492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counterparty. Owned the retainer.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5623560"/>
            <a:ext cx="73152" cy="50292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56418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Corporate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154680" y="566928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gate. TECHNICAL CHAMPION.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09360" y="2880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ACTUALLY BROKEN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09360" y="32461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data estate.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309360" y="35204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properties, 4 CMS platforms, inconsistent schemas. No source of truth.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09360" y="39593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Non-technical ops team.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309360" y="4233672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ops ran content. No appetite for Git, headless previews, React.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09360" y="467258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Cross-locale SEO debt.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309360" y="4946904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per-country routing (hreflang), missing page metadata, 6 countries.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09360" y="5385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deployment discipline.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309360" y="5660136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Local-machine deploys. No env parity, no rollback, no audit trail.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Solutioning  ·  Case study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Holden Ottolini  ·  Anthropic SA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164592" cy="164592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THE SOLUTION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F1F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graph, two runtimes: frontend + AI search.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178308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1783080"/>
            <a:ext cx="15636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SYSTEMS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12648" y="2075688"/>
            <a:ext cx="15636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b="1" i="1" spc="100" kern="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· 4 systems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30936" y="2468880"/>
            <a:ext cx="1527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PIM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30936" y="2834640"/>
            <a:ext cx="1527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DAM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30936" y="3200400"/>
            <a:ext cx="1527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Support corpus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30936" y="3566160"/>
            <a:ext cx="1527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Legacy CMS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331720" y="3017520"/>
            <a:ext cx="365760" cy="0"/>
          </a:xfrm>
          <a:prstGeom prst="line">
            <a:avLst/>
          </a:prstGeom>
          <a:noFill/>
          <a:ln w="25400">
            <a:solidFill>
              <a:srgbClr val="CC785C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1965960" y="2724912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spc="100" kern="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743200" y="1691640"/>
            <a:ext cx="2194560" cy="2697480"/>
          </a:xfrm>
          <a:prstGeom prst="rect">
            <a:avLst/>
          </a:prstGeom>
          <a:solidFill>
            <a:srgbClr val="CC785C"/>
          </a:solidFill>
          <a:ln w="19050">
            <a:solidFill>
              <a:srgbClr val="A85A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52928" y="1783080"/>
            <a:ext cx="19751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GRAPH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852928" y="2075688"/>
            <a:ext cx="19751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b="1" i="1" spc="100" kern="0" dirty="0">
                <a:solidFill>
                  <a:srgbClr val="E8E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source of truth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871216" y="2468880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Typed catalog (Products, SKUs, Articles)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871216" y="2834640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Versioned schema (changes = PRs)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871216" y="3200400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Dedupe across regions (IDR)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871216" y="3566160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One graph, many brands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937760" y="2331720"/>
            <a:ext cx="411480" cy="0"/>
          </a:xfrm>
          <a:prstGeom prst="line">
            <a:avLst/>
          </a:prstGeom>
          <a:noFill/>
          <a:ln w="25400">
            <a:solidFill>
              <a:srgbClr val="CC785C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937760" y="3749040"/>
            <a:ext cx="411480" cy="0"/>
          </a:xfrm>
          <a:prstGeom prst="line">
            <a:avLst/>
          </a:prstGeom>
          <a:noFill/>
          <a:ln w="25400">
            <a:solidFill>
              <a:srgbClr val="CC785C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4892040" y="2926080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spc="100" kern="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349240" y="1691640"/>
            <a:ext cx="21945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58968" y="1783080"/>
            <a:ext cx="19751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FRONTEND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58968" y="2075688"/>
            <a:ext cx="19751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b="1" i="1" spc="100" kern="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pages per country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477256" y="2313432"/>
            <a:ext cx="193852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Per-country pages (i18n · hreflang)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477256" y="2523744"/>
            <a:ext cx="193852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Machine-readable metadata (JSON-LD)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477256" y="2734056"/>
            <a:ext cx="193852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Ops team publishes without devs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349240" y="3108960"/>
            <a:ext cx="21945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58968" y="3200400"/>
            <a:ext cx="19751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SEARCH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58968" y="3493008"/>
            <a:ext cx="19751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b="1" i="1" spc="100" kern="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intent · finds · ranks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477256" y="3730752"/>
            <a:ext cx="193852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Parses what the user meant (NLU)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477256" y="3941064"/>
            <a:ext cx="193852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Finds the right entity, not keywords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477256" y="4151376"/>
            <a:ext cx="193852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Clean output for LLM / RAG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543800" y="2331720"/>
            <a:ext cx="365760" cy="0"/>
          </a:xfrm>
          <a:prstGeom prst="line">
            <a:avLst/>
          </a:prstGeom>
          <a:noFill/>
          <a:ln w="25400">
            <a:solidFill>
              <a:srgbClr val="CC785C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7543800" y="3749040"/>
            <a:ext cx="365760" cy="0"/>
          </a:xfrm>
          <a:prstGeom prst="line">
            <a:avLst/>
          </a:prstGeom>
          <a:noFill/>
          <a:ln w="25400">
            <a:solidFill>
              <a:srgbClr val="CC785C"/>
            </a:solidFill>
            <a:prstDash val="solid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7498080" y="2926080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spc="100" kern="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909560" y="1691640"/>
            <a:ext cx="114300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019288" y="1783080"/>
            <a:ext cx="9235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019288" y="2075688"/>
            <a:ext cx="9235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b="1" i="1" spc="100" kern="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graph,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b="1" i="1" spc="100" kern="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channels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8037576" y="2468880"/>
            <a:ext cx="886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On-site search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037576" y="2834640"/>
            <a:ext cx="886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Google (SEO)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037576" y="3200400"/>
            <a:ext cx="886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Voice assistants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037576" y="3566160"/>
            <a:ext cx="886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AI chat (LLM / RAG)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743200" y="5029200"/>
            <a:ext cx="48006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852928" y="5120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OPS  ·  CONTENT &amp; RELEVANCE GOVERNANCE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2852928" y="5413248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i="1" spc="100" kern="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marketing-owned config  ·  engineering-gated change control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852928" y="577900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review  ·  Synonym tuning  ·  Per-locale eval ground truth  ·  CI gate blocks regressions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949440" y="4434840"/>
            <a:ext cx="0" cy="548640"/>
          </a:xfrm>
          <a:prstGeom prst="line">
            <a:avLst/>
          </a:prstGeom>
          <a:noFill/>
          <a:ln w="19050">
            <a:solidFill>
              <a:srgbClr val="6B6760"/>
            </a:solidFill>
            <a:prstDash val="dash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5943600" y="4983480"/>
            <a:ext cx="0" cy="-548640"/>
          </a:xfrm>
          <a:prstGeom prst="line">
            <a:avLst/>
          </a:prstGeom>
          <a:noFill/>
          <a:ln w="19050">
            <a:solidFill>
              <a:srgbClr val="6B6760"/>
            </a:solidFill>
            <a:prstDash val="dash"/>
            <a:tailEnd type="triangle"/>
          </a:ln>
        </p:spPr>
      </p:sp>
      <p:sp>
        <p:nvSpPr>
          <p:cNvPr id="54" name="Text 52"/>
          <p:cNvSpPr/>
          <p:nvPr/>
        </p:nvSpPr>
        <p:spPr>
          <a:xfrm>
            <a:off x="6903720" y="457200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+ content feedback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4572000" y="4572000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· copy · relevance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502920" y="632764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i="1" spc="100" kern="0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Arc4 owned: </a:t>
            </a:r>
            <a:pPr indent="0" marL="0">
              <a:buNone/>
            </a:pPr>
            <a:r>
              <a:rPr lang="en-US" sz="800" i="1" spc="100" kern="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· schema · dedupe (IDR) · frontend · relevance eval &amp; governance</a:t>
            </a:r>
            <a:pPr indent="0" marL="0">
              <a:buNone/>
            </a:pPr>
            <a:r>
              <a:rPr lang="en-US" sz="800" b="1" i="1" spc="100" kern="0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Yext provided: </a:t>
            </a:r>
            <a:pPr indent="0" marL="0">
              <a:buNone/>
            </a:pPr>
            <a:r>
              <a:rPr lang="en-US" sz="800" i="1" spc="100" kern="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runtime · AI search primitives (intent, retrieval, ranking)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9098280" y="1417320"/>
            <a:ext cx="2651760" cy="4892040"/>
          </a:xfrm>
          <a:prstGeom prst="rect">
            <a:avLst/>
          </a:prstGeom>
          <a:solidFill>
            <a:srgbClr val="1F1F1E"/>
          </a:solidFill>
          <a:ln w="12700">
            <a:solidFill>
              <a:srgbClr val="1F1F1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217152" y="152704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DECISIONS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9217152" y="19202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catalog, not a flat list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9217152" y="23774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8E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entities let the system route intent. A flat index would mean hand-coding relevance for every property — unmaintainable.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9217152" y="33375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as config, not code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9217152" y="379476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8E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Synonyms and definitions live in config. Marketing ops tunes relevance daily; engineering doesn't bottleneck.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9217152" y="47548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graph, many channels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9217152" y="52120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8E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 feeds on-site, Google, voice, AI chat. One source of truth instead of four.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Solutioning  ·  Case study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Holden Ottolini  ·  Anthropic SA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164592" cy="164592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THE OUTCOME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F1F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Outcome: $140K became $2.4M, 15x growth, zero churn.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783080"/>
            <a:ext cx="2743200" cy="1691640"/>
          </a:xfrm>
          <a:prstGeom prst="rect">
            <a:avLst/>
          </a:prstGeom>
          <a:solidFill>
            <a:srgbClr val="1F1F1E"/>
          </a:solidFill>
          <a:ln w="12700">
            <a:solidFill>
              <a:srgbClr val="1F1F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2024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CC78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15x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685800" y="28803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growth in 18 months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74136" y="1783080"/>
            <a:ext cx="2743200" cy="1691640"/>
          </a:xfrm>
          <a:prstGeom prst="rect">
            <a:avLst/>
          </a:prstGeom>
          <a:solidFill>
            <a:srgbClr val="1F1F1E"/>
          </a:solidFill>
          <a:ln w="12700">
            <a:solidFill>
              <a:srgbClr val="1F1F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11296" y="192024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CC78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$2.4M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3557016" y="28803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engagement value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45352" y="1783080"/>
            <a:ext cx="2743200" cy="1691640"/>
          </a:xfrm>
          <a:prstGeom prst="rect">
            <a:avLst/>
          </a:prstGeom>
          <a:solidFill>
            <a:srgbClr val="1F1F1E"/>
          </a:solidFill>
          <a:ln w="12700">
            <a:solidFill>
              <a:srgbClr val="1F1F1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92024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CC78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6428232" y="28803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deals signed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16568" y="1783080"/>
            <a:ext cx="2743200" cy="1691640"/>
          </a:xfrm>
          <a:prstGeom prst="rect">
            <a:avLst/>
          </a:prstGeom>
          <a:solidFill>
            <a:srgbClr val="1F1F1E"/>
          </a:solidFill>
          <a:ln w="12700">
            <a:solidFill>
              <a:srgbClr val="1F1F1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53728" y="192024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CC78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600" dirty="0"/>
          </a:p>
        </p:txBody>
      </p:sp>
      <p:sp>
        <p:nvSpPr>
          <p:cNvPr id="18" name="Text 16"/>
          <p:cNvSpPr/>
          <p:nvPr/>
        </p:nvSpPr>
        <p:spPr>
          <a:xfrm>
            <a:off x="9299448" y="28803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events across 18 months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3749040"/>
            <a:ext cx="109728" cy="50292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785616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926080" y="3749040"/>
            <a:ext cx="8869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3 BUs onto one platform after the parent had failed twice before. New-property launch moved off the board-level risk register.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2920" y="4315968"/>
            <a:ext cx="109728" cy="50292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352544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926080" y="4315968"/>
            <a:ext cx="8869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$140K → $2.4M across 17 deals. B2B vendor portal = net-new revenue named in parent's annual report. Project work converted to retainers.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02920" y="4882896"/>
            <a:ext cx="109728" cy="50292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919472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926080" y="4882896"/>
            <a:ext cx="8869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data incidents across 18 months and 10 properties. Parent SIEM fed in real time. Our quarterly evidence package became the parent's template for other vendors.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02920" y="5449824"/>
            <a:ext cx="109728" cy="50292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548640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926080" y="5449824"/>
            <a:ext cx="8869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system (schema as contract, IDR log, deployment checklist) became Arc4's company standard. Every new enterprise engagement starts from it.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02920" y="6080760"/>
            <a:ext cx="11247120" cy="365760"/>
          </a:xfrm>
          <a:prstGeom prst="rect">
            <a:avLst/>
          </a:prstGeom>
          <a:solidFill>
            <a:srgbClr val="E8E4D8"/>
          </a:solidFill>
          <a:ln w="6350">
            <a:solidFill>
              <a:srgbClr val="D6D1C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612648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F1F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valuable artifact wasn't the code — it was the discipline around it. That's what let a Fortune 500 parent consolidate three BUs.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2026-04-14T23:19:46Z</dcterms:created>
  <dcterms:modified xsi:type="dcterms:W3CDTF">2026-04-14T23:19:46Z</dcterms:modified>
</cp:coreProperties>
</file>