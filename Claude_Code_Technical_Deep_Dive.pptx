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F1F1E"/>
        </a:solidFill>
      </p:bgPr>
    </p:bg>
    <p:spTree>
      <p:nvGrpSpPr>
        <p:cNvPr id="1" name=""/>
        <p:cNvGrpSpPr/>
        <p:nvPr/>
      </p:nvGrpSpPr>
      <p:grpSpPr>
        <a:xfrm>
          <a:off x="0" y="0"/>
          <a:ext cx="0" cy="0"/>
          <a:chOff x="0" y="0"/>
          <a:chExt cx="0" cy="0"/>
        </a:xfrm>
      </p:grpSpPr>
      <p:sp>
        <p:nvSpPr>
          <p:cNvPr id="2" name="Shape 0"/>
          <p:cNvSpPr/>
          <p:nvPr/>
        </p:nvSpPr>
        <p:spPr>
          <a:xfrm>
            <a:off x="0" y="0"/>
            <a:ext cx="12191695" cy="137160"/>
          </a:xfrm>
          <a:prstGeom prst="rect">
            <a:avLst/>
          </a:prstGeom>
          <a:solidFill>
            <a:srgbClr val="CC785C"/>
          </a:solidFill>
          <a:ln w="12700">
            <a:solidFill>
              <a:srgbClr val="CC785C"/>
            </a:solidFill>
            <a:prstDash val="solid"/>
          </a:ln>
        </p:spPr>
      </p:sp>
      <p:sp>
        <p:nvSpPr>
          <p:cNvPr id="3" name="Shape 1"/>
          <p:cNvSpPr/>
          <p:nvPr/>
        </p:nvSpPr>
        <p:spPr>
          <a:xfrm>
            <a:off x="548640" y="640080"/>
            <a:ext cx="201168" cy="201168"/>
          </a:xfrm>
          <a:prstGeom prst="rect">
            <a:avLst/>
          </a:prstGeom>
          <a:solidFill>
            <a:srgbClr val="CC785C"/>
          </a:solidFill>
          <a:ln w="12700">
            <a:solidFill>
              <a:srgbClr val="CC785C"/>
            </a:solidFill>
            <a:prstDash val="solid"/>
          </a:ln>
        </p:spPr>
      </p:sp>
      <p:sp>
        <p:nvSpPr>
          <p:cNvPr id="4" name="Text 2"/>
          <p:cNvSpPr/>
          <p:nvPr/>
        </p:nvSpPr>
        <p:spPr>
          <a:xfrm>
            <a:off x="868680" y="566928"/>
            <a:ext cx="7315200" cy="365760"/>
          </a:xfrm>
          <a:prstGeom prst="rect">
            <a:avLst/>
          </a:prstGeom>
          <a:noFill/>
          <a:ln/>
        </p:spPr>
        <p:txBody>
          <a:bodyPr wrap="square" rtlCol="0" anchor="ctr"/>
          <a:lstStyle/>
          <a:p>
            <a:pPr indent="0" marL="0">
              <a:buNone/>
            </a:pPr>
            <a:r>
              <a:rPr lang="en-US" sz="1100" b="1" spc="300" kern="0" dirty="0">
                <a:solidFill>
                  <a:srgbClr val="F0EEE6"/>
                </a:solidFill>
                <a:latin typeface="Calibri" pitchFamily="34" charset="0"/>
                <a:ea typeface="Calibri" pitchFamily="34" charset="-122"/>
                <a:cs typeface="Calibri" pitchFamily="34" charset="-120"/>
              </a:rPr>
              <a:t>ANTHROPIC  ·  SOLUTIONS ENGINEERING</a:t>
            </a:r>
            <a:endParaRPr lang="en-US" sz="1100" dirty="0"/>
          </a:p>
        </p:txBody>
      </p:sp>
      <p:sp>
        <p:nvSpPr>
          <p:cNvPr id="5" name="Text 3"/>
          <p:cNvSpPr/>
          <p:nvPr/>
        </p:nvSpPr>
        <p:spPr>
          <a:xfrm>
            <a:off x="548640" y="2103120"/>
            <a:ext cx="7315200" cy="365760"/>
          </a:xfrm>
          <a:prstGeom prst="rect">
            <a:avLst/>
          </a:prstGeom>
          <a:noFill/>
          <a:ln/>
        </p:spPr>
        <p:txBody>
          <a:bodyPr wrap="square" rtlCol="0" anchor="ctr"/>
          <a:lstStyle/>
          <a:p>
            <a:pPr indent="0" marL="0">
              <a:buNone/>
            </a:pPr>
            <a:r>
              <a:rPr lang="en-US" sz="1200" b="1" spc="300" kern="0" dirty="0">
                <a:solidFill>
                  <a:srgbClr val="CC785C"/>
                </a:solidFill>
                <a:latin typeface="Calibri" pitchFamily="34" charset="0"/>
                <a:ea typeface="Calibri" pitchFamily="34" charset="-122"/>
                <a:cs typeface="Calibri" pitchFamily="34" charset="-120"/>
              </a:rPr>
              <a:t>TECHNICAL DEEP-DIVE</a:t>
            </a:r>
            <a:endParaRPr lang="en-US" sz="1200" dirty="0"/>
          </a:p>
        </p:txBody>
      </p:sp>
      <p:sp>
        <p:nvSpPr>
          <p:cNvPr id="6" name="Text 4"/>
          <p:cNvSpPr/>
          <p:nvPr/>
        </p:nvSpPr>
        <p:spPr>
          <a:xfrm>
            <a:off x="548640" y="2606040"/>
            <a:ext cx="10972800" cy="2011680"/>
          </a:xfrm>
          <a:prstGeom prst="rect">
            <a:avLst/>
          </a:prstGeom>
          <a:noFill/>
          <a:ln/>
        </p:spPr>
        <p:txBody>
          <a:bodyPr wrap="square" rtlCol="0" anchor="ctr"/>
          <a:lstStyle/>
          <a:p>
            <a:pPr indent="0" marL="0">
              <a:lnSpc>
                <a:spcPct val="105000"/>
              </a:lnSpc>
              <a:buNone/>
            </a:pPr>
            <a:r>
              <a:rPr lang="en-US" sz="4800" dirty="0">
                <a:solidFill>
                  <a:srgbClr val="F0EEE6"/>
                </a:solidFill>
                <a:latin typeface="Georgia" pitchFamily="34" charset="0"/>
                <a:ea typeface="Georgia" pitchFamily="34" charset="-122"/>
                <a:cs typeface="Georgia" pitchFamily="34" charset="-120"/>
              </a:rPr>
              <a:t>Claude Code for</a:t>
            </a:r>
            <a:endParaRPr lang="en-US" sz="4800" dirty="0"/>
          </a:p>
          <a:p>
            <a:pPr indent="0" marL="0">
              <a:lnSpc>
                <a:spcPct val="105000"/>
              </a:lnSpc>
              <a:buNone/>
            </a:pPr>
            <a:r>
              <a:rPr lang="en-US" sz="4800" dirty="0">
                <a:solidFill>
                  <a:srgbClr val="F0EEE6"/>
                </a:solidFill>
                <a:latin typeface="Georgia" pitchFamily="34" charset="0"/>
                <a:ea typeface="Georgia" pitchFamily="34" charset="-122"/>
                <a:cs typeface="Georgia" pitchFamily="34" charset="-120"/>
              </a:rPr>
              <a:t>a regulated enterprise</a:t>
            </a:r>
            <a:endParaRPr lang="en-US" sz="4800" dirty="0"/>
          </a:p>
        </p:txBody>
      </p:sp>
      <p:sp>
        <p:nvSpPr>
          <p:cNvPr id="7" name="Shape 5"/>
          <p:cNvSpPr/>
          <p:nvPr/>
        </p:nvSpPr>
        <p:spPr>
          <a:xfrm>
            <a:off x="548640" y="5029200"/>
            <a:ext cx="2011680" cy="0"/>
          </a:xfrm>
          <a:prstGeom prst="line">
            <a:avLst/>
          </a:prstGeom>
          <a:noFill/>
          <a:ln w="25400">
            <a:solidFill>
              <a:srgbClr val="CC785C"/>
            </a:solidFill>
            <a:prstDash val="solid"/>
          </a:ln>
        </p:spPr>
      </p:sp>
      <p:sp>
        <p:nvSpPr>
          <p:cNvPr id="8" name="Text 6"/>
          <p:cNvSpPr/>
          <p:nvPr/>
        </p:nvSpPr>
        <p:spPr>
          <a:xfrm>
            <a:off x="548640" y="5212080"/>
            <a:ext cx="10972800" cy="457200"/>
          </a:xfrm>
          <a:prstGeom prst="rect">
            <a:avLst/>
          </a:prstGeom>
          <a:noFill/>
          <a:ln/>
        </p:spPr>
        <p:txBody>
          <a:bodyPr wrap="square" rtlCol="0" anchor="ctr"/>
          <a:lstStyle/>
          <a:p>
            <a:pPr indent="0" marL="0">
              <a:buNone/>
            </a:pPr>
            <a:r>
              <a:rPr lang="en-US" sz="1600" i="1" dirty="0">
                <a:solidFill>
                  <a:srgbClr val="E8E4D8"/>
                </a:solidFill>
                <a:latin typeface="Calibri" pitchFamily="34" charset="0"/>
                <a:ea typeface="Calibri" pitchFamily="34" charset="-122"/>
                <a:cs typeface="Calibri" pitchFamily="34" charset="-120"/>
              </a:rPr>
              <a:t>Architecture, governance, rollout, measurement, failure modes.</a:t>
            </a:r>
            <a:endParaRPr lang="en-US" sz="1600" dirty="0"/>
          </a:p>
        </p:txBody>
      </p:sp>
      <p:sp>
        <p:nvSpPr>
          <p:cNvPr id="9" name="Text 7"/>
          <p:cNvSpPr/>
          <p:nvPr/>
        </p:nvSpPr>
        <p:spPr>
          <a:xfrm>
            <a:off x="548640" y="6035040"/>
            <a:ext cx="7315200" cy="320040"/>
          </a:xfrm>
          <a:prstGeom prst="rect">
            <a:avLst/>
          </a:prstGeom>
          <a:noFill/>
          <a:ln/>
        </p:spPr>
        <p:txBody>
          <a:bodyPr wrap="square" rtlCol="0" anchor="ctr"/>
          <a:lstStyle/>
          <a:p>
            <a:pPr indent="0" marL="0">
              <a:buNone/>
            </a:pPr>
            <a:r>
              <a:rPr lang="en-US" sz="1200" dirty="0">
                <a:solidFill>
                  <a:srgbClr val="6B6760"/>
                </a:solidFill>
                <a:latin typeface="Calibri" pitchFamily="34" charset="0"/>
                <a:ea typeface="Calibri" pitchFamily="34" charset="-122"/>
                <a:cs typeface="Calibri" pitchFamily="34" charset="-120"/>
              </a:rPr>
              <a:t>Holden Ottolini  ·  April 2026</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0EEE6"/>
        </a:solidFill>
      </p:bgPr>
    </p:bg>
    <p:spTree>
      <p:nvGrpSpPr>
        <p:cNvPr id="1" name=""/>
        <p:cNvGrpSpPr/>
        <p:nvPr/>
      </p:nvGrpSpPr>
      <p:grpSpPr>
        <a:xfrm>
          <a:off x="0" y="0"/>
          <a:ext cx="0" cy="0"/>
          <a:chOff x="0" y="0"/>
          <a:chExt cx="0" cy="0"/>
        </a:xfrm>
      </p:grpSpPr>
      <p:sp>
        <p:nvSpPr>
          <p:cNvPr id="2" name="Text 0"/>
          <p:cNvSpPr/>
          <p:nvPr/>
        </p:nvSpPr>
        <p:spPr>
          <a:xfrm>
            <a:off x="457200" y="6446520"/>
            <a:ext cx="6400800" cy="274320"/>
          </a:xfrm>
          <a:prstGeom prst="rect">
            <a:avLst/>
          </a:prstGeom>
          <a:noFill/>
          <a:ln/>
        </p:spPr>
        <p:txBody>
          <a:bodyPr wrap="square" rtlCol="0" anchor="ctr"/>
          <a:lstStyle/>
          <a:p>
            <a:pPr indent="0" marL="0">
              <a:buNone/>
            </a:pPr>
            <a:r>
              <a:rPr lang="en-US" sz="900" dirty="0">
                <a:solidFill>
                  <a:srgbClr val="6B6760"/>
                </a:solidFill>
                <a:latin typeface="Calibri" pitchFamily="34" charset="0"/>
                <a:ea typeface="Calibri" pitchFamily="34" charset="-122"/>
                <a:cs typeface="Calibri" pitchFamily="34" charset="-120"/>
              </a:rPr>
              <a:t>Claude Code  ·  Technical deep-dive</a:t>
            </a:r>
            <a:endParaRPr lang="en-US" sz="900" dirty="0"/>
          </a:p>
        </p:txBody>
      </p:sp>
      <p:sp>
        <p:nvSpPr>
          <p:cNvPr id="3" name="Text 1"/>
          <p:cNvSpPr/>
          <p:nvPr/>
        </p:nvSpPr>
        <p:spPr>
          <a:xfrm>
            <a:off x="10515600" y="6446520"/>
            <a:ext cx="1371600" cy="274320"/>
          </a:xfrm>
          <a:prstGeom prst="rect">
            <a:avLst/>
          </a:prstGeom>
          <a:noFill/>
          <a:ln/>
        </p:spPr>
        <p:txBody>
          <a:bodyPr wrap="square" rtlCol="0" anchor="ctr"/>
          <a:lstStyle/>
          <a:p>
            <a:pPr algn="r" indent="0" marL="0">
              <a:buNone/>
            </a:pPr>
            <a:r>
              <a:rPr lang="en-US" sz="900" i="1" dirty="0">
                <a:solidFill>
                  <a:srgbClr val="6B6760"/>
                </a:solidFill>
                <a:latin typeface="Calibri" pitchFamily="34" charset="0"/>
                <a:ea typeface="Calibri" pitchFamily="34" charset="-122"/>
                <a:cs typeface="Calibri" pitchFamily="34" charset="-120"/>
              </a:rPr>
              <a:t>Anthropic</a:t>
            </a:r>
            <a:endParaRPr lang="en-US" sz="900" dirty="0"/>
          </a:p>
        </p:txBody>
      </p:sp>
      <p:sp>
        <p:nvSpPr>
          <p:cNvPr id="4" name="Shape 2"/>
          <p:cNvSpPr/>
          <p:nvPr/>
        </p:nvSpPr>
        <p:spPr>
          <a:xfrm>
            <a:off x="457200" y="457200"/>
            <a:ext cx="164592" cy="164592"/>
          </a:xfrm>
          <a:prstGeom prst="rect">
            <a:avLst/>
          </a:prstGeom>
          <a:solidFill>
            <a:srgbClr val="CC785C"/>
          </a:solidFill>
          <a:ln w="12700">
            <a:solidFill>
              <a:srgbClr val="CC785C"/>
            </a:solidFill>
            <a:prstDash val="solid"/>
          </a:ln>
        </p:spPr>
      </p:sp>
      <p:sp>
        <p:nvSpPr>
          <p:cNvPr id="5" name="Text 3"/>
          <p:cNvSpPr/>
          <p:nvPr/>
        </p:nvSpPr>
        <p:spPr>
          <a:xfrm>
            <a:off x="777240" y="384048"/>
            <a:ext cx="7315200" cy="320040"/>
          </a:xfrm>
          <a:prstGeom prst="rect">
            <a:avLst/>
          </a:prstGeom>
          <a:noFill/>
          <a:ln/>
        </p:spPr>
        <p:txBody>
          <a:bodyPr wrap="square" rtlCol="0" anchor="ctr"/>
          <a:lstStyle/>
          <a:p>
            <a:pPr indent="0" marL="0">
              <a:buNone/>
            </a:pPr>
            <a:r>
              <a:rPr lang="en-US" sz="1100" b="1" spc="200" kern="0" dirty="0">
                <a:solidFill>
                  <a:srgbClr val="CC785C"/>
                </a:solidFill>
                <a:latin typeface="Calibri" pitchFamily="34" charset="0"/>
                <a:ea typeface="Calibri" pitchFamily="34" charset="-122"/>
                <a:cs typeface="Calibri" pitchFamily="34" charset="-120"/>
              </a:rPr>
              <a:t>ORIENTATION</a:t>
            </a:r>
            <a:endParaRPr lang="en-US" sz="1100" dirty="0"/>
          </a:p>
        </p:txBody>
      </p:sp>
      <p:sp>
        <p:nvSpPr>
          <p:cNvPr id="6" name="Text 4"/>
          <p:cNvSpPr/>
          <p:nvPr/>
        </p:nvSpPr>
        <p:spPr>
          <a:xfrm>
            <a:off x="457200" y="777240"/>
            <a:ext cx="11247120" cy="822960"/>
          </a:xfrm>
          <a:prstGeom prst="rect">
            <a:avLst/>
          </a:prstGeom>
          <a:noFill/>
          <a:ln/>
        </p:spPr>
        <p:txBody>
          <a:bodyPr wrap="square" rtlCol="0" anchor="ctr"/>
          <a:lstStyle/>
          <a:p>
            <a:pPr indent="0" marL="0">
              <a:buNone/>
            </a:pPr>
            <a:r>
              <a:rPr lang="en-US" sz="3200" dirty="0">
                <a:solidFill>
                  <a:srgbClr val="1F1F1E"/>
                </a:solidFill>
                <a:latin typeface="Georgia" pitchFamily="34" charset="0"/>
                <a:ea typeface="Georgia" pitchFamily="34" charset="-122"/>
                <a:cs typeface="Georgia" pitchFamily="34" charset="-120"/>
              </a:rPr>
              <a:t>What this deep-dive is, and what it isn't.</a:t>
            </a:r>
            <a:endParaRPr lang="en-US" sz="3200" dirty="0"/>
          </a:p>
        </p:txBody>
      </p:sp>
      <p:sp>
        <p:nvSpPr>
          <p:cNvPr id="7" name="Text 5"/>
          <p:cNvSpPr/>
          <p:nvPr/>
        </p:nvSpPr>
        <p:spPr>
          <a:xfrm>
            <a:off x="502920" y="1691640"/>
            <a:ext cx="11247120" cy="1005840"/>
          </a:xfrm>
          <a:prstGeom prst="rect">
            <a:avLst/>
          </a:prstGeom>
          <a:noFill/>
          <a:ln/>
        </p:spPr>
        <p:txBody>
          <a:bodyPr wrap="square" rtlCol="0" anchor="ctr"/>
          <a:lstStyle/>
          <a:p>
            <a:pPr indent="0" marL="0">
              <a:lnSpc>
                <a:spcPct val="130000"/>
              </a:lnSpc>
              <a:buNone/>
            </a:pPr>
            <a:r>
              <a:rPr lang="en-US" sz="1400" dirty="0">
                <a:solidFill>
                  <a:srgbClr val="1F1F1E"/>
                </a:solidFill>
                <a:latin typeface="Calibri" pitchFamily="34" charset="0"/>
                <a:ea typeface="Calibri" pitchFamily="34" charset="-122"/>
                <a:cs typeface="Calibri" pitchFamily="34" charset="-120"/>
              </a:rPr>
              <a:t>The customer-facing deck answered 'should we use Claude Code?' This deck answers 'how would we actually run it?' Everything here assumes you've already agreed the value is there, and you want to understand the wiring before you commit.</a:t>
            </a:r>
            <a:endParaRPr lang="en-US" sz="1400" dirty="0"/>
          </a:p>
        </p:txBody>
      </p:sp>
      <p:sp>
        <p:nvSpPr>
          <p:cNvPr id="8" name="Shape 6"/>
          <p:cNvSpPr/>
          <p:nvPr/>
        </p:nvSpPr>
        <p:spPr>
          <a:xfrm>
            <a:off x="502920" y="2926080"/>
            <a:ext cx="5303520" cy="3200400"/>
          </a:xfrm>
          <a:prstGeom prst="rect">
            <a:avLst/>
          </a:prstGeom>
          <a:solidFill>
            <a:srgbClr val="E8E4D8"/>
          </a:solidFill>
          <a:ln w="9525">
            <a:solidFill>
              <a:srgbClr val="D6D1C4"/>
            </a:solidFill>
            <a:prstDash val="solid"/>
          </a:ln>
        </p:spPr>
      </p:sp>
      <p:sp>
        <p:nvSpPr>
          <p:cNvPr id="9" name="Text 7"/>
          <p:cNvSpPr/>
          <p:nvPr/>
        </p:nvSpPr>
        <p:spPr>
          <a:xfrm>
            <a:off x="777240" y="3063240"/>
            <a:ext cx="4572000" cy="320040"/>
          </a:xfrm>
          <a:prstGeom prst="rect">
            <a:avLst/>
          </a:prstGeom>
          <a:noFill/>
          <a:ln/>
        </p:spPr>
        <p:txBody>
          <a:bodyPr wrap="square" rtlCol="0" anchor="ctr"/>
          <a:lstStyle/>
          <a:p>
            <a:pPr indent="0" marL="0">
              <a:buNone/>
            </a:pPr>
            <a:r>
              <a:rPr lang="en-US" sz="1100" b="1" spc="200" kern="0" dirty="0">
                <a:solidFill>
                  <a:srgbClr val="CC785C"/>
                </a:solidFill>
                <a:latin typeface="Calibri" pitchFamily="34" charset="0"/>
                <a:ea typeface="Calibri" pitchFamily="34" charset="-122"/>
                <a:cs typeface="Calibri" pitchFamily="34" charset="-120"/>
              </a:rPr>
              <a:t>IN SCOPE</a:t>
            </a:r>
            <a:endParaRPr lang="en-US" sz="1100" dirty="0"/>
          </a:p>
        </p:txBody>
      </p:sp>
      <p:sp>
        <p:nvSpPr>
          <p:cNvPr id="10" name="Text 8"/>
          <p:cNvSpPr/>
          <p:nvPr/>
        </p:nvSpPr>
        <p:spPr>
          <a:xfrm>
            <a:off x="777240" y="3474720"/>
            <a:ext cx="4846320" cy="365760"/>
          </a:xfrm>
          <a:prstGeom prst="rect">
            <a:avLst/>
          </a:prstGeom>
          <a:noFill/>
          <a:ln/>
        </p:spPr>
        <p:txBody>
          <a:bodyPr wrap="square" rtlCol="0" anchor="ctr"/>
          <a:lstStyle/>
          <a:p>
            <a:pPr indent="0" marL="0">
              <a:buNone/>
            </a:pPr>
            <a:r>
              <a:rPr lang="en-US" sz="1300" dirty="0">
                <a:solidFill>
                  <a:srgbClr val="1F1F1E"/>
                </a:solidFill>
                <a:latin typeface="Calibri" pitchFamily="34" charset="0"/>
                <a:ea typeface="Calibri" pitchFamily="34" charset="-122"/>
                <a:cs typeface="Calibri" pitchFamily="34" charset="-120"/>
              </a:rPr>
              <a:t>•  Reference architecture</a:t>
            </a:r>
            <a:endParaRPr lang="en-US" sz="1300" dirty="0"/>
          </a:p>
        </p:txBody>
      </p:sp>
      <p:sp>
        <p:nvSpPr>
          <p:cNvPr id="11" name="Text 9"/>
          <p:cNvSpPr/>
          <p:nvPr/>
        </p:nvSpPr>
        <p:spPr>
          <a:xfrm>
            <a:off x="777240" y="3858768"/>
            <a:ext cx="4846320" cy="365760"/>
          </a:xfrm>
          <a:prstGeom prst="rect">
            <a:avLst/>
          </a:prstGeom>
          <a:noFill/>
          <a:ln/>
        </p:spPr>
        <p:txBody>
          <a:bodyPr wrap="square" rtlCol="0" anchor="ctr"/>
          <a:lstStyle/>
          <a:p>
            <a:pPr indent="0" marL="0">
              <a:buNone/>
            </a:pPr>
            <a:r>
              <a:rPr lang="en-US" sz="1300" dirty="0">
                <a:solidFill>
                  <a:srgbClr val="1F1F1E"/>
                </a:solidFill>
                <a:latin typeface="Calibri" pitchFamily="34" charset="0"/>
                <a:ea typeface="Calibri" pitchFamily="34" charset="-122"/>
                <a:cs typeface="Calibri" pitchFamily="34" charset="-120"/>
              </a:rPr>
              <a:t>•  Trust boundaries and data flow</a:t>
            </a:r>
            <a:endParaRPr lang="en-US" sz="1300" dirty="0"/>
          </a:p>
        </p:txBody>
      </p:sp>
      <p:sp>
        <p:nvSpPr>
          <p:cNvPr id="12" name="Text 10"/>
          <p:cNvSpPr/>
          <p:nvPr/>
        </p:nvSpPr>
        <p:spPr>
          <a:xfrm>
            <a:off x="777240" y="4242816"/>
            <a:ext cx="4846320" cy="365760"/>
          </a:xfrm>
          <a:prstGeom prst="rect">
            <a:avLst/>
          </a:prstGeom>
          <a:noFill/>
          <a:ln/>
        </p:spPr>
        <p:txBody>
          <a:bodyPr wrap="square" rtlCol="0" anchor="ctr"/>
          <a:lstStyle/>
          <a:p>
            <a:pPr indent="0" marL="0">
              <a:buNone/>
            </a:pPr>
            <a:r>
              <a:rPr lang="en-US" sz="1300" dirty="0">
                <a:solidFill>
                  <a:srgbClr val="1F1F1E"/>
                </a:solidFill>
                <a:latin typeface="Calibri" pitchFamily="34" charset="0"/>
                <a:ea typeface="Calibri" pitchFamily="34" charset="-122"/>
                <a:cs typeface="Calibri" pitchFamily="34" charset="-120"/>
              </a:rPr>
              <a:t>•  Governance model (CLAUDE.md, Safety Gate)</a:t>
            </a:r>
            <a:endParaRPr lang="en-US" sz="1300" dirty="0"/>
          </a:p>
        </p:txBody>
      </p:sp>
      <p:sp>
        <p:nvSpPr>
          <p:cNvPr id="13" name="Text 11"/>
          <p:cNvSpPr/>
          <p:nvPr/>
        </p:nvSpPr>
        <p:spPr>
          <a:xfrm>
            <a:off x="777240" y="4626864"/>
            <a:ext cx="4846320" cy="365760"/>
          </a:xfrm>
          <a:prstGeom prst="rect">
            <a:avLst/>
          </a:prstGeom>
          <a:noFill/>
          <a:ln/>
        </p:spPr>
        <p:txBody>
          <a:bodyPr wrap="square" rtlCol="0" anchor="ctr"/>
          <a:lstStyle/>
          <a:p>
            <a:pPr indent="0" marL="0">
              <a:buNone/>
            </a:pPr>
            <a:r>
              <a:rPr lang="en-US" sz="1300" dirty="0">
                <a:solidFill>
                  <a:srgbClr val="1F1F1E"/>
                </a:solidFill>
                <a:latin typeface="Calibri" pitchFamily="34" charset="0"/>
                <a:ea typeface="Calibri" pitchFamily="34" charset="-122"/>
                <a:cs typeface="Calibri" pitchFamily="34" charset="-120"/>
              </a:rPr>
              <a:t>•  Three-phase rollout with gates</a:t>
            </a:r>
            <a:endParaRPr lang="en-US" sz="1300" dirty="0"/>
          </a:p>
        </p:txBody>
      </p:sp>
      <p:sp>
        <p:nvSpPr>
          <p:cNvPr id="14" name="Text 12"/>
          <p:cNvSpPr/>
          <p:nvPr/>
        </p:nvSpPr>
        <p:spPr>
          <a:xfrm>
            <a:off x="777240" y="5010912"/>
            <a:ext cx="4846320" cy="365760"/>
          </a:xfrm>
          <a:prstGeom prst="rect">
            <a:avLst/>
          </a:prstGeom>
          <a:noFill/>
          <a:ln/>
        </p:spPr>
        <p:txBody>
          <a:bodyPr wrap="square" rtlCol="0" anchor="ctr"/>
          <a:lstStyle/>
          <a:p>
            <a:pPr indent="0" marL="0">
              <a:buNone/>
            </a:pPr>
            <a:r>
              <a:rPr lang="en-US" sz="1300" dirty="0">
                <a:solidFill>
                  <a:srgbClr val="1F1F1E"/>
                </a:solidFill>
                <a:latin typeface="Calibri" pitchFamily="34" charset="0"/>
                <a:ea typeface="Calibri" pitchFamily="34" charset="-122"/>
                <a:cs typeface="Calibri" pitchFamily="34" charset="-120"/>
              </a:rPr>
              <a:t>•  Measurement plan</a:t>
            </a:r>
            <a:endParaRPr lang="en-US" sz="1300" dirty="0"/>
          </a:p>
        </p:txBody>
      </p:sp>
      <p:sp>
        <p:nvSpPr>
          <p:cNvPr id="15" name="Text 13"/>
          <p:cNvSpPr/>
          <p:nvPr/>
        </p:nvSpPr>
        <p:spPr>
          <a:xfrm>
            <a:off x="777240" y="5394960"/>
            <a:ext cx="4846320" cy="365760"/>
          </a:xfrm>
          <a:prstGeom prst="rect">
            <a:avLst/>
          </a:prstGeom>
          <a:noFill/>
          <a:ln/>
        </p:spPr>
        <p:txBody>
          <a:bodyPr wrap="square" rtlCol="0" anchor="ctr"/>
          <a:lstStyle/>
          <a:p>
            <a:pPr indent="0" marL="0">
              <a:buNone/>
            </a:pPr>
            <a:r>
              <a:rPr lang="en-US" sz="1300" dirty="0">
                <a:solidFill>
                  <a:srgbClr val="1F1F1E"/>
                </a:solidFill>
                <a:latin typeface="Calibri" pitchFamily="34" charset="0"/>
                <a:ea typeface="Calibri" pitchFamily="34" charset="-122"/>
                <a:cs typeface="Calibri" pitchFamily="34" charset="-120"/>
              </a:rPr>
              <a:t>•  Failure modes and mitigations</a:t>
            </a:r>
            <a:endParaRPr lang="en-US" sz="1300" dirty="0"/>
          </a:p>
        </p:txBody>
      </p:sp>
      <p:sp>
        <p:nvSpPr>
          <p:cNvPr id="16" name="Shape 14"/>
          <p:cNvSpPr/>
          <p:nvPr/>
        </p:nvSpPr>
        <p:spPr>
          <a:xfrm>
            <a:off x="6172200" y="2926080"/>
            <a:ext cx="5303520" cy="3200400"/>
          </a:xfrm>
          <a:prstGeom prst="rect">
            <a:avLst/>
          </a:prstGeom>
          <a:solidFill>
            <a:srgbClr val="E8E4D8"/>
          </a:solidFill>
          <a:ln w="9525">
            <a:solidFill>
              <a:srgbClr val="D6D1C4"/>
            </a:solidFill>
            <a:prstDash val="solid"/>
          </a:ln>
        </p:spPr>
      </p:sp>
      <p:sp>
        <p:nvSpPr>
          <p:cNvPr id="17" name="Text 15"/>
          <p:cNvSpPr/>
          <p:nvPr/>
        </p:nvSpPr>
        <p:spPr>
          <a:xfrm>
            <a:off x="6446520" y="3063240"/>
            <a:ext cx="4572000" cy="320040"/>
          </a:xfrm>
          <a:prstGeom prst="rect">
            <a:avLst/>
          </a:prstGeom>
          <a:noFill/>
          <a:ln/>
        </p:spPr>
        <p:txBody>
          <a:bodyPr wrap="square" rtlCol="0" anchor="ctr"/>
          <a:lstStyle/>
          <a:p>
            <a:pPr indent="0" marL="0">
              <a:buNone/>
            </a:pPr>
            <a:r>
              <a:rPr lang="en-US" sz="1100" b="1" spc="200" kern="0" dirty="0">
                <a:solidFill>
                  <a:srgbClr val="CC785C"/>
                </a:solidFill>
                <a:latin typeface="Calibri" pitchFamily="34" charset="0"/>
                <a:ea typeface="Calibri" pitchFamily="34" charset="-122"/>
                <a:cs typeface="Calibri" pitchFamily="34" charset="-120"/>
              </a:rPr>
              <a:t>OUT OF SCOPE</a:t>
            </a:r>
            <a:endParaRPr lang="en-US" sz="1100" dirty="0"/>
          </a:p>
        </p:txBody>
      </p:sp>
      <p:sp>
        <p:nvSpPr>
          <p:cNvPr id="18" name="Text 16"/>
          <p:cNvSpPr/>
          <p:nvPr/>
        </p:nvSpPr>
        <p:spPr>
          <a:xfrm>
            <a:off x="6446520" y="3474720"/>
            <a:ext cx="4846320" cy="365760"/>
          </a:xfrm>
          <a:prstGeom prst="rect">
            <a:avLst/>
          </a:prstGeom>
          <a:noFill/>
          <a:ln/>
        </p:spPr>
        <p:txBody>
          <a:bodyPr wrap="square" rtlCol="0" anchor="ctr"/>
          <a:lstStyle/>
          <a:p>
            <a:pPr indent="0" marL="0">
              <a:buNone/>
            </a:pPr>
            <a:r>
              <a:rPr lang="en-US" sz="1300" dirty="0">
                <a:solidFill>
                  <a:srgbClr val="1F1F1E"/>
                </a:solidFill>
                <a:latin typeface="Calibri" pitchFamily="34" charset="0"/>
                <a:ea typeface="Calibri" pitchFamily="34" charset="-122"/>
                <a:cs typeface="Calibri" pitchFamily="34" charset="-120"/>
              </a:rPr>
              <a:t>•  Pricing and commercial terms</a:t>
            </a:r>
            <a:endParaRPr lang="en-US" sz="1300" dirty="0"/>
          </a:p>
        </p:txBody>
      </p:sp>
      <p:sp>
        <p:nvSpPr>
          <p:cNvPr id="19" name="Text 17"/>
          <p:cNvSpPr/>
          <p:nvPr/>
        </p:nvSpPr>
        <p:spPr>
          <a:xfrm>
            <a:off x="6446520" y="3858768"/>
            <a:ext cx="4846320" cy="365760"/>
          </a:xfrm>
          <a:prstGeom prst="rect">
            <a:avLst/>
          </a:prstGeom>
          <a:noFill/>
          <a:ln/>
        </p:spPr>
        <p:txBody>
          <a:bodyPr wrap="square" rtlCol="0" anchor="ctr"/>
          <a:lstStyle/>
          <a:p>
            <a:pPr indent="0" marL="0">
              <a:buNone/>
            </a:pPr>
            <a:r>
              <a:rPr lang="en-US" sz="1300" dirty="0">
                <a:solidFill>
                  <a:srgbClr val="1F1F1E"/>
                </a:solidFill>
                <a:latin typeface="Calibri" pitchFamily="34" charset="0"/>
                <a:ea typeface="Calibri" pitchFamily="34" charset="-122"/>
                <a:cs typeface="Calibri" pitchFamily="34" charset="-120"/>
              </a:rPr>
              <a:t>•  Org design changes</a:t>
            </a:r>
            <a:endParaRPr lang="en-US" sz="1300" dirty="0"/>
          </a:p>
        </p:txBody>
      </p:sp>
      <p:sp>
        <p:nvSpPr>
          <p:cNvPr id="20" name="Text 18"/>
          <p:cNvSpPr/>
          <p:nvPr/>
        </p:nvSpPr>
        <p:spPr>
          <a:xfrm>
            <a:off x="6446520" y="4242816"/>
            <a:ext cx="4846320" cy="365760"/>
          </a:xfrm>
          <a:prstGeom prst="rect">
            <a:avLst/>
          </a:prstGeom>
          <a:noFill/>
          <a:ln/>
        </p:spPr>
        <p:txBody>
          <a:bodyPr wrap="square" rtlCol="0" anchor="ctr"/>
          <a:lstStyle/>
          <a:p>
            <a:pPr indent="0" marL="0">
              <a:buNone/>
            </a:pPr>
            <a:r>
              <a:rPr lang="en-US" sz="1300" dirty="0">
                <a:solidFill>
                  <a:srgbClr val="1F1F1E"/>
                </a:solidFill>
                <a:latin typeface="Calibri" pitchFamily="34" charset="0"/>
                <a:ea typeface="Calibri" pitchFamily="34" charset="-122"/>
                <a:cs typeface="Calibri" pitchFamily="34" charset="-120"/>
              </a:rPr>
              <a:t>•  Individual developer workflows</a:t>
            </a:r>
            <a:endParaRPr lang="en-US" sz="1300" dirty="0"/>
          </a:p>
        </p:txBody>
      </p:sp>
      <p:sp>
        <p:nvSpPr>
          <p:cNvPr id="21" name="Text 19"/>
          <p:cNvSpPr/>
          <p:nvPr/>
        </p:nvSpPr>
        <p:spPr>
          <a:xfrm>
            <a:off x="6446520" y="4626864"/>
            <a:ext cx="4846320" cy="365760"/>
          </a:xfrm>
          <a:prstGeom prst="rect">
            <a:avLst/>
          </a:prstGeom>
          <a:noFill/>
          <a:ln/>
        </p:spPr>
        <p:txBody>
          <a:bodyPr wrap="square" rtlCol="0" anchor="ctr"/>
          <a:lstStyle/>
          <a:p>
            <a:pPr indent="0" marL="0">
              <a:buNone/>
            </a:pPr>
            <a:r>
              <a:rPr lang="en-US" sz="1300" dirty="0">
                <a:solidFill>
                  <a:srgbClr val="1F1F1E"/>
                </a:solidFill>
                <a:latin typeface="Calibri" pitchFamily="34" charset="0"/>
                <a:ea typeface="Calibri" pitchFamily="34" charset="-122"/>
                <a:cs typeface="Calibri" pitchFamily="34" charset="-120"/>
              </a:rPr>
              <a:t>•  Competitive positioning</a:t>
            </a:r>
            <a:endParaRPr lang="en-US" sz="1300" dirty="0"/>
          </a:p>
        </p:txBody>
      </p:sp>
      <p:sp>
        <p:nvSpPr>
          <p:cNvPr id="22" name="Text 20"/>
          <p:cNvSpPr/>
          <p:nvPr/>
        </p:nvSpPr>
        <p:spPr>
          <a:xfrm>
            <a:off x="6446520" y="5010912"/>
            <a:ext cx="4846320" cy="365760"/>
          </a:xfrm>
          <a:prstGeom prst="rect">
            <a:avLst/>
          </a:prstGeom>
          <a:noFill/>
          <a:ln/>
        </p:spPr>
        <p:txBody>
          <a:bodyPr wrap="square" rtlCol="0" anchor="ctr"/>
          <a:lstStyle/>
          <a:p>
            <a:pPr indent="0" marL="0">
              <a:buNone/>
            </a:pPr>
            <a:r>
              <a:rPr lang="en-US" sz="1300" dirty="0">
                <a:solidFill>
                  <a:srgbClr val="1F1F1E"/>
                </a:solidFill>
                <a:latin typeface="Calibri" pitchFamily="34" charset="0"/>
                <a:ea typeface="Calibri" pitchFamily="34" charset="-122"/>
                <a:cs typeface="Calibri" pitchFamily="34" charset="-120"/>
              </a:rPr>
              <a:t>•  Anything that belongs in a SOW</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0EEE6"/>
        </a:solidFill>
      </p:bgPr>
    </p:bg>
    <p:spTree>
      <p:nvGrpSpPr>
        <p:cNvPr id="1" name=""/>
        <p:cNvGrpSpPr/>
        <p:nvPr/>
      </p:nvGrpSpPr>
      <p:grpSpPr>
        <a:xfrm>
          <a:off x="0" y="0"/>
          <a:ext cx="0" cy="0"/>
          <a:chOff x="0" y="0"/>
          <a:chExt cx="0" cy="0"/>
        </a:xfrm>
      </p:grpSpPr>
      <p:sp>
        <p:nvSpPr>
          <p:cNvPr id="2" name="Text 0"/>
          <p:cNvSpPr/>
          <p:nvPr/>
        </p:nvSpPr>
        <p:spPr>
          <a:xfrm>
            <a:off x="457200" y="6446520"/>
            <a:ext cx="6400800" cy="274320"/>
          </a:xfrm>
          <a:prstGeom prst="rect">
            <a:avLst/>
          </a:prstGeom>
          <a:noFill/>
          <a:ln/>
        </p:spPr>
        <p:txBody>
          <a:bodyPr wrap="square" rtlCol="0" anchor="ctr"/>
          <a:lstStyle/>
          <a:p>
            <a:pPr indent="0" marL="0">
              <a:buNone/>
            </a:pPr>
            <a:r>
              <a:rPr lang="en-US" sz="900" dirty="0">
                <a:solidFill>
                  <a:srgbClr val="6B6760"/>
                </a:solidFill>
                <a:latin typeface="Calibri" pitchFamily="34" charset="0"/>
                <a:ea typeface="Calibri" pitchFamily="34" charset="-122"/>
                <a:cs typeface="Calibri" pitchFamily="34" charset="-120"/>
              </a:rPr>
              <a:t>Claude Code  ·  Technical deep-dive</a:t>
            </a:r>
            <a:endParaRPr lang="en-US" sz="900" dirty="0"/>
          </a:p>
        </p:txBody>
      </p:sp>
      <p:sp>
        <p:nvSpPr>
          <p:cNvPr id="3" name="Text 1"/>
          <p:cNvSpPr/>
          <p:nvPr/>
        </p:nvSpPr>
        <p:spPr>
          <a:xfrm>
            <a:off x="10515600" y="6446520"/>
            <a:ext cx="1371600" cy="274320"/>
          </a:xfrm>
          <a:prstGeom prst="rect">
            <a:avLst/>
          </a:prstGeom>
          <a:noFill/>
          <a:ln/>
        </p:spPr>
        <p:txBody>
          <a:bodyPr wrap="square" rtlCol="0" anchor="ctr"/>
          <a:lstStyle/>
          <a:p>
            <a:pPr algn="r" indent="0" marL="0">
              <a:buNone/>
            </a:pPr>
            <a:r>
              <a:rPr lang="en-US" sz="900" i="1" dirty="0">
                <a:solidFill>
                  <a:srgbClr val="6B6760"/>
                </a:solidFill>
                <a:latin typeface="Calibri" pitchFamily="34" charset="0"/>
                <a:ea typeface="Calibri" pitchFamily="34" charset="-122"/>
                <a:cs typeface="Calibri" pitchFamily="34" charset="-120"/>
              </a:rPr>
              <a:t>Anthropic</a:t>
            </a:r>
            <a:endParaRPr lang="en-US" sz="900" dirty="0"/>
          </a:p>
        </p:txBody>
      </p:sp>
      <p:sp>
        <p:nvSpPr>
          <p:cNvPr id="4" name="Shape 2"/>
          <p:cNvSpPr/>
          <p:nvPr/>
        </p:nvSpPr>
        <p:spPr>
          <a:xfrm>
            <a:off x="457200" y="457200"/>
            <a:ext cx="164592" cy="164592"/>
          </a:xfrm>
          <a:prstGeom prst="rect">
            <a:avLst/>
          </a:prstGeom>
          <a:solidFill>
            <a:srgbClr val="CC785C"/>
          </a:solidFill>
          <a:ln w="12700">
            <a:solidFill>
              <a:srgbClr val="CC785C"/>
            </a:solidFill>
            <a:prstDash val="solid"/>
          </a:ln>
        </p:spPr>
      </p:sp>
      <p:sp>
        <p:nvSpPr>
          <p:cNvPr id="5" name="Text 3"/>
          <p:cNvSpPr/>
          <p:nvPr/>
        </p:nvSpPr>
        <p:spPr>
          <a:xfrm>
            <a:off x="777240" y="384048"/>
            <a:ext cx="7315200" cy="320040"/>
          </a:xfrm>
          <a:prstGeom prst="rect">
            <a:avLst/>
          </a:prstGeom>
          <a:noFill/>
          <a:ln/>
        </p:spPr>
        <p:txBody>
          <a:bodyPr wrap="square" rtlCol="0" anchor="ctr"/>
          <a:lstStyle/>
          <a:p>
            <a:pPr indent="0" marL="0">
              <a:buNone/>
            </a:pPr>
            <a:r>
              <a:rPr lang="en-US" sz="1100" b="1" spc="200" kern="0" dirty="0">
                <a:solidFill>
                  <a:srgbClr val="CC785C"/>
                </a:solidFill>
                <a:latin typeface="Calibri" pitchFamily="34" charset="0"/>
                <a:ea typeface="Calibri" pitchFamily="34" charset="-122"/>
                <a:cs typeface="Calibri" pitchFamily="34" charset="-120"/>
              </a:rPr>
              <a:t>ARCHITECTURE</a:t>
            </a:r>
            <a:endParaRPr lang="en-US" sz="1100" dirty="0"/>
          </a:p>
        </p:txBody>
      </p:sp>
      <p:sp>
        <p:nvSpPr>
          <p:cNvPr id="6" name="Text 4"/>
          <p:cNvSpPr/>
          <p:nvPr/>
        </p:nvSpPr>
        <p:spPr>
          <a:xfrm>
            <a:off x="457200" y="777240"/>
            <a:ext cx="11247120" cy="822960"/>
          </a:xfrm>
          <a:prstGeom prst="rect">
            <a:avLst/>
          </a:prstGeom>
          <a:noFill/>
          <a:ln/>
        </p:spPr>
        <p:txBody>
          <a:bodyPr wrap="square" rtlCol="0" anchor="ctr"/>
          <a:lstStyle/>
          <a:p>
            <a:pPr indent="0" marL="0">
              <a:buNone/>
            </a:pPr>
            <a:r>
              <a:rPr lang="en-US" sz="3200" dirty="0">
                <a:solidFill>
                  <a:srgbClr val="1F1F1E"/>
                </a:solidFill>
                <a:latin typeface="Georgia" pitchFamily="34" charset="0"/>
                <a:ea typeface="Georgia" pitchFamily="34" charset="-122"/>
                <a:cs typeface="Georgia" pitchFamily="34" charset="-120"/>
              </a:rPr>
              <a:t>Reference architecture for a regulated enterprise.</a:t>
            </a:r>
            <a:endParaRPr lang="en-US" sz="3200" dirty="0"/>
          </a:p>
        </p:txBody>
      </p:sp>
      <p:sp>
        <p:nvSpPr>
          <p:cNvPr id="7" name="Shape 5"/>
          <p:cNvSpPr/>
          <p:nvPr/>
        </p:nvSpPr>
        <p:spPr>
          <a:xfrm>
            <a:off x="502920" y="1828800"/>
            <a:ext cx="11247120" cy="1325880"/>
          </a:xfrm>
          <a:prstGeom prst="rect">
            <a:avLst/>
          </a:prstGeom>
          <a:solidFill>
            <a:srgbClr val="E8E4D8"/>
          </a:solidFill>
          <a:ln w="9525">
            <a:solidFill>
              <a:srgbClr val="D6D1C4"/>
            </a:solidFill>
            <a:prstDash val="solid"/>
          </a:ln>
        </p:spPr>
      </p:sp>
      <p:sp>
        <p:nvSpPr>
          <p:cNvPr id="8" name="Text 6"/>
          <p:cNvSpPr/>
          <p:nvPr/>
        </p:nvSpPr>
        <p:spPr>
          <a:xfrm>
            <a:off x="640080" y="1901952"/>
            <a:ext cx="3657600" cy="274320"/>
          </a:xfrm>
          <a:prstGeom prst="rect">
            <a:avLst/>
          </a:prstGeom>
          <a:noFill/>
          <a:ln/>
        </p:spPr>
        <p:txBody>
          <a:bodyPr wrap="square" rtlCol="0" anchor="ctr"/>
          <a:lstStyle/>
          <a:p>
            <a:pPr indent="0" marL="0">
              <a:buNone/>
            </a:pPr>
            <a:r>
              <a:rPr lang="en-US" sz="900" b="1" spc="200" kern="0" dirty="0">
                <a:solidFill>
                  <a:srgbClr val="CC785C"/>
                </a:solidFill>
                <a:latin typeface="Calibri" pitchFamily="34" charset="0"/>
                <a:ea typeface="Calibri" pitchFamily="34" charset="-122"/>
                <a:cs typeface="Calibri" pitchFamily="34" charset="-120"/>
              </a:rPr>
              <a:t>YOUR LAPTOP / CI</a:t>
            </a:r>
            <a:endParaRPr lang="en-US" sz="900" dirty="0"/>
          </a:p>
        </p:txBody>
      </p:sp>
      <p:sp>
        <p:nvSpPr>
          <p:cNvPr id="9" name="Shape 7"/>
          <p:cNvSpPr/>
          <p:nvPr/>
        </p:nvSpPr>
        <p:spPr>
          <a:xfrm>
            <a:off x="502920" y="3337560"/>
            <a:ext cx="11247120" cy="1325880"/>
          </a:xfrm>
          <a:prstGeom prst="rect">
            <a:avLst/>
          </a:prstGeom>
          <a:solidFill>
            <a:srgbClr val="E8E4D8"/>
          </a:solidFill>
          <a:ln w="9525">
            <a:solidFill>
              <a:srgbClr val="D6D1C4"/>
            </a:solidFill>
            <a:prstDash val="solid"/>
          </a:ln>
        </p:spPr>
      </p:sp>
      <p:sp>
        <p:nvSpPr>
          <p:cNvPr id="10" name="Text 8"/>
          <p:cNvSpPr/>
          <p:nvPr/>
        </p:nvSpPr>
        <p:spPr>
          <a:xfrm>
            <a:off x="640080" y="3410712"/>
            <a:ext cx="3657600" cy="274320"/>
          </a:xfrm>
          <a:prstGeom prst="rect">
            <a:avLst/>
          </a:prstGeom>
          <a:noFill/>
          <a:ln/>
        </p:spPr>
        <p:txBody>
          <a:bodyPr wrap="square" rtlCol="0" anchor="ctr"/>
          <a:lstStyle/>
          <a:p>
            <a:pPr indent="0" marL="0">
              <a:buNone/>
            </a:pPr>
            <a:r>
              <a:rPr lang="en-US" sz="900" b="1" spc="200" kern="0" dirty="0">
                <a:solidFill>
                  <a:srgbClr val="CC785C"/>
                </a:solidFill>
                <a:latin typeface="Calibri" pitchFamily="34" charset="0"/>
                <a:ea typeface="Calibri" pitchFamily="34" charset="-122"/>
                <a:cs typeface="Calibri" pitchFamily="34" charset="-120"/>
              </a:rPr>
              <a:t>YOUR NETWORK</a:t>
            </a:r>
            <a:endParaRPr lang="en-US" sz="900" dirty="0"/>
          </a:p>
        </p:txBody>
      </p:sp>
      <p:sp>
        <p:nvSpPr>
          <p:cNvPr id="11" name="Shape 9"/>
          <p:cNvSpPr/>
          <p:nvPr/>
        </p:nvSpPr>
        <p:spPr>
          <a:xfrm>
            <a:off x="502920" y="4846320"/>
            <a:ext cx="11247120" cy="1325880"/>
          </a:xfrm>
          <a:prstGeom prst="rect">
            <a:avLst/>
          </a:prstGeom>
          <a:solidFill>
            <a:srgbClr val="E8E4D8"/>
          </a:solidFill>
          <a:ln w="9525">
            <a:solidFill>
              <a:srgbClr val="D6D1C4"/>
            </a:solidFill>
            <a:prstDash val="solid"/>
          </a:ln>
        </p:spPr>
      </p:sp>
      <p:sp>
        <p:nvSpPr>
          <p:cNvPr id="12" name="Text 10"/>
          <p:cNvSpPr/>
          <p:nvPr/>
        </p:nvSpPr>
        <p:spPr>
          <a:xfrm>
            <a:off x="640080" y="4919472"/>
            <a:ext cx="3657600" cy="274320"/>
          </a:xfrm>
          <a:prstGeom prst="rect">
            <a:avLst/>
          </a:prstGeom>
          <a:noFill/>
          <a:ln/>
        </p:spPr>
        <p:txBody>
          <a:bodyPr wrap="square" rtlCol="0" anchor="ctr"/>
          <a:lstStyle/>
          <a:p>
            <a:pPr indent="0" marL="0">
              <a:buNone/>
            </a:pPr>
            <a:r>
              <a:rPr lang="en-US" sz="900" b="1" spc="200" kern="0" dirty="0">
                <a:solidFill>
                  <a:srgbClr val="CC785C"/>
                </a:solidFill>
                <a:latin typeface="Calibri" pitchFamily="34" charset="0"/>
                <a:ea typeface="Calibri" pitchFamily="34" charset="-122"/>
                <a:cs typeface="Calibri" pitchFamily="34" charset="-120"/>
              </a:rPr>
              <a:t>ANTHROPIC</a:t>
            </a:r>
            <a:endParaRPr lang="en-US" sz="900" dirty="0"/>
          </a:p>
        </p:txBody>
      </p:sp>
      <p:sp>
        <p:nvSpPr>
          <p:cNvPr id="13" name="Shape 11"/>
          <p:cNvSpPr/>
          <p:nvPr/>
        </p:nvSpPr>
        <p:spPr>
          <a:xfrm>
            <a:off x="731520" y="2240280"/>
            <a:ext cx="2011680" cy="868680"/>
          </a:xfrm>
          <a:prstGeom prst="rect">
            <a:avLst/>
          </a:prstGeom>
          <a:solidFill>
            <a:srgbClr val="FFFFFF"/>
          </a:solidFill>
          <a:ln w="12700">
            <a:solidFill>
              <a:srgbClr val="CC785C"/>
            </a:solidFill>
            <a:prstDash val="solid"/>
          </a:ln>
        </p:spPr>
      </p:sp>
      <p:sp>
        <p:nvSpPr>
          <p:cNvPr id="14" name="Text 12"/>
          <p:cNvSpPr/>
          <p:nvPr/>
        </p:nvSpPr>
        <p:spPr>
          <a:xfrm>
            <a:off x="822960" y="2313432"/>
            <a:ext cx="1828800" cy="274320"/>
          </a:xfrm>
          <a:prstGeom prst="rect">
            <a:avLst/>
          </a:prstGeom>
          <a:noFill/>
          <a:ln/>
        </p:spPr>
        <p:txBody>
          <a:bodyPr wrap="square" rtlCol="0" anchor="ctr"/>
          <a:lstStyle/>
          <a:p>
            <a:pPr indent="0" marL="0">
              <a:buNone/>
            </a:pPr>
            <a:r>
              <a:rPr lang="en-US" sz="1100" b="1" dirty="0">
                <a:solidFill>
                  <a:srgbClr val="1F1F1E"/>
                </a:solidFill>
                <a:latin typeface="Calibri" pitchFamily="34" charset="0"/>
                <a:ea typeface="Calibri" pitchFamily="34" charset="-122"/>
                <a:cs typeface="Calibri" pitchFamily="34" charset="-120"/>
              </a:rPr>
              <a:t>IDE / Terminal</a:t>
            </a:r>
            <a:endParaRPr lang="en-US" sz="1100" dirty="0"/>
          </a:p>
        </p:txBody>
      </p:sp>
      <p:sp>
        <p:nvSpPr>
          <p:cNvPr id="15" name="Text 13"/>
          <p:cNvSpPr/>
          <p:nvPr/>
        </p:nvSpPr>
        <p:spPr>
          <a:xfrm>
            <a:off x="822960" y="2587752"/>
            <a:ext cx="1828800" cy="411480"/>
          </a:xfrm>
          <a:prstGeom prst="rect">
            <a:avLst/>
          </a:prstGeom>
          <a:noFill/>
          <a:ln/>
        </p:spPr>
        <p:txBody>
          <a:bodyPr wrap="square" rtlCol="0" anchor="ctr"/>
          <a:lstStyle/>
          <a:p>
            <a:pPr indent="0" marL="0">
              <a:buNone/>
            </a:pPr>
            <a:r>
              <a:rPr lang="en-US" sz="900" dirty="0">
                <a:solidFill>
                  <a:srgbClr val="6B6760"/>
                </a:solidFill>
                <a:latin typeface="Calibri" pitchFamily="34" charset="0"/>
                <a:ea typeface="Calibri" pitchFamily="34" charset="-122"/>
                <a:cs typeface="Calibri" pitchFamily="34" charset="-120"/>
              </a:rPr>
              <a:t>Engineer signs in via your IdP (Okta/SSO)</a:t>
            </a:r>
            <a:endParaRPr lang="en-US" sz="900" dirty="0"/>
          </a:p>
        </p:txBody>
      </p:sp>
      <p:sp>
        <p:nvSpPr>
          <p:cNvPr id="16" name="Shape 14"/>
          <p:cNvSpPr/>
          <p:nvPr/>
        </p:nvSpPr>
        <p:spPr>
          <a:xfrm>
            <a:off x="2926080" y="2240280"/>
            <a:ext cx="2011680" cy="868680"/>
          </a:xfrm>
          <a:prstGeom prst="rect">
            <a:avLst/>
          </a:prstGeom>
          <a:solidFill>
            <a:srgbClr val="FFFFFF"/>
          </a:solidFill>
          <a:ln w="12700">
            <a:solidFill>
              <a:srgbClr val="CC785C"/>
            </a:solidFill>
            <a:prstDash val="solid"/>
          </a:ln>
        </p:spPr>
      </p:sp>
      <p:sp>
        <p:nvSpPr>
          <p:cNvPr id="17" name="Text 15"/>
          <p:cNvSpPr/>
          <p:nvPr/>
        </p:nvSpPr>
        <p:spPr>
          <a:xfrm>
            <a:off x="3017520" y="2313432"/>
            <a:ext cx="1828800" cy="274320"/>
          </a:xfrm>
          <a:prstGeom prst="rect">
            <a:avLst/>
          </a:prstGeom>
          <a:noFill/>
          <a:ln/>
        </p:spPr>
        <p:txBody>
          <a:bodyPr wrap="square" rtlCol="0" anchor="ctr"/>
          <a:lstStyle/>
          <a:p>
            <a:pPr indent="0" marL="0">
              <a:buNone/>
            </a:pPr>
            <a:r>
              <a:rPr lang="en-US" sz="1100" b="1" dirty="0">
                <a:solidFill>
                  <a:srgbClr val="1F1F1E"/>
                </a:solidFill>
                <a:latin typeface="Calibri" pitchFamily="34" charset="0"/>
                <a:ea typeface="Calibri" pitchFamily="34" charset="-122"/>
                <a:cs typeface="Calibri" pitchFamily="34" charset="-120"/>
              </a:rPr>
              <a:t>CLAUDE.md</a:t>
            </a:r>
            <a:endParaRPr lang="en-US" sz="1100" dirty="0"/>
          </a:p>
        </p:txBody>
      </p:sp>
      <p:sp>
        <p:nvSpPr>
          <p:cNvPr id="18" name="Text 16"/>
          <p:cNvSpPr/>
          <p:nvPr/>
        </p:nvSpPr>
        <p:spPr>
          <a:xfrm>
            <a:off x="3017520" y="2587752"/>
            <a:ext cx="1828800" cy="411480"/>
          </a:xfrm>
          <a:prstGeom prst="rect">
            <a:avLst/>
          </a:prstGeom>
          <a:noFill/>
          <a:ln/>
        </p:spPr>
        <p:txBody>
          <a:bodyPr wrap="square" rtlCol="0" anchor="ctr"/>
          <a:lstStyle/>
          <a:p>
            <a:pPr indent="0" marL="0">
              <a:buNone/>
            </a:pPr>
            <a:r>
              <a:rPr lang="en-US" sz="900" dirty="0">
                <a:solidFill>
                  <a:srgbClr val="6B6760"/>
                </a:solidFill>
                <a:latin typeface="Calibri" pitchFamily="34" charset="0"/>
                <a:ea typeface="Calibri" pitchFamily="34" charset="-122"/>
                <a:cs typeface="Calibri" pitchFamily="34" charset="-120"/>
              </a:rPr>
              <a:t>Repo-level policy, rules, guardrails</a:t>
            </a:r>
            <a:endParaRPr lang="en-US" sz="900" dirty="0"/>
          </a:p>
        </p:txBody>
      </p:sp>
      <p:sp>
        <p:nvSpPr>
          <p:cNvPr id="19" name="Shape 17"/>
          <p:cNvSpPr/>
          <p:nvPr/>
        </p:nvSpPr>
        <p:spPr>
          <a:xfrm>
            <a:off x="5120640" y="2240280"/>
            <a:ext cx="2011680" cy="868680"/>
          </a:xfrm>
          <a:prstGeom prst="rect">
            <a:avLst/>
          </a:prstGeom>
          <a:solidFill>
            <a:srgbClr val="FFFFFF"/>
          </a:solidFill>
          <a:ln w="12700">
            <a:solidFill>
              <a:srgbClr val="CC785C"/>
            </a:solidFill>
            <a:prstDash val="solid"/>
          </a:ln>
        </p:spPr>
      </p:sp>
      <p:sp>
        <p:nvSpPr>
          <p:cNvPr id="20" name="Text 18"/>
          <p:cNvSpPr/>
          <p:nvPr/>
        </p:nvSpPr>
        <p:spPr>
          <a:xfrm>
            <a:off x="5212080" y="2313432"/>
            <a:ext cx="1828800" cy="274320"/>
          </a:xfrm>
          <a:prstGeom prst="rect">
            <a:avLst/>
          </a:prstGeom>
          <a:noFill/>
          <a:ln/>
        </p:spPr>
        <p:txBody>
          <a:bodyPr wrap="square" rtlCol="0" anchor="ctr"/>
          <a:lstStyle/>
          <a:p>
            <a:pPr indent="0" marL="0">
              <a:buNone/>
            </a:pPr>
            <a:r>
              <a:rPr lang="en-US" sz="1100" b="1" dirty="0">
                <a:solidFill>
                  <a:srgbClr val="1F1F1E"/>
                </a:solidFill>
                <a:latin typeface="Calibri" pitchFamily="34" charset="0"/>
                <a:ea typeface="Calibri" pitchFamily="34" charset="-122"/>
                <a:cs typeface="Calibri" pitchFamily="34" charset="-120"/>
              </a:rPr>
              <a:t>Claude Code CLI</a:t>
            </a:r>
            <a:endParaRPr lang="en-US" sz="1100" dirty="0"/>
          </a:p>
        </p:txBody>
      </p:sp>
      <p:sp>
        <p:nvSpPr>
          <p:cNvPr id="21" name="Text 19"/>
          <p:cNvSpPr/>
          <p:nvPr/>
        </p:nvSpPr>
        <p:spPr>
          <a:xfrm>
            <a:off x="5212080" y="2587752"/>
            <a:ext cx="1828800" cy="411480"/>
          </a:xfrm>
          <a:prstGeom prst="rect">
            <a:avLst/>
          </a:prstGeom>
          <a:noFill/>
          <a:ln/>
        </p:spPr>
        <p:txBody>
          <a:bodyPr wrap="square" rtlCol="0" anchor="ctr"/>
          <a:lstStyle/>
          <a:p>
            <a:pPr indent="0" marL="0">
              <a:buNone/>
            </a:pPr>
            <a:r>
              <a:rPr lang="en-US" sz="900" dirty="0">
                <a:solidFill>
                  <a:srgbClr val="6B6760"/>
                </a:solidFill>
                <a:latin typeface="Calibri" pitchFamily="34" charset="0"/>
                <a:ea typeface="Calibri" pitchFamily="34" charset="-122"/>
                <a:cs typeface="Calibri" pitchFamily="34" charset="-120"/>
              </a:rPr>
              <a:t>Local binary, signed releases</a:t>
            </a:r>
            <a:endParaRPr lang="en-US" sz="900" dirty="0"/>
          </a:p>
        </p:txBody>
      </p:sp>
      <p:sp>
        <p:nvSpPr>
          <p:cNvPr id="22" name="Shape 20"/>
          <p:cNvSpPr/>
          <p:nvPr/>
        </p:nvSpPr>
        <p:spPr>
          <a:xfrm>
            <a:off x="7315200" y="2240280"/>
            <a:ext cx="2011680" cy="868680"/>
          </a:xfrm>
          <a:prstGeom prst="rect">
            <a:avLst/>
          </a:prstGeom>
          <a:solidFill>
            <a:srgbClr val="FFFFFF"/>
          </a:solidFill>
          <a:ln w="12700">
            <a:solidFill>
              <a:srgbClr val="CC785C"/>
            </a:solidFill>
            <a:prstDash val="solid"/>
          </a:ln>
        </p:spPr>
      </p:sp>
      <p:sp>
        <p:nvSpPr>
          <p:cNvPr id="23" name="Text 21"/>
          <p:cNvSpPr/>
          <p:nvPr/>
        </p:nvSpPr>
        <p:spPr>
          <a:xfrm>
            <a:off x="7406640" y="2313432"/>
            <a:ext cx="1828800" cy="274320"/>
          </a:xfrm>
          <a:prstGeom prst="rect">
            <a:avLst/>
          </a:prstGeom>
          <a:noFill/>
          <a:ln/>
        </p:spPr>
        <p:txBody>
          <a:bodyPr wrap="square" rtlCol="0" anchor="ctr"/>
          <a:lstStyle/>
          <a:p>
            <a:pPr indent="0" marL="0">
              <a:buNone/>
            </a:pPr>
            <a:r>
              <a:rPr lang="en-US" sz="1100" b="1" dirty="0">
                <a:solidFill>
                  <a:srgbClr val="1F1F1E"/>
                </a:solidFill>
                <a:latin typeface="Calibri" pitchFamily="34" charset="0"/>
                <a:ea typeface="Calibri" pitchFamily="34" charset="-122"/>
                <a:cs typeface="Calibri" pitchFamily="34" charset="-120"/>
              </a:rPr>
              <a:t>Safety Gate</a:t>
            </a:r>
            <a:endParaRPr lang="en-US" sz="1100" dirty="0"/>
          </a:p>
        </p:txBody>
      </p:sp>
      <p:sp>
        <p:nvSpPr>
          <p:cNvPr id="24" name="Text 22"/>
          <p:cNvSpPr/>
          <p:nvPr/>
        </p:nvSpPr>
        <p:spPr>
          <a:xfrm>
            <a:off x="7406640" y="2587752"/>
            <a:ext cx="1828800" cy="411480"/>
          </a:xfrm>
          <a:prstGeom prst="rect">
            <a:avLst/>
          </a:prstGeom>
          <a:noFill/>
          <a:ln/>
        </p:spPr>
        <p:txBody>
          <a:bodyPr wrap="square" rtlCol="0" anchor="ctr"/>
          <a:lstStyle/>
          <a:p>
            <a:pPr indent="0" marL="0">
              <a:buNone/>
            </a:pPr>
            <a:r>
              <a:rPr lang="en-US" sz="900" dirty="0">
                <a:solidFill>
                  <a:srgbClr val="6B6760"/>
                </a:solidFill>
                <a:latin typeface="Calibri" pitchFamily="34" charset="0"/>
                <a:ea typeface="Calibri" pitchFamily="34" charset="-122"/>
                <a:cs typeface="Calibri" pitchFamily="34" charset="-120"/>
              </a:rPr>
              <a:t>Reviews every tool call before it runs</a:t>
            </a:r>
            <a:endParaRPr lang="en-US" sz="900" dirty="0"/>
          </a:p>
        </p:txBody>
      </p:sp>
      <p:sp>
        <p:nvSpPr>
          <p:cNvPr id="25" name="Shape 23"/>
          <p:cNvSpPr/>
          <p:nvPr/>
        </p:nvSpPr>
        <p:spPr>
          <a:xfrm>
            <a:off x="9509760" y="2240280"/>
            <a:ext cx="2011680" cy="868680"/>
          </a:xfrm>
          <a:prstGeom prst="rect">
            <a:avLst/>
          </a:prstGeom>
          <a:solidFill>
            <a:srgbClr val="FFFFFF"/>
          </a:solidFill>
          <a:ln w="12700">
            <a:solidFill>
              <a:srgbClr val="CC785C"/>
            </a:solidFill>
            <a:prstDash val="solid"/>
          </a:ln>
        </p:spPr>
      </p:sp>
      <p:sp>
        <p:nvSpPr>
          <p:cNvPr id="26" name="Text 24"/>
          <p:cNvSpPr/>
          <p:nvPr/>
        </p:nvSpPr>
        <p:spPr>
          <a:xfrm>
            <a:off x="9601200" y="2313432"/>
            <a:ext cx="1828800" cy="274320"/>
          </a:xfrm>
          <a:prstGeom prst="rect">
            <a:avLst/>
          </a:prstGeom>
          <a:noFill/>
          <a:ln/>
        </p:spPr>
        <p:txBody>
          <a:bodyPr wrap="square" rtlCol="0" anchor="ctr"/>
          <a:lstStyle/>
          <a:p>
            <a:pPr indent="0" marL="0">
              <a:buNone/>
            </a:pPr>
            <a:r>
              <a:rPr lang="en-US" sz="1100" b="1" dirty="0">
                <a:solidFill>
                  <a:srgbClr val="1F1F1E"/>
                </a:solidFill>
                <a:latin typeface="Calibri" pitchFamily="34" charset="0"/>
                <a:ea typeface="Calibri" pitchFamily="34" charset="-122"/>
                <a:cs typeface="Calibri" pitchFamily="34" charset="-120"/>
              </a:rPr>
              <a:t>Git / Tests / CI</a:t>
            </a:r>
            <a:endParaRPr lang="en-US" sz="1100" dirty="0"/>
          </a:p>
        </p:txBody>
      </p:sp>
      <p:sp>
        <p:nvSpPr>
          <p:cNvPr id="27" name="Text 25"/>
          <p:cNvSpPr/>
          <p:nvPr/>
        </p:nvSpPr>
        <p:spPr>
          <a:xfrm>
            <a:off x="9601200" y="2587752"/>
            <a:ext cx="1828800" cy="411480"/>
          </a:xfrm>
          <a:prstGeom prst="rect">
            <a:avLst/>
          </a:prstGeom>
          <a:noFill/>
          <a:ln/>
        </p:spPr>
        <p:txBody>
          <a:bodyPr wrap="square" rtlCol="0" anchor="ctr"/>
          <a:lstStyle/>
          <a:p>
            <a:pPr indent="0" marL="0">
              <a:buNone/>
            </a:pPr>
            <a:r>
              <a:rPr lang="en-US" sz="900" dirty="0">
                <a:solidFill>
                  <a:srgbClr val="6B6760"/>
                </a:solidFill>
                <a:latin typeface="Calibri" pitchFamily="34" charset="0"/>
                <a:ea typeface="Calibri" pitchFamily="34" charset="-122"/>
                <a:cs typeface="Calibri" pitchFamily="34" charset="-120"/>
              </a:rPr>
              <a:t>Changes land through your normal PR flow</a:t>
            </a:r>
            <a:endParaRPr lang="en-US" sz="900" dirty="0"/>
          </a:p>
        </p:txBody>
      </p:sp>
      <p:sp>
        <p:nvSpPr>
          <p:cNvPr id="28" name="Shape 26"/>
          <p:cNvSpPr/>
          <p:nvPr/>
        </p:nvSpPr>
        <p:spPr>
          <a:xfrm>
            <a:off x="731520" y="3749040"/>
            <a:ext cx="3108960" cy="868680"/>
          </a:xfrm>
          <a:prstGeom prst="rect">
            <a:avLst/>
          </a:prstGeom>
          <a:solidFill>
            <a:srgbClr val="FFFFFF"/>
          </a:solidFill>
          <a:ln w="12700">
            <a:solidFill>
              <a:srgbClr val="CC785C"/>
            </a:solidFill>
            <a:prstDash val="solid"/>
          </a:ln>
        </p:spPr>
      </p:sp>
      <p:sp>
        <p:nvSpPr>
          <p:cNvPr id="29" name="Text 27"/>
          <p:cNvSpPr/>
          <p:nvPr/>
        </p:nvSpPr>
        <p:spPr>
          <a:xfrm>
            <a:off x="822960" y="3822192"/>
            <a:ext cx="2926080" cy="274320"/>
          </a:xfrm>
          <a:prstGeom prst="rect">
            <a:avLst/>
          </a:prstGeom>
          <a:noFill/>
          <a:ln/>
        </p:spPr>
        <p:txBody>
          <a:bodyPr wrap="square" rtlCol="0" anchor="ctr"/>
          <a:lstStyle/>
          <a:p>
            <a:pPr indent="0" marL="0">
              <a:buNone/>
            </a:pPr>
            <a:r>
              <a:rPr lang="en-US" sz="1100" b="1" dirty="0">
                <a:solidFill>
                  <a:srgbClr val="1F1F1E"/>
                </a:solidFill>
                <a:latin typeface="Calibri" pitchFamily="34" charset="0"/>
                <a:ea typeface="Calibri" pitchFamily="34" charset="-122"/>
                <a:cs typeface="Calibri" pitchFamily="34" charset="-120"/>
              </a:rPr>
              <a:t>Egress Proxy / Firewall</a:t>
            </a:r>
            <a:endParaRPr lang="en-US" sz="1100" dirty="0"/>
          </a:p>
        </p:txBody>
      </p:sp>
      <p:sp>
        <p:nvSpPr>
          <p:cNvPr id="30" name="Text 28"/>
          <p:cNvSpPr/>
          <p:nvPr/>
        </p:nvSpPr>
        <p:spPr>
          <a:xfrm>
            <a:off x="822960" y="4096512"/>
            <a:ext cx="2926080" cy="411480"/>
          </a:xfrm>
          <a:prstGeom prst="rect">
            <a:avLst/>
          </a:prstGeom>
          <a:noFill/>
          <a:ln/>
        </p:spPr>
        <p:txBody>
          <a:bodyPr wrap="square" rtlCol="0" anchor="ctr"/>
          <a:lstStyle/>
          <a:p>
            <a:pPr indent="0" marL="0">
              <a:buNone/>
            </a:pPr>
            <a:r>
              <a:rPr lang="en-US" sz="900" dirty="0">
                <a:solidFill>
                  <a:srgbClr val="6B6760"/>
                </a:solidFill>
                <a:latin typeface="Calibri" pitchFamily="34" charset="0"/>
                <a:ea typeface="Calibri" pitchFamily="34" charset="-122"/>
                <a:cs typeface="Calibri" pitchFamily="34" charset="-120"/>
              </a:rPr>
              <a:t>TLS 1.3 only · pinned to api.anthropic.com</a:t>
            </a:r>
            <a:endParaRPr lang="en-US" sz="900" dirty="0"/>
          </a:p>
        </p:txBody>
      </p:sp>
      <p:sp>
        <p:nvSpPr>
          <p:cNvPr id="31" name="Shape 29"/>
          <p:cNvSpPr/>
          <p:nvPr/>
        </p:nvSpPr>
        <p:spPr>
          <a:xfrm>
            <a:off x="4023360" y="3749040"/>
            <a:ext cx="3108960" cy="868680"/>
          </a:xfrm>
          <a:prstGeom prst="rect">
            <a:avLst/>
          </a:prstGeom>
          <a:solidFill>
            <a:srgbClr val="FFFFFF"/>
          </a:solidFill>
          <a:ln w="12700">
            <a:solidFill>
              <a:srgbClr val="CC785C"/>
            </a:solidFill>
            <a:prstDash val="solid"/>
          </a:ln>
        </p:spPr>
      </p:sp>
      <p:sp>
        <p:nvSpPr>
          <p:cNvPr id="32" name="Text 30"/>
          <p:cNvSpPr/>
          <p:nvPr/>
        </p:nvSpPr>
        <p:spPr>
          <a:xfrm>
            <a:off x="4114800" y="3822192"/>
            <a:ext cx="2926080" cy="274320"/>
          </a:xfrm>
          <a:prstGeom prst="rect">
            <a:avLst/>
          </a:prstGeom>
          <a:noFill/>
          <a:ln/>
        </p:spPr>
        <p:txBody>
          <a:bodyPr wrap="square" rtlCol="0" anchor="ctr"/>
          <a:lstStyle/>
          <a:p>
            <a:pPr indent="0" marL="0">
              <a:buNone/>
            </a:pPr>
            <a:r>
              <a:rPr lang="en-US" sz="1100" b="1" dirty="0">
                <a:solidFill>
                  <a:srgbClr val="1F1F1E"/>
                </a:solidFill>
                <a:latin typeface="Calibri" pitchFamily="34" charset="0"/>
                <a:ea typeface="Calibri" pitchFamily="34" charset="-122"/>
                <a:cs typeface="Calibri" pitchFamily="34" charset="-120"/>
              </a:rPr>
              <a:t>Secrets Vault</a:t>
            </a:r>
            <a:endParaRPr lang="en-US" sz="1100" dirty="0"/>
          </a:p>
        </p:txBody>
      </p:sp>
      <p:sp>
        <p:nvSpPr>
          <p:cNvPr id="33" name="Text 31"/>
          <p:cNvSpPr/>
          <p:nvPr/>
        </p:nvSpPr>
        <p:spPr>
          <a:xfrm>
            <a:off x="4114800" y="4096512"/>
            <a:ext cx="2926080" cy="411480"/>
          </a:xfrm>
          <a:prstGeom prst="rect">
            <a:avLst/>
          </a:prstGeom>
          <a:noFill/>
          <a:ln/>
        </p:spPr>
        <p:txBody>
          <a:bodyPr wrap="square" rtlCol="0" anchor="ctr"/>
          <a:lstStyle/>
          <a:p>
            <a:pPr indent="0" marL="0">
              <a:buNone/>
            </a:pPr>
            <a:r>
              <a:rPr lang="en-US" sz="900" dirty="0">
                <a:solidFill>
                  <a:srgbClr val="6B6760"/>
                </a:solidFill>
                <a:latin typeface="Calibri" pitchFamily="34" charset="0"/>
                <a:ea typeface="Calibri" pitchFamily="34" charset="-122"/>
                <a:cs typeface="Calibri" pitchFamily="34" charset="-120"/>
              </a:rPr>
              <a:t>Short-lived tokens, rotated on schedule</a:t>
            </a:r>
            <a:endParaRPr lang="en-US" sz="900" dirty="0"/>
          </a:p>
        </p:txBody>
      </p:sp>
      <p:sp>
        <p:nvSpPr>
          <p:cNvPr id="34" name="Shape 32"/>
          <p:cNvSpPr/>
          <p:nvPr/>
        </p:nvSpPr>
        <p:spPr>
          <a:xfrm>
            <a:off x="7315200" y="3749040"/>
            <a:ext cx="3108960" cy="868680"/>
          </a:xfrm>
          <a:prstGeom prst="rect">
            <a:avLst/>
          </a:prstGeom>
          <a:solidFill>
            <a:srgbClr val="FFFFFF"/>
          </a:solidFill>
          <a:ln w="12700">
            <a:solidFill>
              <a:srgbClr val="CC785C"/>
            </a:solidFill>
            <a:prstDash val="solid"/>
          </a:ln>
        </p:spPr>
      </p:sp>
      <p:sp>
        <p:nvSpPr>
          <p:cNvPr id="35" name="Text 33"/>
          <p:cNvSpPr/>
          <p:nvPr/>
        </p:nvSpPr>
        <p:spPr>
          <a:xfrm>
            <a:off x="7406640" y="3822192"/>
            <a:ext cx="2926080" cy="274320"/>
          </a:xfrm>
          <a:prstGeom prst="rect">
            <a:avLst/>
          </a:prstGeom>
          <a:noFill/>
          <a:ln/>
        </p:spPr>
        <p:txBody>
          <a:bodyPr wrap="square" rtlCol="0" anchor="ctr"/>
          <a:lstStyle/>
          <a:p>
            <a:pPr indent="0" marL="0">
              <a:buNone/>
            </a:pPr>
            <a:r>
              <a:rPr lang="en-US" sz="1100" b="1" dirty="0">
                <a:solidFill>
                  <a:srgbClr val="1F1F1E"/>
                </a:solidFill>
                <a:latin typeface="Calibri" pitchFamily="34" charset="0"/>
                <a:ea typeface="Calibri" pitchFamily="34" charset="-122"/>
                <a:cs typeface="Calibri" pitchFamily="34" charset="-120"/>
              </a:rPr>
              <a:t>SIEM / Audit Log</a:t>
            </a:r>
            <a:endParaRPr lang="en-US" sz="1100" dirty="0"/>
          </a:p>
        </p:txBody>
      </p:sp>
      <p:sp>
        <p:nvSpPr>
          <p:cNvPr id="36" name="Text 34"/>
          <p:cNvSpPr/>
          <p:nvPr/>
        </p:nvSpPr>
        <p:spPr>
          <a:xfrm>
            <a:off x="7406640" y="4096512"/>
            <a:ext cx="2926080" cy="411480"/>
          </a:xfrm>
          <a:prstGeom prst="rect">
            <a:avLst/>
          </a:prstGeom>
          <a:noFill/>
          <a:ln/>
        </p:spPr>
        <p:txBody>
          <a:bodyPr wrap="square" rtlCol="0" anchor="ctr"/>
          <a:lstStyle/>
          <a:p>
            <a:pPr indent="0" marL="0">
              <a:buNone/>
            </a:pPr>
            <a:r>
              <a:rPr lang="en-US" sz="900" dirty="0">
                <a:solidFill>
                  <a:srgbClr val="6B6760"/>
                </a:solidFill>
                <a:latin typeface="Calibri" pitchFamily="34" charset="0"/>
                <a:ea typeface="Calibri" pitchFamily="34" charset="-122"/>
                <a:cs typeface="Calibri" pitchFamily="34" charset="-120"/>
              </a:rPr>
              <a:t>Tool calls, file reads, API metadata</a:t>
            </a:r>
            <a:endParaRPr lang="en-US" sz="900" dirty="0"/>
          </a:p>
        </p:txBody>
      </p:sp>
      <p:sp>
        <p:nvSpPr>
          <p:cNvPr id="37" name="Shape 35"/>
          <p:cNvSpPr/>
          <p:nvPr/>
        </p:nvSpPr>
        <p:spPr>
          <a:xfrm>
            <a:off x="731520" y="5257800"/>
            <a:ext cx="3657600" cy="868680"/>
          </a:xfrm>
          <a:prstGeom prst="rect">
            <a:avLst/>
          </a:prstGeom>
          <a:solidFill>
            <a:srgbClr val="FFFFFF"/>
          </a:solidFill>
          <a:ln w="12700">
            <a:solidFill>
              <a:srgbClr val="CC785C"/>
            </a:solidFill>
            <a:prstDash val="solid"/>
          </a:ln>
        </p:spPr>
      </p:sp>
      <p:sp>
        <p:nvSpPr>
          <p:cNvPr id="38" name="Text 36"/>
          <p:cNvSpPr/>
          <p:nvPr/>
        </p:nvSpPr>
        <p:spPr>
          <a:xfrm>
            <a:off x="822960" y="5330952"/>
            <a:ext cx="3474720" cy="274320"/>
          </a:xfrm>
          <a:prstGeom prst="rect">
            <a:avLst/>
          </a:prstGeom>
          <a:noFill/>
          <a:ln/>
        </p:spPr>
        <p:txBody>
          <a:bodyPr wrap="square" rtlCol="0" anchor="ctr"/>
          <a:lstStyle/>
          <a:p>
            <a:pPr indent="0" marL="0">
              <a:buNone/>
            </a:pPr>
            <a:r>
              <a:rPr lang="en-US" sz="1100" b="1" dirty="0">
                <a:solidFill>
                  <a:srgbClr val="1F1F1E"/>
                </a:solidFill>
                <a:latin typeface="Calibri" pitchFamily="34" charset="0"/>
                <a:ea typeface="Calibri" pitchFamily="34" charset="-122"/>
                <a:cs typeface="Calibri" pitchFamily="34" charset="-120"/>
              </a:rPr>
              <a:t>api.anthropic.com</a:t>
            </a:r>
            <a:endParaRPr lang="en-US" sz="1100" dirty="0"/>
          </a:p>
        </p:txBody>
      </p:sp>
      <p:sp>
        <p:nvSpPr>
          <p:cNvPr id="39" name="Text 37"/>
          <p:cNvSpPr/>
          <p:nvPr/>
        </p:nvSpPr>
        <p:spPr>
          <a:xfrm>
            <a:off x="822960" y="5605272"/>
            <a:ext cx="3474720" cy="411480"/>
          </a:xfrm>
          <a:prstGeom prst="rect">
            <a:avLst/>
          </a:prstGeom>
          <a:noFill/>
          <a:ln/>
        </p:spPr>
        <p:txBody>
          <a:bodyPr wrap="square" rtlCol="0" anchor="ctr"/>
          <a:lstStyle/>
          <a:p>
            <a:pPr indent="0" marL="0">
              <a:buNone/>
            </a:pPr>
            <a:r>
              <a:rPr lang="en-US" sz="900" dirty="0">
                <a:solidFill>
                  <a:srgbClr val="6B6760"/>
                </a:solidFill>
                <a:latin typeface="Calibri" pitchFamily="34" charset="0"/>
                <a:ea typeface="Calibri" pitchFamily="34" charset="-122"/>
                <a:cs typeface="Calibri" pitchFamily="34" charset="-120"/>
              </a:rPr>
              <a:t>HTTPS · Zero Data Retention eligible</a:t>
            </a:r>
            <a:endParaRPr lang="en-US" sz="900" dirty="0"/>
          </a:p>
        </p:txBody>
      </p:sp>
      <p:sp>
        <p:nvSpPr>
          <p:cNvPr id="40" name="Shape 38"/>
          <p:cNvSpPr/>
          <p:nvPr/>
        </p:nvSpPr>
        <p:spPr>
          <a:xfrm>
            <a:off x="4572000" y="5257800"/>
            <a:ext cx="3291840" cy="868680"/>
          </a:xfrm>
          <a:prstGeom prst="rect">
            <a:avLst/>
          </a:prstGeom>
          <a:solidFill>
            <a:srgbClr val="FFFFFF"/>
          </a:solidFill>
          <a:ln w="12700">
            <a:solidFill>
              <a:srgbClr val="CC785C"/>
            </a:solidFill>
            <a:prstDash val="solid"/>
          </a:ln>
        </p:spPr>
      </p:sp>
      <p:sp>
        <p:nvSpPr>
          <p:cNvPr id="41" name="Text 39"/>
          <p:cNvSpPr/>
          <p:nvPr/>
        </p:nvSpPr>
        <p:spPr>
          <a:xfrm>
            <a:off x="4663440" y="5330952"/>
            <a:ext cx="3108960" cy="274320"/>
          </a:xfrm>
          <a:prstGeom prst="rect">
            <a:avLst/>
          </a:prstGeom>
          <a:noFill/>
          <a:ln/>
        </p:spPr>
        <p:txBody>
          <a:bodyPr wrap="square" rtlCol="0" anchor="ctr"/>
          <a:lstStyle/>
          <a:p>
            <a:pPr indent="0" marL="0">
              <a:buNone/>
            </a:pPr>
            <a:r>
              <a:rPr lang="en-US" sz="1100" b="1" dirty="0">
                <a:solidFill>
                  <a:srgbClr val="1F1F1E"/>
                </a:solidFill>
                <a:latin typeface="Calibri" pitchFamily="34" charset="0"/>
                <a:ea typeface="Calibri" pitchFamily="34" charset="-122"/>
                <a:cs typeface="Calibri" pitchFamily="34" charset="-120"/>
              </a:rPr>
              <a:t>Claude model family</a:t>
            </a:r>
            <a:endParaRPr lang="en-US" sz="1100" dirty="0"/>
          </a:p>
        </p:txBody>
      </p:sp>
      <p:sp>
        <p:nvSpPr>
          <p:cNvPr id="42" name="Text 40"/>
          <p:cNvSpPr/>
          <p:nvPr/>
        </p:nvSpPr>
        <p:spPr>
          <a:xfrm>
            <a:off x="4663440" y="5605272"/>
            <a:ext cx="3108960" cy="411480"/>
          </a:xfrm>
          <a:prstGeom prst="rect">
            <a:avLst/>
          </a:prstGeom>
          <a:noFill/>
          <a:ln/>
        </p:spPr>
        <p:txBody>
          <a:bodyPr wrap="square" rtlCol="0" anchor="ctr"/>
          <a:lstStyle/>
          <a:p>
            <a:pPr indent="0" marL="0">
              <a:buNone/>
            </a:pPr>
            <a:r>
              <a:rPr lang="en-US" sz="900" dirty="0">
                <a:solidFill>
                  <a:srgbClr val="6B6760"/>
                </a:solidFill>
                <a:latin typeface="Calibri" pitchFamily="34" charset="0"/>
                <a:ea typeface="Calibri" pitchFamily="34" charset="-122"/>
                <a:cs typeface="Calibri" pitchFamily="34" charset="-120"/>
              </a:rPr>
              <a:t>Sonnet · Opus · Haiku</a:t>
            </a:r>
            <a:endParaRPr lang="en-US" sz="900" dirty="0"/>
          </a:p>
        </p:txBody>
      </p:sp>
      <p:sp>
        <p:nvSpPr>
          <p:cNvPr id="43" name="Shape 41"/>
          <p:cNvSpPr/>
          <p:nvPr/>
        </p:nvSpPr>
        <p:spPr>
          <a:xfrm>
            <a:off x="8046720" y="5257800"/>
            <a:ext cx="3474720" cy="868680"/>
          </a:xfrm>
          <a:prstGeom prst="rect">
            <a:avLst/>
          </a:prstGeom>
          <a:solidFill>
            <a:srgbClr val="FFFFFF"/>
          </a:solidFill>
          <a:ln w="12700">
            <a:solidFill>
              <a:srgbClr val="CC785C"/>
            </a:solidFill>
            <a:prstDash val="solid"/>
          </a:ln>
        </p:spPr>
      </p:sp>
      <p:sp>
        <p:nvSpPr>
          <p:cNvPr id="44" name="Text 42"/>
          <p:cNvSpPr/>
          <p:nvPr/>
        </p:nvSpPr>
        <p:spPr>
          <a:xfrm>
            <a:off x="8138160" y="5330952"/>
            <a:ext cx="3291840" cy="274320"/>
          </a:xfrm>
          <a:prstGeom prst="rect">
            <a:avLst/>
          </a:prstGeom>
          <a:noFill/>
          <a:ln/>
        </p:spPr>
        <p:txBody>
          <a:bodyPr wrap="square" rtlCol="0" anchor="ctr"/>
          <a:lstStyle/>
          <a:p>
            <a:pPr indent="0" marL="0">
              <a:buNone/>
            </a:pPr>
            <a:r>
              <a:rPr lang="en-US" sz="1100" b="1" dirty="0">
                <a:solidFill>
                  <a:srgbClr val="1F1F1E"/>
                </a:solidFill>
                <a:latin typeface="Calibri" pitchFamily="34" charset="0"/>
                <a:ea typeface="Calibri" pitchFamily="34" charset="-122"/>
                <a:cs typeface="Calibri" pitchFamily="34" charset="-120"/>
              </a:rPr>
              <a:t>Trust Center attestations</a:t>
            </a:r>
            <a:endParaRPr lang="en-US" sz="1100" dirty="0"/>
          </a:p>
        </p:txBody>
      </p:sp>
      <p:sp>
        <p:nvSpPr>
          <p:cNvPr id="45" name="Text 43"/>
          <p:cNvSpPr/>
          <p:nvPr/>
        </p:nvSpPr>
        <p:spPr>
          <a:xfrm>
            <a:off x="8138160" y="5605272"/>
            <a:ext cx="3291840" cy="411480"/>
          </a:xfrm>
          <a:prstGeom prst="rect">
            <a:avLst/>
          </a:prstGeom>
          <a:noFill/>
          <a:ln/>
        </p:spPr>
        <p:txBody>
          <a:bodyPr wrap="square" rtlCol="0" anchor="ctr"/>
          <a:lstStyle/>
          <a:p>
            <a:pPr indent="0" marL="0">
              <a:buNone/>
            </a:pPr>
            <a:r>
              <a:rPr lang="en-US" sz="900" dirty="0">
                <a:solidFill>
                  <a:srgbClr val="6B6760"/>
                </a:solidFill>
                <a:latin typeface="Calibri" pitchFamily="34" charset="0"/>
                <a:ea typeface="Calibri" pitchFamily="34" charset="-122"/>
                <a:cs typeface="Calibri" pitchFamily="34" charset="-120"/>
              </a:rPr>
              <a:t>SOC 2 Type II · ISO 27001 · HIPAA BAA</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0EEE6"/>
        </a:solidFill>
      </p:bgPr>
    </p:bg>
    <p:spTree>
      <p:nvGrpSpPr>
        <p:cNvPr id="1" name=""/>
        <p:cNvGrpSpPr/>
        <p:nvPr/>
      </p:nvGrpSpPr>
      <p:grpSpPr>
        <a:xfrm>
          <a:off x="0" y="0"/>
          <a:ext cx="0" cy="0"/>
          <a:chOff x="0" y="0"/>
          <a:chExt cx="0" cy="0"/>
        </a:xfrm>
      </p:grpSpPr>
      <p:sp>
        <p:nvSpPr>
          <p:cNvPr id="2" name="Text 0"/>
          <p:cNvSpPr/>
          <p:nvPr/>
        </p:nvSpPr>
        <p:spPr>
          <a:xfrm>
            <a:off x="457200" y="6446520"/>
            <a:ext cx="6400800" cy="274320"/>
          </a:xfrm>
          <a:prstGeom prst="rect">
            <a:avLst/>
          </a:prstGeom>
          <a:noFill/>
          <a:ln/>
        </p:spPr>
        <p:txBody>
          <a:bodyPr wrap="square" rtlCol="0" anchor="ctr"/>
          <a:lstStyle/>
          <a:p>
            <a:pPr indent="0" marL="0">
              <a:buNone/>
            </a:pPr>
            <a:r>
              <a:rPr lang="en-US" sz="900" dirty="0">
                <a:solidFill>
                  <a:srgbClr val="6B6760"/>
                </a:solidFill>
                <a:latin typeface="Calibri" pitchFamily="34" charset="0"/>
                <a:ea typeface="Calibri" pitchFamily="34" charset="-122"/>
                <a:cs typeface="Calibri" pitchFamily="34" charset="-120"/>
              </a:rPr>
              <a:t>Claude Code  ·  Technical deep-dive</a:t>
            </a:r>
            <a:endParaRPr lang="en-US" sz="900" dirty="0"/>
          </a:p>
        </p:txBody>
      </p:sp>
      <p:sp>
        <p:nvSpPr>
          <p:cNvPr id="3" name="Text 1"/>
          <p:cNvSpPr/>
          <p:nvPr/>
        </p:nvSpPr>
        <p:spPr>
          <a:xfrm>
            <a:off x="10515600" y="6446520"/>
            <a:ext cx="1371600" cy="274320"/>
          </a:xfrm>
          <a:prstGeom prst="rect">
            <a:avLst/>
          </a:prstGeom>
          <a:noFill/>
          <a:ln/>
        </p:spPr>
        <p:txBody>
          <a:bodyPr wrap="square" rtlCol="0" anchor="ctr"/>
          <a:lstStyle/>
          <a:p>
            <a:pPr algn="r" indent="0" marL="0">
              <a:buNone/>
            </a:pPr>
            <a:r>
              <a:rPr lang="en-US" sz="900" i="1" dirty="0">
                <a:solidFill>
                  <a:srgbClr val="6B6760"/>
                </a:solidFill>
                <a:latin typeface="Calibri" pitchFamily="34" charset="0"/>
                <a:ea typeface="Calibri" pitchFamily="34" charset="-122"/>
                <a:cs typeface="Calibri" pitchFamily="34" charset="-120"/>
              </a:rPr>
              <a:t>Anthropic</a:t>
            </a:r>
            <a:endParaRPr lang="en-US" sz="900" dirty="0"/>
          </a:p>
        </p:txBody>
      </p:sp>
      <p:sp>
        <p:nvSpPr>
          <p:cNvPr id="4" name="Shape 2"/>
          <p:cNvSpPr/>
          <p:nvPr/>
        </p:nvSpPr>
        <p:spPr>
          <a:xfrm>
            <a:off x="457200" y="457200"/>
            <a:ext cx="164592" cy="164592"/>
          </a:xfrm>
          <a:prstGeom prst="rect">
            <a:avLst/>
          </a:prstGeom>
          <a:solidFill>
            <a:srgbClr val="CC785C"/>
          </a:solidFill>
          <a:ln w="12700">
            <a:solidFill>
              <a:srgbClr val="CC785C"/>
            </a:solidFill>
            <a:prstDash val="solid"/>
          </a:ln>
        </p:spPr>
      </p:sp>
      <p:sp>
        <p:nvSpPr>
          <p:cNvPr id="5" name="Text 3"/>
          <p:cNvSpPr/>
          <p:nvPr/>
        </p:nvSpPr>
        <p:spPr>
          <a:xfrm>
            <a:off x="777240" y="384048"/>
            <a:ext cx="7315200" cy="320040"/>
          </a:xfrm>
          <a:prstGeom prst="rect">
            <a:avLst/>
          </a:prstGeom>
          <a:noFill/>
          <a:ln/>
        </p:spPr>
        <p:txBody>
          <a:bodyPr wrap="square" rtlCol="0" anchor="ctr"/>
          <a:lstStyle/>
          <a:p>
            <a:pPr indent="0" marL="0">
              <a:buNone/>
            </a:pPr>
            <a:r>
              <a:rPr lang="en-US" sz="1100" b="1" spc="200" kern="0" dirty="0">
                <a:solidFill>
                  <a:srgbClr val="CC785C"/>
                </a:solidFill>
                <a:latin typeface="Calibri" pitchFamily="34" charset="0"/>
                <a:ea typeface="Calibri" pitchFamily="34" charset="-122"/>
                <a:cs typeface="Calibri" pitchFamily="34" charset="-120"/>
              </a:rPr>
              <a:t>DATA FLOW</a:t>
            </a:r>
            <a:endParaRPr lang="en-US" sz="1100" dirty="0"/>
          </a:p>
        </p:txBody>
      </p:sp>
      <p:sp>
        <p:nvSpPr>
          <p:cNvPr id="6" name="Text 4"/>
          <p:cNvSpPr/>
          <p:nvPr/>
        </p:nvSpPr>
        <p:spPr>
          <a:xfrm>
            <a:off x="457200" y="777240"/>
            <a:ext cx="11247120" cy="822960"/>
          </a:xfrm>
          <a:prstGeom prst="rect">
            <a:avLst/>
          </a:prstGeom>
          <a:noFill/>
          <a:ln/>
        </p:spPr>
        <p:txBody>
          <a:bodyPr wrap="square" rtlCol="0" anchor="ctr"/>
          <a:lstStyle/>
          <a:p>
            <a:pPr indent="0" marL="0">
              <a:buNone/>
            </a:pPr>
            <a:r>
              <a:rPr lang="en-US" sz="3200" dirty="0">
                <a:solidFill>
                  <a:srgbClr val="1F1F1E"/>
                </a:solidFill>
                <a:latin typeface="Georgia" pitchFamily="34" charset="0"/>
                <a:ea typeface="Georgia" pitchFamily="34" charset="-122"/>
                <a:cs typeface="Georgia" pitchFamily="34" charset="-120"/>
              </a:rPr>
              <a:t>Where trust boundaries sit, and what crosses them.</a:t>
            </a:r>
            <a:endParaRPr lang="en-US" sz="3200" dirty="0"/>
          </a:p>
        </p:txBody>
      </p:sp>
      <p:sp>
        <p:nvSpPr>
          <p:cNvPr id="7" name="Text 5"/>
          <p:cNvSpPr/>
          <p:nvPr/>
        </p:nvSpPr>
        <p:spPr>
          <a:xfrm>
            <a:off x="502920" y="1737360"/>
            <a:ext cx="548640" cy="274320"/>
          </a:xfrm>
          <a:prstGeom prst="rect">
            <a:avLst/>
          </a:prstGeom>
          <a:noFill/>
          <a:ln/>
        </p:spPr>
        <p:txBody>
          <a:bodyPr wrap="square" rtlCol="0" anchor="ctr"/>
          <a:lstStyle/>
          <a:p>
            <a:pPr indent="0" marL="0">
              <a:buNone/>
            </a:pPr>
            <a:r>
              <a:rPr lang="en-US" sz="1000" b="1" spc="200" kern="0" dirty="0">
                <a:solidFill>
                  <a:srgbClr val="CC785C"/>
                </a:solidFill>
                <a:latin typeface="Calibri" pitchFamily="34" charset="0"/>
                <a:ea typeface="Calibri" pitchFamily="34" charset="-122"/>
                <a:cs typeface="Calibri" pitchFamily="34" charset="-120"/>
              </a:rPr>
              <a:t>Step</a:t>
            </a:r>
            <a:endParaRPr lang="en-US" sz="1000" dirty="0"/>
          </a:p>
        </p:txBody>
      </p:sp>
      <p:sp>
        <p:nvSpPr>
          <p:cNvPr id="8" name="Text 6"/>
          <p:cNvSpPr/>
          <p:nvPr/>
        </p:nvSpPr>
        <p:spPr>
          <a:xfrm>
            <a:off x="1188720" y="1737360"/>
            <a:ext cx="3017520" cy="274320"/>
          </a:xfrm>
          <a:prstGeom prst="rect">
            <a:avLst/>
          </a:prstGeom>
          <a:noFill/>
          <a:ln/>
        </p:spPr>
        <p:txBody>
          <a:bodyPr wrap="square" rtlCol="0" anchor="ctr"/>
          <a:lstStyle/>
          <a:p>
            <a:pPr indent="0" marL="0">
              <a:buNone/>
            </a:pPr>
            <a:r>
              <a:rPr lang="en-US" sz="1000" b="1" spc="200" kern="0" dirty="0">
                <a:solidFill>
                  <a:srgbClr val="CC785C"/>
                </a:solidFill>
                <a:latin typeface="Calibri" pitchFamily="34" charset="0"/>
                <a:ea typeface="Calibri" pitchFamily="34" charset="-122"/>
                <a:cs typeface="Calibri" pitchFamily="34" charset="-120"/>
              </a:rPr>
              <a:t>What happens</a:t>
            </a:r>
            <a:endParaRPr lang="en-US" sz="1000" dirty="0"/>
          </a:p>
        </p:txBody>
      </p:sp>
      <p:sp>
        <p:nvSpPr>
          <p:cNvPr id="9" name="Text 7"/>
          <p:cNvSpPr/>
          <p:nvPr/>
        </p:nvSpPr>
        <p:spPr>
          <a:xfrm>
            <a:off x="4389120" y="1737360"/>
            <a:ext cx="3931920" cy="274320"/>
          </a:xfrm>
          <a:prstGeom prst="rect">
            <a:avLst/>
          </a:prstGeom>
          <a:noFill/>
          <a:ln/>
        </p:spPr>
        <p:txBody>
          <a:bodyPr wrap="square" rtlCol="0" anchor="ctr"/>
          <a:lstStyle/>
          <a:p>
            <a:pPr indent="0" marL="0">
              <a:buNone/>
            </a:pPr>
            <a:r>
              <a:rPr lang="en-US" sz="1000" b="1" spc="200" kern="0" dirty="0">
                <a:solidFill>
                  <a:srgbClr val="CC785C"/>
                </a:solidFill>
                <a:latin typeface="Calibri" pitchFamily="34" charset="0"/>
                <a:ea typeface="Calibri" pitchFamily="34" charset="-122"/>
                <a:cs typeface="Calibri" pitchFamily="34" charset="-120"/>
              </a:rPr>
              <a:t>Mechanics</a:t>
            </a:r>
            <a:endParaRPr lang="en-US" sz="1000" dirty="0"/>
          </a:p>
        </p:txBody>
      </p:sp>
      <p:sp>
        <p:nvSpPr>
          <p:cNvPr id="10" name="Text 8"/>
          <p:cNvSpPr/>
          <p:nvPr/>
        </p:nvSpPr>
        <p:spPr>
          <a:xfrm>
            <a:off x="8503920" y="1737360"/>
            <a:ext cx="3474720" cy="274320"/>
          </a:xfrm>
          <a:prstGeom prst="rect">
            <a:avLst/>
          </a:prstGeom>
          <a:noFill/>
          <a:ln/>
        </p:spPr>
        <p:txBody>
          <a:bodyPr wrap="square" rtlCol="0" anchor="ctr"/>
          <a:lstStyle/>
          <a:p>
            <a:pPr indent="0" marL="0">
              <a:buNone/>
            </a:pPr>
            <a:r>
              <a:rPr lang="en-US" sz="1000" b="1" spc="200" kern="0" dirty="0">
                <a:solidFill>
                  <a:srgbClr val="CC785C"/>
                </a:solidFill>
                <a:latin typeface="Calibri" pitchFamily="34" charset="0"/>
                <a:ea typeface="Calibri" pitchFamily="34" charset="-122"/>
                <a:cs typeface="Calibri" pitchFamily="34" charset="-120"/>
              </a:rPr>
              <a:t>What's in-scope for audit</a:t>
            </a:r>
            <a:endParaRPr lang="en-US" sz="1000" dirty="0"/>
          </a:p>
        </p:txBody>
      </p:sp>
      <p:sp>
        <p:nvSpPr>
          <p:cNvPr id="11" name="Shape 9"/>
          <p:cNvSpPr/>
          <p:nvPr/>
        </p:nvSpPr>
        <p:spPr>
          <a:xfrm>
            <a:off x="502920" y="2011680"/>
            <a:ext cx="11247120" cy="0"/>
          </a:xfrm>
          <a:prstGeom prst="line">
            <a:avLst/>
          </a:prstGeom>
          <a:noFill/>
          <a:ln w="6350">
            <a:solidFill>
              <a:srgbClr val="D6D1C4"/>
            </a:solidFill>
            <a:prstDash val="solid"/>
          </a:ln>
        </p:spPr>
      </p:sp>
      <p:sp>
        <p:nvSpPr>
          <p:cNvPr id="12" name="Text 10"/>
          <p:cNvSpPr/>
          <p:nvPr/>
        </p:nvSpPr>
        <p:spPr>
          <a:xfrm>
            <a:off x="502920" y="2148840"/>
            <a:ext cx="457200" cy="731520"/>
          </a:xfrm>
          <a:prstGeom prst="rect">
            <a:avLst/>
          </a:prstGeom>
          <a:noFill/>
          <a:ln/>
        </p:spPr>
        <p:txBody>
          <a:bodyPr wrap="square" rtlCol="0" anchor="ctr"/>
          <a:lstStyle/>
          <a:p>
            <a:pPr indent="0" marL="0">
              <a:buNone/>
            </a:pPr>
            <a:r>
              <a:rPr lang="en-US" sz="2200" i="1" dirty="0">
                <a:solidFill>
                  <a:srgbClr val="CC785C"/>
                </a:solidFill>
                <a:latin typeface="Georgia" pitchFamily="34" charset="0"/>
                <a:ea typeface="Georgia" pitchFamily="34" charset="-122"/>
                <a:cs typeface="Georgia" pitchFamily="34" charset="-120"/>
              </a:rPr>
              <a:t>1</a:t>
            </a:r>
            <a:endParaRPr lang="en-US" sz="2200" dirty="0"/>
          </a:p>
        </p:txBody>
      </p:sp>
      <p:sp>
        <p:nvSpPr>
          <p:cNvPr id="13" name="Text 11"/>
          <p:cNvSpPr/>
          <p:nvPr/>
        </p:nvSpPr>
        <p:spPr>
          <a:xfrm>
            <a:off x="1188720" y="2194560"/>
            <a:ext cx="3017520" cy="640080"/>
          </a:xfrm>
          <a:prstGeom prst="rect">
            <a:avLst/>
          </a:prstGeom>
          <a:noFill/>
          <a:ln/>
        </p:spPr>
        <p:txBody>
          <a:bodyPr wrap="square" rtlCol="0" anchor="ctr"/>
          <a:lstStyle/>
          <a:p>
            <a:pPr indent="0" marL="0">
              <a:buNone/>
            </a:pPr>
            <a:r>
              <a:rPr lang="en-US" sz="1200" b="1" dirty="0">
                <a:solidFill>
                  <a:srgbClr val="1F1F1E"/>
                </a:solidFill>
                <a:latin typeface="Calibri" pitchFamily="34" charset="0"/>
                <a:ea typeface="Calibri" pitchFamily="34" charset="-122"/>
                <a:cs typeface="Calibri" pitchFamily="34" charset="-120"/>
              </a:rPr>
              <a:t>Prompt leaves laptop</a:t>
            </a:r>
            <a:endParaRPr lang="en-US" sz="1200" dirty="0"/>
          </a:p>
        </p:txBody>
      </p:sp>
      <p:sp>
        <p:nvSpPr>
          <p:cNvPr id="14" name="Text 12"/>
          <p:cNvSpPr/>
          <p:nvPr/>
        </p:nvSpPr>
        <p:spPr>
          <a:xfrm>
            <a:off x="4389120" y="2194560"/>
            <a:ext cx="3931920" cy="777240"/>
          </a:xfrm>
          <a:prstGeom prst="rect">
            <a:avLst/>
          </a:prstGeom>
          <a:noFill/>
          <a:ln/>
        </p:spPr>
        <p:txBody>
          <a:bodyPr wrap="square" rtlCol="0" anchor="ctr"/>
          <a:lstStyle/>
          <a:p>
            <a:pPr indent="0" marL="0">
              <a:lnSpc>
                <a:spcPct val="120000"/>
              </a:lnSpc>
              <a:buNone/>
            </a:pPr>
            <a:r>
              <a:rPr lang="en-US" sz="1100" dirty="0">
                <a:solidFill>
                  <a:srgbClr val="6B6760"/>
                </a:solidFill>
                <a:latin typeface="Calibri" pitchFamily="34" charset="0"/>
                <a:ea typeface="Calibri" pitchFamily="34" charset="-122"/>
                <a:cs typeface="Calibri" pitchFamily="34" charset="-120"/>
              </a:rPr>
              <a:t>Code snippets + instruction context. TLS 1.3 to api.anthropic.com.</a:t>
            </a:r>
            <a:endParaRPr lang="en-US" sz="1100" dirty="0"/>
          </a:p>
        </p:txBody>
      </p:sp>
      <p:sp>
        <p:nvSpPr>
          <p:cNvPr id="15" name="Text 13"/>
          <p:cNvSpPr/>
          <p:nvPr/>
        </p:nvSpPr>
        <p:spPr>
          <a:xfrm>
            <a:off x="8503920" y="2194560"/>
            <a:ext cx="3474720" cy="777240"/>
          </a:xfrm>
          <a:prstGeom prst="rect">
            <a:avLst/>
          </a:prstGeom>
          <a:noFill/>
          <a:ln/>
        </p:spPr>
        <p:txBody>
          <a:bodyPr wrap="square" rtlCol="0" anchor="ctr"/>
          <a:lstStyle/>
          <a:p>
            <a:pPr indent="0" marL="0">
              <a:lnSpc>
                <a:spcPct val="120000"/>
              </a:lnSpc>
              <a:buNone/>
            </a:pPr>
            <a:r>
              <a:rPr lang="en-US" sz="1100" dirty="0">
                <a:solidFill>
                  <a:srgbClr val="1F1F1E"/>
                </a:solidFill>
                <a:latin typeface="Calibri" pitchFamily="34" charset="0"/>
                <a:ea typeface="Calibri" pitchFamily="34" charset="-122"/>
                <a:cs typeface="Calibri" pitchFamily="34" charset="-120"/>
              </a:rPr>
              <a:t>Source code, file paths, diffs</a:t>
            </a:r>
            <a:endParaRPr lang="en-US" sz="1100" dirty="0"/>
          </a:p>
        </p:txBody>
      </p:sp>
      <p:sp>
        <p:nvSpPr>
          <p:cNvPr id="16" name="Text 14"/>
          <p:cNvSpPr/>
          <p:nvPr/>
        </p:nvSpPr>
        <p:spPr>
          <a:xfrm>
            <a:off x="502920" y="2990088"/>
            <a:ext cx="457200" cy="731520"/>
          </a:xfrm>
          <a:prstGeom prst="rect">
            <a:avLst/>
          </a:prstGeom>
          <a:noFill/>
          <a:ln/>
        </p:spPr>
        <p:txBody>
          <a:bodyPr wrap="square" rtlCol="0" anchor="ctr"/>
          <a:lstStyle/>
          <a:p>
            <a:pPr indent="0" marL="0">
              <a:buNone/>
            </a:pPr>
            <a:r>
              <a:rPr lang="en-US" sz="2200" i="1" dirty="0">
                <a:solidFill>
                  <a:srgbClr val="CC785C"/>
                </a:solidFill>
                <a:latin typeface="Georgia" pitchFamily="34" charset="0"/>
                <a:ea typeface="Georgia" pitchFamily="34" charset="-122"/>
                <a:cs typeface="Georgia" pitchFamily="34" charset="-120"/>
              </a:rPr>
              <a:t>2</a:t>
            </a:r>
            <a:endParaRPr lang="en-US" sz="2200" dirty="0"/>
          </a:p>
        </p:txBody>
      </p:sp>
      <p:sp>
        <p:nvSpPr>
          <p:cNvPr id="17" name="Text 15"/>
          <p:cNvSpPr/>
          <p:nvPr/>
        </p:nvSpPr>
        <p:spPr>
          <a:xfrm>
            <a:off x="1188720" y="3035808"/>
            <a:ext cx="3017520" cy="640080"/>
          </a:xfrm>
          <a:prstGeom prst="rect">
            <a:avLst/>
          </a:prstGeom>
          <a:noFill/>
          <a:ln/>
        </p:spPr>
        <p:txBody>
          <a:bodyPr wrap="square" rtlCol="0" anchor="ctr"/>
          <a:lstStyle/>
          <a:p>
            <a:pPr indent="0" marL="0">
              <a:buNone/>
            </a:pPr>
            <a:r>
              <a:rPr lang="en-US" sz="1200" b="1" dirty="0">
                <a:solidFill>
                  <a:srgbClr val="1F1F1E"/>
                </a:solidFill>
                <a:latin typeface="Calibri" pitchFamily="34" charset="0"/>
                <a:ea typeface="Calibri" pitchFamily="34" charset="-122"/>
                <a:cs typeface="Calibri" pitchFamily="34" charset="-120"/>
              </a:rPr>
              <a:t>Model responds</a:t>
            </a:r>
            <a:endParaRPr lang="en-US" sz="1200" dirty="0"/>
          </a:p>
        </p:txBody>
      </p:sp>
      <p:sp>
        <p:nvSpPr>
          <p:cNvPr id="18" name="Text 16"/>
          <p:cNvSpPr/>
          <p:nvPr/>
        </p:nvSpPr>
        <p:spPr>
          <a:xfrm>
            <a:off x="4389120" y="3035808"/>
            <a:ext cx="3931920" cy="777240"/>
          </a:xfrm>
          <a:prstGeom prst="rect">
            <a:avLst/>
          </a:prstGeom>
          <a:noFill/>
          <a:ln/>
        </p:spPr>
        <p:txBody>
          <a:bodyPr wrap="square" rtlCol="0" anchor="ctr"/>
          <a:lstStyle/>
          <a:p>
            <a:pPr indent="0" marL="0">
              <a:lnSpc>
                <a:spcPct val="120000"/>
              </a:lnSpc>
              <a:buNone/>
            </a:pPr>
            <a:r>
              <a:rPr lang="en-US" sz="1100" dirty="0">
                <a:solidFill>
                  <a:srgbClr val="6B6760"/>
                </a:solidFill>
                <a:latin typeface="Calibri" pitchFamily="34" charset="0"/>
                <a:ea typeface="Calibri" pitchFamily="34" charset="-122"/>
                <a:cs typeface="Calibri" pitchFamily="34" charset="-120"/>
              </a:rPr>
              <a:t>Suggested tool calls, file edits, shell commands. No execution yet.</a:t>
            </a:r>
            <a:endParaRPr lang="en-US" sz="1100" dirty="0"/>
          </a:p>
        </p:txBody>
      </p:sp>
      <p:sp>
        <p:nvSpPr>
          <p:cNvPr id="19" name="Text 17"/>
          <p:cNvSpPr/>
          <p:nvPr/>
        </p:nvSpPr>
        <p:spPr>
          <a:xfrm>
            <a:off x="8503920" y="3035808"/>
            <a:ext cx="3474720" cy="777240"/>
          </a:xfrm>
          <a:prstGeom prst="rect">
            <a:avLst/>
          </a:prstGeom>
          <a:noFill/>
          <a:ln/>
        </p:spPr>
        <p:txBody>
          <a:bodyPr wrap="square" rtlCol="0" anchor="ctr"/>
          <a:lstStyle/>
          <a:p>
            <a:pPr indent="0" marL="0">
              <a:lnSpc>
                <a:spcPct val="120000"/>
              </a:lnSpc>
              <a:buNone/>
            </a:pPr>
            <a:r>
              <a:rPr lang="en-US" sz="1100" dirty="0">
                <a:solidFill>
                  <a:srgbClr val="1F1F1E"/>
                </a:solidFill>
                <a:latin typeface="Calibri" pitchFamily="34" charset="0"/>
                <a:ea typeface="Calibri" pitchFamily="34" charset="-122"/>
                <a:cs typeface="Calibri" pitchFamily="34" charset="-120"/>
              </a:rPr>
              <a:t>Model output (text only)</a:t>
            </a:r>
            <a:endParaRPr lang="en-US" sz="1100" dirty="0"/>
          </a:p>
        </p:txBody>
      </p:sp>
      <p:sp>
        <p:nvSpPr>
          <p:cNvPr id="20" name="Text 18"/>
          <p:cNvSpPr/>
          <p:nvPr/>
        </p:nvSpPr>
        <p:spPr>
          <a:xfrm>
            <a:off x="502920" y="3831336"/>
            <a:ext cx="457200" cy="731520"/>
          </a:xfrm>
          <a:prstGeom prst="rect">
            <a:avLst/>
          </a:prstGeom>
          <a:noFill/>
          <a:ln/>
        </p:spPr>
        <p:txBody>
          <a:bodyPr wrap="square" rtlCol="0" anchor="ctr"/>
          <a:lstStyle/>
          <a:p>
            <a:pPr indent="0" marL="0">
              <a:buNone/>
            </a:pPr>
            <a:r>
              <a:rPr lang="en-US" sz="2200" i="1" dirty="0">
                <a:solidFill>
                  <a:srgbClr val="CC785C"/>
                </a:solidFill>
                <a:latin typeface="Georgia" pitchFamily="34" charset="0"/>
                <a:ea typeface="Georgia" pitchFamily="34" charset="-122"/>
                <a:cs typeface="Georgia" pitchFamily="34" charset="-120"/>
              </a:rPr>
              <a:t>3</a:t>
            </a:r>
            <a:endParaRPr lang="en-US" sz="2200" dirty="0"/>
          </a:p>
        </p:txBody>
      </p:sp>
      <p:sp>
        <p:nvSpPr>
          <p:cNvPr id="21" name="Text 19"/>
          <p:cNvSpPr/>
          <p:nvPr/>
        </p:nvSpPr>
        <p:spPr>
          <a:xfrm>
            <a:off x="1188720" y="3877056"/>
            <a:ext cx="3017520" cy="640080"/>
          </a:xfrm>
          <a:prstGeom prst="rect">
            <a:avLst/>
          </a:prstGeom>
          <a:noFill/>
          <a:ln/>
        </p:spPr>
        <p:txBody>
          <a:bodyPr wrap="square" rtlCol="0" anchor="ctr"/>
          <a:lstStyle/>
          <a:p>
            <a:pPr indent="0" marL="0">
              <a:buNone/>
            </a:pPr>
            <a:r>
              <a:rPr lang="en-US" sz="1200" b="1" dirty="0">
                <a:solidFill>
                  <a:srgbClr val="1F1F1E"/>
                </a:solidFill>
                <a:latin typeface="Calibri" pitchFamily="34" charset="0"/>
                <a:ea typeface="Calibri" pitchFamily="34" charset="-122"/>
                <a:cs typeface="Calibri" pitchFamily="34" charset="-120"/>
              </a:rPr>
              <a:t>Safety Gate reviews</a:t>
            </a:r>
            <a:endParaRPr lang="en-US" sz="1200" dirty="0"/>
          </a:p>
        </p:txBody>
      </p:sp>
      <p:sp>
        <p:nvSpPr>
          <p:cNvPr id="22" name="Text 20"/>
          <p:cNvSpPr/>
          <p:nvPr/>
        </p:nvSpPr>
        <p:spPr>
          <a:xfrm>
            <a:off x="4389120" y="3877056"/>
            <a:ext cx="3931920" cy="777240"/>
          </a:xfrm>
          <a:prstGeom prst="rect">
            <a:avLst/>
          </a:prstGeom>
          <a:noFill/>
          <a:ln/>
        </p:spPr>
        <p:txBody>
          <a:bodyPr wrap="square" rtlCol="0" anchor="ctr"/>
          <a:lstStyle/>
          <a:p>
            <a:pPr indent="0" marL="0">
              <a:lnSpc>
                <a:spcPct val="120000"/>
              </a:lnSpc>
              <a:buNone/>
            </a:pPr>
            <a:r>
              <a:rPr lang="en-US" sz="1100" dirty="0">
                <a:solidFill>
                  <a:srgbClr val="6B6760"/>
                </a:solidFill>
                <a:latin typeface="Calibri" pitchFamily="34" charset="0"/>
                <a:ea typeface="Calibri" pitchFamily="34" charset="-122"/>
                <a:cs typeface="Calibri" pitchFamily="34" charset="-120"/>
              </a:rPr>
              <a:t>Per your CLAUDE.md + approval mode, dangerous actions prompt or block.</a:t>
            </a:r>
            <a:endParaRPr lang="en-US" sz="1100" dirty="0"/>
          </a:p>
        </p:txBody>
      </p:sp>
      <p:sp>
        <p:nvSpPr>
          <p:cNvPr id="23" name="Text 21"/>
          <p:cNvSpPr/>
          <p:nvPr/>
        </p:nvSpPr>
        <p:spPr>
          <a:xfrm>
            <a:off x="8503920" y="3877056"/>
            <a:ext cx="3474720" cy="777240"/>
          </a:xfrm>
          <a:prstGeom prst="rect">
            <a:avLst/>
          </a:prstGeom>
          <a:noFill/>
          <a:ln/>
        </p:spPr>
        <p:txBody>
          <a:bodyPr wrap="square" rtlCol="0" anchor="ctr"/>
          <a:lstStyle/>
          <a:p>
            <a:pPr indent="0" marL="0">
              <a:lnSpc>
                <a:spcPct val="120000"/>
              </a:lnSpc>
              <a:buNone/>
            </a:pPr>
            <a:r>
              <a:rPr lang="en-US" sz="1100" dirty="0">
                <a:solidFill>
                  <a:srgbClr val="1F1F1E"/>
                </a:solidFill>
                <a:latin typeface="Calibri" pitchFamily="34" charset="0"/>
                <a:ea typeface="Calibri" pitchFamily="34" charset="-122"/>
                <a:cs typeface="Calibri" pitchFamily="34" charset="-120"/>
              </a:rPr>
              <a:t>Local only, never leaves laptop</a:t>
            </a:r>
            <a:endParaRPr lang="en-US" sz="1100" dirty="0"/>
          </a:p>
        </p:txBody>
      </p:sp>
      <p:sp>
        <p:nvSpPr>
          <p:cNvPr id="24" name="Text 22"/>
          <p:cNvSpPr/>
          <p:nvPr/>
        </p:nvSpPr>
        <p:spPr>
          <a:xfrm>
            <a:off x="502920" y="4672584"/>
            <a:ext cx="457200" cy="731520"/>
          </a:xfrm>
          <a:prstGeom prst="rect">
            <a:avLst/>
          </a:prstGeom>
          <a:noFill/>
          <a:ln/>
        </p:spPr>
        <p:txBody>
          <a:bodyPr wrap="square" rtlCol="0" anchor="ctr"/>
          <a:lstStyle/>
          <a:p>
            <a:pPr indent="0" marL="0">
              <a:buNone/>
            </a:pPr>
            <a:r>
              <a:rPr lang="en-US" sz="2200" i="1" dirty="0">
                <a:solidFill>
                  <a:srgbClr val="CC785C"/>
                </a:solidFill>
                <a:latin typeface="Georgia" pitchFamily="34" charset="0"/>
                <a:ea typeface="Georgia" pitchFamily="34" charset="-122"/>
                <a:cs typeface="Georgia" pitchFamily="34" charset="-120"/>
              </a:rPr>
              <a:t>4</a:t>
            </a:r>
            <a:endParaRPr lang="en-US" sz="2200" dirty="0"/>
          </a:p>
        </p:txBody>
      </p:sp>
      <p:sp>
        <p:nvSpPr>
          <p:cNvPr id="25" name="Text 23"/>
          <p:cNvSpPr/>
          <p:nvPr/>
        </p:nvSpPr>
        <p:spPr>
          <a:xfrm>
            <a:off x="1188720" y="4718304"/>
            <a:ext cx="3017520" cy="640080"/>
          </a:xfrm>
          <a:prstGeom prst="rect">
            <a:avLst/>
          </a:prstGeom>
          <a:noFill/>
          <a:ln/>
        </p:spPr>
        <p:txBody>
          <a:bodyPr wrap="square" rtlCol="0" anchor="ctr"/>
          <a:lstStyle/>
          <a:p>
            <a:pPr indent="0" marL="0">
              <a:buNone/>
            </a:pPr>
            <a:r>
              <a:rPr lang="en-US" sz="1200" b="1" dirty="0">
                <a:solidFill>
                  <a:srgbClr val="1F1F1E"/>
                </a:solidFill>
                <a:latin typeface="Calibri" pitchFamily="34" charset="0"/>
                <a:ea typeface="Calibri" pitchFamily="34" charset="-122"/>
                <a:cs typeface="Calibri" pitchFamily="34" charset="-120"/>
              </a:rPr>
              <a:t>Approved action runs</a:t>
            </a:r>
            <a:endParaRPr lang="en-US" sz="1200" dirty="0"/>
          </a:p>
        </p:txBody>
      </p:sp>
      <p:sp>
        <p:nvSpPr>
          <p:cNvPr id="26" name="Text 24"/>
          <p:cNvSpPr/>
          <p:nvPr/>
        </p:nvSpPr>
        <p:spPr>
          <a:xfrm>
            <a:off x="4389120" y="4718304"/>
            <a:ext cx="3931920" cy="777240"/>
          </a:xfrm>
          <a:prstGeom prst="rect">
            <a:avLst/>
          </a:prstGeom>
          <a:noFill/>
          <a:ln/>
        </p:spPr>
        <p:txBody>
          <a:bodyPr wrap="square" rtlCol="0" anchor="ctr"/>
          <a:lstStyle/>
          <a:p>
            <a:pPr indent="0" marL="0">
              <a:lnSpc>
                <a:spcPct val="120000"/>
              </a:lnSpc>
              <a:buNone/>
            </a:pPr>
            <a:r>
              <a:rPr lang="en-US" sz="1100" dirty="0">
                <a:solidFill>
                  <a:srgbClr val="6B6760"/>
                </a:solidFill>
                <a:latin typeface="Calibri" pitchFamily="34" charset="0"/>
                <a:ea typeface="Calibri" pitchFamily="34" charset="-122"/>
                <a:cs typeface="Calibri" pitchFamily="34" charset="-120"/>
              </a:rPr>
              <a:t>Edit file, run test, open PR. Logged to your SIEM.</a:t>
            </a:r>
            <a:endParaRPr lang="en-US" sz="1100" dirty="0"/>
          </a:p>
        </p:txBody>
      </p:sp>
      <p:sp>
        <p:nvSpPr>
          <p:cNvPr id="27" name="Text 25"/>
          <p:cNvSpPr/>
          <p:nvPr/>
        </p:nvSpPr>
        <p:spPr>
          <a:xfrm>
            <a:off x="8503920" y="4718304"/>
            <a:ext cx="3474720" cy="777240"/>
          </a:xfrm>
          <a:prstGeom prst="rect">
            <a:avLst/>
          </a:prstGeom>
          <a:noFill/>
          <a:ln/>
        </p:spPr>
        <p:txBody>
          <a:bodyPr wrap="square" rtlCol="0" anchor="ctr"/>
          <a:lstStyle/>
          <a:p>
            <a:pPr indent="0" marL="0">
              <a:lnSpc>
                <a:spcPct val="120000"/>
              </a:lnSpc>
              <a:buNone/>
            </a:pPr>
            <a:r>
              <a:rPr lang="en-US" sz="1100" dirty="0">
                <a:solidFill>
                  <a:srgbClr val="1F1F1E"/>
                </a:solidFill>
                <a:latin typeface="Calibri" pitchFamily="34" charset="0"/>
                <a:ea typeface="Calibri" pitchFamily="34" charset="-122"/>
                <a:cs typeface="Calibri" pitchFamily="34" charset="-120"/>
              </a:rPr>
              <a:t>Stays inside your network</a:t>
            </a:r>
            <a:endParaRPr lang="en-US" sz="1100" dirty="0"/>
          </a:p>
        </p:txBody>
      </p:sp>
      <p:sp>
        <p:nvSpPr>
          <p:cNvPr id="28" name="Text 26"/>
          <p:cNvSpPr/>
          <p:nvPr/>
        </p:nvSpPr>
        <p:spPr>
          <a:xfrm>
            <a:off x="502920" y="5513832"/>
            <a:ext cx="457200" cy="731520"/>
          </a:xfrm>
          <a:prstGeom prst="rect">
            <a:avLst/>
          </a:prstGeom>
          <a:noFill/>
          <a:ln/>
        </p:spPr>
        <p:txBody>
          <a:bodyPr wrap="square" rtlCol="0" anchor="ctr"/>
          <a:lstStyle/>
          <a:p>
            <a:pPr indent="0" marL="0">
              <a:buNone/>
            </a:pPr>
            <a:r>
              <a:rPr lang="en-US" sz="2200" i="1" dirty="0">
                <a:solidFill>
                  <a:srgbClr val="CC785C"/>
                </a:solidFill>
                <a:latin typeface="Georgia" pitchFamily="34" charset="0"/>
                <a:ea typeface="Georgia" pitchFamily="34" charset="-122"/>
                <a:cs typeface="Georgia" pitchFamily="34" charset="-120"/>
              </a:rPr>
              <a:t>5</a:t>
            </a:r>
            <a:endParaRPr lang="en-US" sz="2200" dirty="0"/>
          </a:p>
        </p:txBody>
      </p:sp>
      <p:sp>
        <p:nvSpPr>
          <p:cNvPr id="29" name="Text 27"/>
          <p:cNvSpPr/>
          <p:nvPr/>
        </p:nvSpPr>
        <p:spPr>
          <a:xfrm>
            <a:off x="1188720" y="5559552"/>
            <a:ext cx="3017520" cy="640080"/>
          </a:xfrm>
          <a:prstGeom prst="rect">
            <a:avLst/>
          </a:prstGeom>
          <a:noFill/>
          <a:ln/>
        </p:spPr>
        <p:txBody>
          <a:bodyPr wrap="square" rtlCol="0" anchor="ctr"/>
          <a:lstStyle/>
          <a:p>
            <a:pPr indent="0" marL="0">
              <a:buNone/>
            </a:pPr>
            <a:r>
              <a:rPr lang="en-US" sz="1200" b="1" dirty="0">
                <a:solidFill>
                  <a:srgbClr val="1F1F1E"/>
                </a:solidFill>
                <a:latin typeface="Calibri" pitchFamily="34" charset="0"/>
                <a:ea typeface="Calibri" pitchFamily="34" charset="-122"/>
                <a:cs typeface="Calibri" pitchFamily="34" charset="-120"/>
              </a:rPr>
              <a:t>Output returns to model</a:t>
            </a:r>
            <a:endParaRPr lang="en-US" sz="1200" dirty="0"/>
          </a:p>
        </p:txBody>
      </p:sp>
      <p:sp>
        <p:nvSpPr>
          <p:cNvPr id="30" name="Text 28"/>
          <p:cNvSpPr/>
          <p:nvPr/>
        </p:nvSpPr>
        <p:spPr>
          <a:xfrm>
            <a:off x="4389120" y="5559552"/>
            <a:ext cx="3931920" cy="777240"/>
          </a:xfrm>
          <a:prstGeom prst="rect">
            <a:avLst/>
          </a:prstGeom>
          <a:noFill/>
          <a:ln/>
        </p:spPr>
        <p:txBody>
          <a:bodyPr wrap="square" rtlCol="0" anchor="ctr"/>
          <a:lstStyle/>
          <a:p>
            <a:pPr indent="0" marL="0">
              <a:lnSpc>
                <a:spcPct val="120000"/>
              </a:lnSpc>
              <a:buNone/>
            </a:pPr>
            <a:r>
              <a:rPr lang="en-US" sz="1100" dirty="0">
                <a:solidFill>
                  <a:srgbClr val="6B6760"/>
                </a:solidFill>
                <a:latin typeface="Calibri" pitchFamily="34" charset="0"/>
                <a:ea typeface="Calibri" pitchFamily="34" charset="-122"/>
                <a:cs typeface="Calibri" pitchFamily="34" charset="-120"/>
              </a:rPr>
              <a:t>Test results, compile errors, shell output feed the next turn.</a:t>
            </a:r>
            <a:endParaRPr lang="en-US" sz="1100" dirty="0"/>
          </a:p>
        </p:txBody>
      </p:sp>
      <p:sp>
        <p:nvSpPr>
          <p:cNvPr id="31" name="Text 29"/>
          <p:cNvSpPr/>
          <p:nvPr/>
        </p:nvSpPr>
        <p:spPr>
          <a:xfrm>
            <a:off x="8503920" y="5559552"/>
            <a:ext cx="3474720" cy="777240"/>
          </a:xfrm>
          <a:prstGeom prst="rect">
            <a:avLst/>
          </a:prstGeom>
          <a:noFill/>
          <a:ln/>
        </p:spPr>
        <p:txBody>
          <a:bodyPr wrap="square" rtlCol="0" anchor="ctr"/>
          <a:lstStyle/>
          <a:p>
            <a:pPr indent="0" marL="0">
              <a:lnSpc>
                <a:spcPct val="120000"/>
              </a:lnSpc>
              <a:buNone/>
            </a:pPr>
            <a:r>
              <a:rPr lang="en-US" sz="1100" dirty="0">
                <a:solidFill>
                  <a:srgbClr val="1F1F1E"/>
                </a:solidFill>
                <a:latin typeface="Calibri" pitchFamily="34" charset="0"/>
                <a:ea typeface="Calibri" pitchFamily="34" charset="-122"/>
                <a:cs typeface="Calibri" pitchFamily="34" charset="-120"/>
              </a:rPr>
              <a:t>TLS 1.3, same envelope</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0EEE6"/>
        </a:solidFill>
      </p:bgPr>
    </p:bg>
    <p:spTree>
      <p:nvGrpSpPr>
        <p:cNvPr id="1" name=""/>
        <p:cNvGrpSpPr/>
        <p:nvPr/>
      </p:nvGrpSpPr>
      <p:grpSpPr>
        <a:xfrm>
          <a:off x="0" y="0"/>
          <a:ext cx="0" cy="0"/>
          <a:chOff x="0" y="0"/>
          <a:chExt cx="0" cy="0"/>
        </a:xfrm>
      </p:grpSpPr>
      <p:sp>
        <p:nvSpPr>
          <p:cNvPr id="2" name="Text 0"/>
          <p:cNvSpPr/>
          <p:nvPr/>
        </p:nvSpPr>
        <p:spPr>
          <a:xfrm>
            <a:off x="457200" y="6446520"/>
            <a:ext cx="6400800" cy="274320"/>
          </a:xfrm>
          <a:prstGeom prst="rect">
            <a:avLst/>
          </a:prstGeom>
          <a:noFill/>
          <a:ln/>
        </p:spPr>
        <p:txBody>
          <a:bodyPr wrap="square" rtlCol="0" anchor="ctr"/>
          <a:lstStyle/>
          <a:p>
            <a:pPr indent="0" marL="0">
              <a:buNone/>
            </a:pPr>
            <a:r>
              <a:rPr lang="en-US" sz="900" dirty="0">
                <a:solidFill>
                  <a:srgbClr val="6B6760"/>
                </a:solidFill>
                <a:latin typeface="Calibri" pitchFamily="34" charset="0"/>
                <a:ea typeface="Calibri" pitchFamily="34" charset="-122"/>
                <a:cs typeface="Calibri" pitchFamily="34" charset="-120"/>
              </a:rPr>
              <a:t>Claude Code  ·  Technical deep-dive</a:t>
            </a:r>
            <a:endParaRPr lang="en-US" sz="900" dirty="0"/>
          </a:p>
        </p:txBody>
      </p:sp>
      <p:sp>
        <p:nvSpPr>
          <p:cNvPr id="3" name="Text 1"/>
          <p:cNvSpPr/>
          <p:nvPr/>
        </p:nvSpPr>
        <p:spPr>
          <a:xfrm>
            <a:off x="10515600" y="6446520"/>
            <a:ext cx="1371600" cy="274320"/>
          </a:xfrm>
          <a:prstGeom prst="rect">
            <a:avLst/>
          </a:prstGeom>
          <a:noFill/>
          <a:ln/>
        </p:spPr>
        <p:txBody>
          <a:bodyPr wrap="square" rtlCol="0" anchor="ctr"/>
          <a:lstStyle/>
          <a:p>
            <a:pPr algn="r" indent="0" marL="0">
              <a:buNone/>
            </a:pPr>
            <a:r>
              <a:rPr lang="en-US" sz="900" i="1" dirty="0">
                <a:solidFill>
                  <a:srgbClr val="6B6760"/>
                </a:solidFill>
                <a:latin typeface="Calibri" pitchFamily="34" charset="0"/>
                <a:ea typeface="Calibri" pitchFamily="34" charset="-122"/>
                <a:cs typeface="Calibri" pitchFamily="34" charset="-120"/>
              </a:rPr>
              <a:t>Anthropic</a:t>
            </a:r>
            <a:endParaRPr lang="en-US" sz="900" dirty="0"/>
          </a:p>
        </p:txBody>
      </p:sp>
      <p:sp>
        <p:nvSpPr>
          <p:cNvPr id="4" name="Shape 2"/>
          <p:cNvSpPr/>
          <p:nvPr/>
        </p:nvSpPr>
        <p:spPr>
          <a:xfrm>
            <a:off x="457200" y="457200"/>
            <a:ext cx="164592" cy="164592"/>
          </a:xfrm>
          <a:prstGeom prst="rect">
            <a:avLst/>
          </a:prstGeom>
          <a:solidFill>
            <a:srgbClr val="CC785C"/>
          </a:solidFill>
          <a:ln w="12700">
            <a:solidFill>
              <a:srgbClr val="CC785C"/>
            </a:solidFill>
            <a:prstDash val="solid"/>
          </a:ln>
        </p:spPr>
      </p:sp>
      <p:sp>
        <p:nvSpPr>
          <p:cNvPr id="5" name="Text 3"/>
          <p:cNvSpPr/>
          <p:nvPr/>
        </p:nvSpPr>
        <p:spPr>
          <a:xfrm>
            <a:off x="777240" y="384048"/>
            <a:ext cx="7315200" cy="320040"/>
          </a:xfrm>
          <a:prstGeom prst="rect">
            <a:avLst/>
          </a:prstGeom>
          <a:noFill/>
          <a:ln/>
        </p:spPr>
        <p:txBody>
          <a:bodyPr wrap="square" rtlCol="0" anchor="ctr"/>
          <a:lstStyle/>
          <a:p>
            <a:pPr indent="0" marL="0">
              <a:buNone/>
            </a:pPr>
            <a:r>
              <a:rPr lang="en-US" sz="1100" b="1" spc="200" kern="0" dirty="0">
                <a:solidFill>
                  <a:srgbClr val="CC785C"/>
                </a:solidFill>
                <a:latin typeface="Calibri" pitchFamily="34" charset="0"/>
                <a:ea typeface="Calibri" pitchFamily="34" charset="-122"/>
                <a:cs typeface="Calibri" pitchFamily="34" charset="-120"/>
              </a:rPr>
              <a:t>GOVERNANCE</a:t>
            </a:r>
            <a:endParaRPr lang="en-US" sz="1100" dirty="0"/>
          </a:p>
        </p:txBody>
      </p:sp>
      <p:sp>
        <p:nvSpPr>
          <p:cNvPr id="6" name="Text 4"/>
          <p:cNvSpPr/>
          <p:nvPr/>
        </p:nvSpPr>
        <p:spPr>
          <a:xfrm>
            <a:off x="457200" y="777240"/>
            <a:ext cx="11247120" cy="822960"/>
          </a:xfrm>
          <a:prstGeom prst="rect">
            <a:avLst/>
          </a:prstGeom>
          <a:noFill/>
          <a:ln/>
        </p:spPr>
        <p:txBody>
          <a:bodyPr wrap="square" rtlCol="0" anchor="ctr"/>
          <a:lstStyle/>
          <a:p>
            <a:pPr indent="0" marL="0">
              <a:buNone/>
            </a:pPr>
            <a:r>
              <a:rPr lang="en-US" sz="3200" dirty="0">
                <a:solidFill>
                  <a:srgbClr val="1F1F1E"/>
                </a:solidFill>
                <a:latin typeface="Georgia" pitchFamily="34" charset="0"/>
                <a:ea typeface="Georgia" pitchFamily="34" charset="-122"/>
                <a:cs typeface="Georgia" pitchFamily="34" charset="-120"/>
              </a:rPr>
              <a:t>Governance: three layers, each one catchable in a PR review.</a:t>
            </a:r>
            <a:endParaRPr lang="en-US" sz="3200" dirty="0"/>
          </a:p>
        </p:txBody>
      </p:sp>
      <p:sp>
        <p:nvSpPr>
          <p:cNvPr id="7" name="Shape 5"/>
          <p:cNvSpPr/>
          <p:nvPr/>
        </p:nvSpPr>
        <p:spPr>
          <a:xfrm>
            <a:off x="502920" y="1737360"/>
            <a:ext cx="11247120" cy="1371600"/>
          </a:xfrm>
          <a:prstGeom prst="rect">
            <a:avLst/>
          </a:prstGeom>
          <a:solidFill>
            <a:srgbClr val="E8E4D8"/>
          </a:solidFill>
          <a:ln w="9525">
            <a:solidFill>
              <a:srgbClr val="D6D1C4"/>
            </a:solidFill>
            <a:prstDash val="solid"/>
          </a:ln>
        </p:spPr>
      </p:sp>
      <p:sp>
        <p:nvSpPr>
          <p:cNvPr id="8" name="Text 6"/>
          <p:cNvSpPr/>
          <p:nvPr/>
        </p:nvSpPr>
        <p:spPr>
          <a:xfrm>
            <a:off x="685800" y="1874520"/>
            <a:ext cx="1828800" cy="274320"/>
          </a:xfrm>
          <a:prstGeom prst="rect">
            <a:avLst/>
          </a:prstGeom>
          <a:noFill/>
          <a:ln/>
        </p:spPr>
        <p:txBody>
          <a:bodyPr wrap="square" rtlCol="0" anchor="ctr"/>
          <a:lstStyle/>
          <a:p>
            <a:pPr indent="0" marL="0">
              <a:buNone/>
            </a:pPr>
            <a:r>
              <a:rPr lang="en-US" sz="1000" b="1" spc="200" kern="0" dirty="0">
                <a:solidFill>
                  <a:srgbClr val="CC785C"/>
                </a:solidFill>
                <a:latin typeface="Calibri" pitchFamily="34" charset="0"/>
                <a:ea typeface="Calibri" pitchFamily="34" charset="-122"/>
                <a:cs typeface="Calibri" pitchFamily="34" charset="-120"/>
              </a:rPr>
              <a:t>LAYER 1</a:t>
            </a:r>
            <a:endParaRPr lang="en-US" sz="1000" dirty="0"/>
          </a:p>
        </p:txBody>
      </p:sp>
      <p:sp>
        <p:nvSpPr>
          <p:cNvPr id="9" name="Text 7"/>
          <p:cNvSpPr/>
          <p:nvPr/>
        </p:nvSpPr>
        <p:spPr>
          <a:xfrm>
            <a:off x="685800" y="2148840"/>
            <a:ext cx="5486400" cy="365760"/>
          </a:xfrm>
          <a:prstGeom prst="rect">
            <a:avLst/>
          </a:prstGeom>
          <a:noFill/>
          <a:ln/>
        </p:spPr>
        <p:txBody>
          <a:bodyPr wrap="square" rtlCol="0" anchor="ctr"/>
          <a:lstStyle/>
          <a:p>
            <a:pPr indent="0" marL="0">
              <a:buNone/>
            </a:pPr>
            <a:r>
              <a:rPr lang="en-US" sz="1700" b="1" dirty="0">
                <a:solidFill>
                  <a:srgbClr val="1F1F1E"/>
                </a:solidFill>
                <a:latin typeface="Calibri" pitchFamily="34" charset="0"/>
                <a:ea typeface="Calibri" pitchFamily="34" charset="-122"/>
                <a:cs typeface="Calibri" pitchFamily="34" charset="-120"/>
              </a:rPr>
              <a:t>Organization policy</a:t>
            </a:r>
            <a:endParaRPr lang="en-US" sz="1700" dirty="0"/>
          </a:p>
        </p:txBody>
      </p:sp>
      <p:sp>
        <p:nvSpPr>
          <p:cNvPr id="10" name="Text 8"/>
          <p:cNvSpPr/>
          <p:nvPr/>
        </p:nvSpPr>
        <p:spPr>
          <a:xfrm>
            <a:off x="685800" y="2560320"/>
            <a:ext cx="8229600" cy="548640"/>
          </a:xfrm>
          <a:prstGeom prst="rect">
            <a:avLst/>
          </a:prstGeom>
          <a:noFill/>
          <a:ln/>
        </p:spPr>
        <p:txBody>
          <a:bodyPr wrap="square" rtlCol="0" anchor="ctr"/>
          <a:lstStyle/>
          <a:p>
            <a:pPr indent="0" marL="0">
              <a:lnSpc>
                <a:spcPct val="120000"/>
              </a:lnSpc>
              <a:buNone/>
            </a:pPr>
            <a:r>
              <a:rPr lang="en-US" sz="1150" dirty="0">
                <a:solidFill>
                  <a:srgbClr val="6B6760"/>
                </a:solidFill>
                <a:latin typeface="Calibri" pitchFamily="34" charset="0"/>
                <a:ea typeface="Calibri" pitchFamily="34" charset="-122"/>
                <a:cs typeface="Calibri" pitchFamily="34" charset="-120"/>
              </a:rPr>
              <a:t>Top-level CLAUDE.md at the org root. Owned by platform / security. Non-negotiable rules: no secrets in code, no prod DB writes from dev, PCI DSS constraints, allowed model names, allowed MCP servers.</a:t>
            </a:r>
            <a:endParaRPr lang="en-US" sz="1150" dirty="0"/>
          </a:p>
        </p:txBody>
      </p:sp>
      <p:sp>
        <p:nvSpPr>
          <p:cNvPr id="11" name="Text 9"/>
          <p:cNvSpPr/>
          <p:nvPr/>
        </p:nvSpPr>
        <p:spPr>
          <a:xfrm>
            <a:off x="9326880" y="2148840"/>
            <a:ext cx="2286000" cy="228600"/>
          </a:xfrm>
          <a:prstGeom prst="rect">
            <a:avLst/>
          </a:prstGeom>
          <a:noFill/>
          <a:ln/>
        </p:spPr>
        <p:txBody>
          <a:bodyPr wrap="square" rtlCol="0" anchor="ctr"/>
          <a:lstStyle/>
          <a:p>
            <a:pPr indent="0" marL="0">
              <a:buNone/>
            </a:pPr>
            <a:r>
              <a:rPr lang="en-US" sz="900" b="1" spc="200" kern="0" dirty="0">
                <a:solidFill>
                  <a:srgbClr val="CC785C"/>
                </a:solidFill>
                <a:latin typeface="Calibri" pitchFamily="34" charset="0"/>
                <a:ea typeface="Calibri" pitchFamily="34" charset="-122"/>
                <a:cs typeface="Calibri" pitchFamily="34" charset="-120"/>
              </a:rPr>
              <a:t>Owner</a:t>
            </a:r>
            <a:endParaRPr lang="en-US" sz="900" dirty="0"/>
          </a:p>
        </p:txBody>
      </p:sp>
      <p:sp>
        <p:nvSpPr>
          <p:cNvPr id="12" name="Text 10"/>
          <p:cNvSpPr/>
          <p:nvPr/>
        </p:nvSpPr>
        <p:spPr>
          <a:xfrm>
            <a:off x="9326880" y="2377440"/>
            <a:ext cx="2286000" cy="320040"/>
          </a:xfrm>
          <a:prstGeom prst="rect">
            <a:avLst/>
          </a:prstGeom>
          <a:noFill/>
          <a:ln/>
        </p:spPr>
        <p:txBody>
          <a:bodyPr wrap="square" rtlCol="0" anchor="ctr"/>
          <a:lstStyle/>
          <a:p>
            <a:pPr indent="0" marL="0">
              <a:buNone/>
            </a:pPr>
            <a:r>
              <a:rPr lang="en-US" sz="1300" b="1" dirty="0">
                <a:solidFill>
                  <a:srgbClr val="1F1F1E"/>
                </a:solidFill>
                <a:latin typeface="Calibri" pitchFamily="34" charset="0"/>
                <a:ea typeface="Calibri" pitchFamily="34" charset="-122"/>
                <a:cs typeface="Calibri" pitchFamily="34" charset="-120"/>
              </a:rPr>
              <a:t>Platform &amp; Security</a:t>
            </a:r>
            <a:endParaRPr lang="en-US" sz="1300" dirty="0"/>
          </a:p>
        </p:txBody>
      </p:sp>
      <p:sp>
        <p:nvSpPr>
          <p:cNvPr id="13" name="Shape 11"/>
          <p:cNvSpPr/>
          <p:nvPr/>
        </p:nvSpPr>
        <p:spPr>
          <a:xfrm>
            <a:off x="502920" y="3291840"/>
            <a:ext cx="11247120" cy="1371600"/>
          </a:xfrm>
          <a:prstGeom prst="rect">
            <a:avLst/>
          </a:prstGeom>
          <a:solidFill>
            <a:srgbClr val="E8E4D8"/>
          </a:solidFill>
          <a:ln w="9525">
            <a:solidFill>
              <a:srgbClr val="D6D1C4"/>
            </a:solidFill>
            <a:prstDash val="solid"/>
          </a:ln>
        </p:spPr>
      </p:sp>
      <p:sp>
        <p:nvSpPr>
          <p:cNvPr id="14" name="Text 12"/>
          <p:cNvSpPr/>
          <p:nvPr/>
        </p:nvSpPr>
        <p:spPr>
          <a:xfrm>
            <a:off x="685800" y="3429000"/>
            <a:ext cx="1828800" cy="274320"/>
          </a:xfrm>
          <a:prstGeom prst="rect">
            <a:avLst/>
          </a:prstGeom>
          <a:noFill/>
          <a:ln/>
        </p:spPr>
        <p:txBody>
          <a:bodyPr wrap="square" rtlCol="0" anchor="ctr"/>
          <a:lstStyle/>
          <a:p>
            <a:pPr indent="0" marL="0">
              <a:buNone/>
            </a:pPr>
            <a:r>
              <a:rPr lang="en-US" sz="1000" b="1" spc="200" kern="0" dirty="0">
                <a:solidFill>
                  <a:srgbClr val="CC785C"/>
                </a:solidFill>
                <a:latin typeface="Calibri" pitchFamily="34" charset="0"/>
                <a:ea typeface="Calibri" pitchFamily="34" charset="-122"/>
                <a:cs typeface="Calibri" pitchFamily="34" charset="-120"/>
              </a:rPr>
              <a:t>LAYER 2</a:t>
            </a:r>
            <a:endParaRPr lang="en-US" sz="1000" dirty="0"/>
          </a:p>
        </p:txBody>
      </p:sp>
      <p:sp>
        <p:nvSpPr>
          <p:cNvPr id="15" name="Text 13"/>
          <p:cNvSpPr/>
          <p:nvPr/>
        </p:nvSpPr>
        <p:spPr>
          <a:xfrm>
            <a:off x="685800" y="3703320"/>
            <a:ext cx="5486400" cy="365760"/>
          </a:xfrm>
          <a:prstGeom prst="rect">
            <a:avLst/>
          </a:prstGeom>
          <a:noFill/>
          <a:ln/>
        </p:spPr>
        <p:txBody>
          <a:bodyPr wrap="square" rtlCol="0" anchor="ctr"/>
          <a:lstStyle/>
          <a:p>
            <a:pPr indent="0" marL="0">
              <a:buNone/>
            </a:pPr>
            <a:r>
              <a:rPr lang="en-US" sz="1700" b="1" dirty="0">
                <a:solidFill>
                  <a:srgbClr val="1F1F1E"/>
                </a:solidFill>
                <a:latin typeface="Calibri" pitchFamily="34" charset="0"/>
                <a:ea typeface="Calibri" pitchFamily="34" charset="-122"/>
                <a:cs typeface="Calibri" pitchFamily="34" charset="-120"/>
              </a:rPr>
              <a:t>Repo policy</a:t>
            </a:r>
            <a:endParaRPr lang="en-US" sz="1700" dirty="0"/>
          </a:p>
        </p:txBody>
      </p:sp>
      <p:sp>
        <p:nvSpPr>
          <p:cNvPr id="16" name="Text 14"/>
          <p:cNvSpPr/>
          <p:nvPr/>
        </p:nvSpPr>
        <p:spPr>
          <a:xfrm>
            <a:off x="685800" y="4114800"/>
            <a:ext cx="8229600" cy="548640"/>
          </a:xfrm>
          <a:prstGeom prst="rect">
            <a:avLst/>
          </a:prstGeom>
          <a:noFill/>
          <a:ln/>
        </p:spPr>
        <p:txBody>
          <a:bodyPr wrap="square" rtlCol="0" anchor="ctr"/>
          <a:lstStyle/>
          <a:p>
            <a:pPr indent="0" marL="0">
              <a:lnSpc>
                <a:spcPct val="120000"/>
              </a:lnSpc>
              <a:buNone/>
            </a:pPr>
            <a:r>
              <a:rPr lang="en-US" sz="1150" dirty="0">
                <a:solidFill>
                  <a:srgbClr val="6B6760"/>
                </a:solidFill>
                <a:latin typeface="Calibri" pitchFamily="34" charset="0"/>
                <a:ea typeface="Calibri" pitchFamily="34" charset="-122"/>
                <a:cs typeface="Calibri" pitchFamily="34" charset="-120"/>
              </a:rPr>
              <a:t>Each service has its own CLAUDE.md. Owned by the service team. Inherits from org, adds service specifics: which tests matter, which files are off-limits, which external APIs are fair game.</a:t>
            </a:r>
            <a:endParaRPr lang="en-US" sz="1150" dirty="0"/>
          </a:p>
        </p:txBody>
      </p:sp>
      <p:sp>
        <p:nvSpPr>
          <p:cNvPr id="17" name="Text 15"/>
          <p:cNvSpPr/>
          <p:nvPr/>
        </p:nvSpPr>
        <p:spPr>
          <a:xfrm>
            <a:off x="9326880" y="3703320"/>
            <a:ext cx="2286000" cy="228600"/>
          </a:xfrm>
          <a:prstGeom prst="rect">
            <a:avLst/>
          </a:prstGeom>
          <a:noFill/>
          <a:ln/>
        </p:spPr>
        <p:txBody>
          <a:bodyPr wrap="square" rtlCol="0" anchor="ctr"/>
          <a:lstStyle/>
          <a:p>
            <a:pPr indent="0" marL="0">
              <a:buNone/>
            </a:pPr>
            <a:r>
              <a:rPr lang="en-US" sz="900" b="1" spc="200" kern="0" dirty="0">
                <a:solidFill>
                  <a:srgbClr val="CC785C"/>
                </a:solidFill>
                <a:latin typeface="Calibri" pitchFamily="34" charset="0"/>
                <a:ea typeface="Calibri" pitchFamily="34" charset="-122"/>
                <a:cs typeface="Calibri" pitchFamily="34" charset="-120"/>
              </a:rPr>
              <a:t>Owner</a:t>
            </a:r>
            <a:endParaRPr lang="en-US" sz="900" dirty="0"/>
          </a:p>
        </p:txBody>
      </p:sp>
      <p:sp>
        <p:nvSpPr>
          <p:cNvPr id="18" name="Text 16"/>
          <p:cNvSpPr/>
          <p:nvPr/>
        </p:nvSpPr>
        <p:spPr>
          <a:xfrm>
            <a:off x="9326880" y="3931920"/>
            <a:ext cx="2286000" cy="320040"/>
          </a:xfrm>
          <a:prstGeom prst="rect">
            <a:avLst/>
          </a:prstGeom>
          <a:noFill/>
          <a:ln/>
        </p:spPr>
        <p:txBody>
          <a:bodyPr wrap="square" rtlCol="0" anchor="ctr"/>
          <a:lstStyle/>
          <a:p>
            <a:pPr indent="0" marL="0">
              <a:buNone/>
            </a:pPr>
            <a:r>
              <a:rPr lang="en-US" sz="1300" b="1" dirty="0">
                <a:solidFill>
                  <a:srgbClr val="1F1F1E"/>
                </a:solidFill>
                <a:latin typeface="Calibri" pitchFamily="34" charset="0"/>
                <a:ea typeface="Calibri" pitchFamily="34" charset="-122"/>
                <a:cs typeface="Calibri" pitchFamily="34" charset="-120"/>
              </a:rPr>
              <a:t>Service owners</a:t>
            </a:r>
            <a:endParaRPr lang="en-US" sz="1300" dirty="0"/>
          </a:p>
        </p:txBody>
      </p:sp>
      <p:sp>
        <p:nvSpPr>
          <p:cNvPr id="19" name="Shape 17"/>
          <p:cNvSpPr/>
          <p:nvPr/>
        </p:nvSpPr>
        <p:spPr>
          <a:xfrm>
            <a:off x="502920" y="4846320"/>
            <a:ext cx="11247120" cy="1371600"/>
          </a:xfrm>
          <a:prstGeom prst="rect">
            <a:avLst/>
          </a:prstGeom>
          <a:solidFill>
            <a:srgbClr val="E8E4D8"/>
          </a:solidFill>
          <a:ln w="9525">
            <a:solidFill>
              <a:srgbClr val="D6D1C4"/>
            </a:solidFill>
            <a:prstDash val="solid"/>
          </a:ln>
        </p:spPr>
      </p:sp>
      <p:sp>
        <p:nvSpPr>
          <p:cNvPr id="20" name="Text 18"/>
          <p:cNvSpPr/>
          <p:nvPr/>
        </p:nvSpPr>
        <p:spPr>
          <a:xfrm>
            <a:off x="685800" y="4983480"/>
            <a:ext cx="1828800" cy="274320"/>
          </a:xfrm>
          <a:prstGeom prst="rect">
            <a:avLst/>
          </a:prstGeom>
          <a:noFill/>
          <a:ln/>
        </p:spPr>
        <p:txBody>
          <a:bodyPr wrap="square" rtlCol="0" anchor="ctr"/>
          <a:lstStyle/>
          <a:p>
            <a:pPr indent="0" marL="0">
              <a:buNone/>
            </a:pPr>
            <a:r>
              <a:rPr lang="en-US" sz="1000" b="1" spc="200" kern="0" dirty="0">
                <a:solidFill>
                  <a:srgbClr val="CC785C"/>
                </a:solidFill>
                <a:latin typeface="Calibri" pitchFamily="34" charset="0"/>
                <a:ea typeface="Calibri" pitchFamily="34" charset="-122"/>
                <a:cs typeface="Calibri" pitchFamily="34" charset="-120"/>
              </a:rPr>
              <a:t>LAYER 3</a:t>
            </a:r>
            <a:endParaRPr lang="en-US" sz="1000" dirty="0"/>
          </a:p>
        </p:txBody>
      </p:sp>
      <p:sp>
        <p:nvSpPr>
          <p:cNvPr id="21" name="Text 19"/>
          <p:cNvSpPr/>
          <p:nvPr/>
        </p:nvSpPr>
        <p:spPr>
          <a:xfrm>
            <a:off x="685800" y="5257800"/>
            <a:ext cx="5486400" cy="365760"/>
          </a:xfrm>
          <a:prstGeom prst="rect">
            <a:avLst/>
          </a:prstGeom>
          <a:noFill/>
          <a:ln/>
        </p:spPr>
        <p:txBody>
          <a:bodyPr wrap="square" rtlCol="0" anchor="ctr"/>
          <a:lstStyle/>
          <a:p>
            <a:pPr indent="0" marL="0">
              <a:buNone/>
            </a:pPr>
            <a:r>
              <a:rPr lang="en-US" sz="1700" b="1" dirty="0">
                <a:solidFill>
                  <a:srgbClr val="1F1F1E"/>
                </a:solidFill>
                <a:latin typeface="Calibri" pitchFamily="34" charset="0"/>
                <a:ea typeface="Calibri" pitchFamily="34" charset="-122"/>
                <a:cs typeface="Calibri" pitchFamily="34" charset="-120"/>
              </a:rPr>
              <a:t>Runtime approval mode</a:t>
            </a:r>
            <a:endParaRPr lang="en-US" sz="1700" dirty="0"/>
          </a:p>
        </p:txBody>
      </p:sp>
      <p:sp>
        <p:nvSpPr>
          <p:cNvPr id="22" name="Text 20"/>
          <p:cNvSpPr/>
          <p:nvPr/>
        </p:nvSpPr>
        <p:spPr>
          <a:xfrm>
            <a:off x="685800" y="5669280"/>
            <a:ext cx="8229600" cy="548640"/>
          </a:xfrm>
          <a:prstGeom prst="rect">
            <a:avLst/>
          </a:prstGeom>
          <a:noFill/>
          <a:ln/>
        </p:spPr>
        <p:txBody>
          <a:bodyPr wrap="square" rtlCol="0" anchor="ctr"/>
          <a:lstStyle/>
          <a:p>
            <a:pPr indent="0" marL="0">
              <a:lnSpc>
                <a:spcPct val="120000"/>
              </a:lnSpc>
              <a:buNone/>
            </a:pPr>
            <a:r>
              <a:rPr lang="en-US" sz="1150" dirty="0">
                <a:solidFill>
                  <a:srgbClr val="6B6760"/>
                </a:solidFill>
                <a:latin typeface="Calibri" pitchFamily="34" charset="0"/>
                <a:ea typeface="Calibri" pitchFamily="34" charset="-122"/>
                <a:cs typeface="Calibri" pitchFamily="34" charset="-120"/>
              </a:rPr>
              <a:t>Set per session by the engineer. Four modes: read-only, ask-before-write, ask-before-shell, auto-edit. Default for regulated repos is ask-before-write.</a:t>
            </a:r>
            <a:endParaRPr lang="en-US" sz="1150" dirty="0"/>
          </a:p>
        </p:txBody>
      </p:sp>
      <p:sp>
        <p:nvSpPr>
          <p:cNvPr id="23" name="Text 21"/>
          <p:cNvSpPr/>
          <p:nvPr/>
        </p:nvSpPr>
        <p:spPr>
          <a:xfrm>
            <a:off x="9326880" y="5257800"/>
            <a:ext cx="2286000" cy="228600"/>
          </a:xfrm>
          <a:prstGeom prst="rect">
            <a:avLst/>
          </a:prstGeom>
          <a:noFill/>
          <a:ln/>
        </p:spPr>
        <p:txBody>
          <a:bodyPr wrap="square" rtlCol="0" anchor="ctr"/>
          <a:lstStyle/>
          <a:p>
            <a:pPr indent="0" marL="0">
              <a:buNone/>
            </a:pPr>
            <a:r>
              <a:rPr lang="en-US" sz="900" b="1" spc="200" kern="0" dirty="0">
                <a:solidFill>
                  <a:srgbClr val="CC785C"/>
                </a:solidFill>
                <a:latin typeface="Calibri" pitchFamily="34" charset="0"/>
                <a:ea typeface="Calibri" pitchFamily="34" charset="-122"/>
                <a:cs typeface="Calibri" pitchFamily="34" charset="-120"/>
              </a:rPr>
              <a:t>Owner</a:t>
            </a:r>
            <a:endParaRPr lang="en-US" sz="900" dirty="0"/>
          </a:p>
        </p:txBody>
      </p:sp>
      <p:sp>
        <p:nvSpPr>
          <p:cNvPr id="24" name="Text 22"/>
          <p:cNvSpPr/>
          <p:nvPr/>
        </p:nvSpPr>
        <p:spPr>
          <a:xfrm>
            <a:off x="9326880" y="5486400"/>
            <a:ext cx="2286000" cy="320040"/>
          </a:xfrm>
          <a:prstGeom prst="rect">
            <a:avLst/>
          </a:prstGeom>
          <a:noFill/>
          <a:ln/>
        </p:spPr>
        <p:txBody>
          <a:bodyPr wrap="square" rtlCol="0" anchor="ctr"/>
          <a:lstStyle/>
          <a:p>
            <a:pPr indent="0" marL="0">
              <a:buNone/>
            </a:pPr>
            <a:r>
              <a:rPr lang="en-US" sz="1300" b="1" dirty="0">
                <a:solidFill>
                  <a:srgbClr val="1F1F1E"/>
                </a:solidFill>
                <a:latin typeface="Calibri" pitchFamily="34" charset="0"/>
                <a:ea typeface="Calibri" pitchFamily="34" charset="-122"/>
                <a:cs typeface="Calibri" pitchFamily="34" charset="-120"/>
              </a:rPr>
              <a:t>Engineer + manager</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0EEE6"/>
        </a:solidFill>
      </p:bgPr>
    </p:bg>
    <p:spTree>
      <p:nvGrpSpPr>
        <p:cNvPr id="1" name=""/>
        <p:cNvGrpSpPr/>
        <p:nvPr/>
      </p:nvGrpSpPr>
      <p:grpSpPr>
        <a:xfrm>
          <a:off x="0" y="0"/>
          <a:ext cx="0" cy="0"/>
          <a:chOff x="0" y="0"/>
          <a:chExt cx="0" cy="0"/>
        </a:xfrm>
      </p:grpSpPr>
      <p:sp>
        <p:nvSpPr>
          <p:cNvPr id="2" name="Text 0"/>
          <p:cNvSpPr/>
          <p:nvPr/>
        </p:nvSpPr>
        <p:spPr>
          <a:xfrm>
            <a:off x="457200" y="6446520"/>
            <a:ext cx="6400800" cy="274320"/>
          </a:xfrm>
          <a:prstGeom prst="rect">
            <a:avLst/>
          </a:prstGeom>
          <a:noFill/>
          <a:ln/>
        </p:spPr>
        <p:txBody>
          <a:bodyPr wrap="square" rtlCol="0" anchor="ctr"/>
          <a:lstStyle/>
          <a:p>
            <a:pPr indent="0" marL="0">
              <a:buNone/>
            </a:pPr>
            <a:r>
              <a:rPr lang="en-US" sz="900" dirty="0">
                <a:solidFill>
                  <a:srgbClr val="6B6760"/>
                </a:solidFill>
                <a:latin typeface="Calibri" pitchFamily="34" charset="0"/>
                <a:ea typeface="Calibri" pitchFamily="34" charset="-122"/>
                <a:cs typeface="Calibri" pitchFamily="34" charset="-120"/>
              </a:rPr>
              <a:t>Claude Code  ·  Technical deep-dive</a:t>
            </a:r>
            <a:endParaRPr lang="en-US" sz="900" dirty="0"/>
          </a:p>
        </p:txBody>
      </p:sp>
      <p:sp>
        <p:nvSpPr>
          <p:cNvPr id="3" name="Text 1"/>
          <p:cNvSpPr/>
          <p:nvPr/>
        </p:nvSpPr>
        <p:spPr>
          <a:xfrm>
            <a:off x="10515600" y="6446520"/>
            <a:ext cx="1371600" cy="274320"/>
          </a:xfrm>
          <a:prstGeom prst="rect">
            <a:avLst/>
          </a:prstGeom>
          <a:noFill/>
          <a:ln/>
        </p:spPr>
        <p:txBody>
          <a:bodyPr wrap="square" rtlCol="0" anchor="ctr"/>
          <a:lstStyle/>
          <a:p>
            <a:pPr algn="r" indent="0" marL="0">
              <a:buNone/>
            </a:pPr>
            <a:r>
              <a:rPr lang="en-US" sz="900" i="1" dirty="0">
                <a:solidFill>
                  <a:srgbClr val="6B6760"/>
                </a:solidFill>
                <a:latin typeface="Calibri" pitchFamily="34" charset="0"/>
                <a:ea typeface="Calibri" pitchFamily="34" charset="-122"/>
                <a:cs typeface="Calibri" pitchFamily="34" charset="-120"/>
              </a:rPr>
              <a:t>Anthropic</a:t>
            </a:r>
            <a:endParaRPr lang="en-US" sz="900" dirty="0"/>
          </a:p>
        </p:txBody>
      </p:sp>
      <p:sp>
        <p:nvSpPr>
          <p:cNvPr id="4" name="Shape 2"/>
          <p:cNvSpPr/>
          <p:nvPr/>
        </p:nvSpPr>
        <p:spPr>
          <a:xfrm>
            <a:off x="457200" y="457200"/>
            <a:ext cx="164592" cy="164592"/>
          </a:xfrm>
          <a:prstGeom prst="rect">
            <a:avLst/>
          </a:prstGeom>
          <a:solidFill>
            <a:srgbClr val="CC785C"/>
          </a:solidFill>
          <a:ln w="12700">
            <a:solidFill>
              <a:srgbClr val="CC785C"/>
            </a:solidFill>
            <a:prstDash val="solid"/>
          </a:ln>
        </p:spPr>
      </p:sp>
      <p:sp>
        <p:nvSpPr>
          <p:cNvPr id="5" name="Text 3"/>
          <p:cNvSpPr/>
          <p:nvPr/>
        </p:nvSpPr>
        <p:spPr>
          <a:xfrm>
            <a:off x="777240" y="384048"/>
            <a:ext cx="7315200" cy="320040"/>
          </a:xfrm>
          <a:prstGeom prst="rect">
            <a:avLst/>
          </a:prstGeom>
          <a:noFill/>
          <a:ln/>
        </p:spPr>
        <p:txBody>
          <a:bodyPr wrap="square" rtlCol="0" anchor="ctr"/>
          <a:lstStyle/>
          <a:p>
            <a:pPr indent="0" marL="0">
              <a:buNone/>
            </a:pPr>
            <a:r>
              <a:rPr lang="en-US" sz="1100" b="1" spc="200" kern="0" dirty="0">
                <a:solidFill>
                  <a:srgbClr val="CC785C"/>
                </a:solidFill>
                <a:latin typeface="Calibri" pitchFamily="34" charset="0"/>
                <a:ea typeface="Calibri" pitchFamily="34" charset="-122"/>
                <a:cs typeface="Calibri" pitchFamily="34" charset="-120"/>
              </a:rPr>
              <a:t>SCALE · APPROACH</a:t>
            </a:r>
            <a:endParaRPr lang="en-US" sz="1100" dirty="0"/>
          </a:p>
        </p:txBody>
      </p:sp>
      <p:sp>
        <p:nvSpPr>
          <p:cNvPr id="6" name="Text 4"/>
          <p:cNvSpPr/>
          <p:nvPr/>
        </p:nvSpPr>
        <p:spPr>
          <a:xfrm>
            <a:off x="457200" y="777240"/>
            <a:ext cx="11247120" cy="822960"/>
          </a:xfrm>
          <a:prstGeom prst="rect">
            <a:avLst/>
          </a:prstGeom>
          <a:noFill/>
          <a:ln/>
        </p:spPr>
        <p:txBody>
          <a:bodyPr wrap="square" rtlCol="0" anchor="ctr"/>
          <a:lstStyle/>
          <a:p>
            <a:pPr indent="0" marL="0">
              <a:buNone/>
            </a:pPr>
            <a:r>
              <a:rPr lang="en-US" sz="3200" dirty="0">
                <a:solidFill>
                  <a:srgbClr val="1F1F1E"/>
                </a:solidFill>
                <a:latin typeface="Georgia" pitchFamily="34" charset="0"/>
                <a:ea typeface="Georgia" pitchFamily="34" charset="-122"/>
                <a:cs typeface="Georgia" pitchFamily="34" charset="-120"/>
              </a:rPr>
              <a:t>How it works on codebases bigger than context.</a:t>
            </a:r>
            <a:endParaRPr lang="en-US" sz="3200" dirty="0"/>
          </a:p>
        </p:txBody>
      </p:sp>
      <p:sp>
        <p:nvSpPr>
          <p:cNvPr id="7" name="Text 5"/>
          <p:cNvSpPr/>
          <p:nvPr/>
        </p:nvSpPr>
        <p:spPr>
          <a:xfrm>
            <a:off x="502920" y="1691640"/>
            <a:ext cx="11247120" cy="640080"/>
          </a:xfrm>
          <a:prstGeom prst="rect">
            <a:avLst/>
          </a:prstGeom>
          <a:noFill/>
          <a:ln/>
        </p:spPr>
        <p:txBody>
          <a:bodyPr wrap="square" rtlCol="0" anchor="ctr"/>
          <a:lstStyle/>
          <a:p>
            <a:pPr indent="0" marL="0">
              <a:lnSpc>
                <a:spcPct val="130000"/>
              </a:lnSpc>
              <a:buNone/>
            </a:pPr>
            <a:r>
              <a:rPr lang="en-US" sz="1300" dirty="0">
                <a:solidFill>
                  <a:srgbClr val="1F1F1E"/>
                </a:solidFill>
                <a:latin typeface="Calibri" pitchFamily="34" charset="0"/>
                <a:ea typeface="Calibri" pitchFamily="34" charset="-122"/>
                <a:cs typeface="Calibri" pitchFamily="34" charset="-120"/>
              </a:rPr>
              <a:t>Customers ask the same question on every deep-dive: can this actually handle our four-million-line monolith? Yes, but not by stuffing code into context. Here is the mental model.</a:t>
            </a:r>
            <a:endParaRPr lang="en-US" sz="1300" dirty="0"/>
          </a:p>
        </p:txBody>
      </p:sp>
      <p:sp>
        <p:nvSpPr>
          <p:cNvPr id="8" name="Shape 6"/>
          <p:cNvSpPr/>
          <p:nvPr/>
        </p:nvSpPr>
        <p:spPr>
          <a:xfrm>
            <a:off x="502920" y="2468880"/>
            <a:ext cx="5349240" cy="1645920"/>
          </a:xfrm>
          <a:prstGeom prst="rect">
            <a:avLst/>
          </a:prstGeom>
          <a:solidFill>
            <a:srgbClr val="E8E4D8"/>
          </a:solidFill>
          <a:ln w="9525">
            <a:solidFill>
              <a:srgbClr val="D6D1C4"/>
            </a:solidFill>
            <a:prstDash val="solid"/>
          </a:ln>
        </p:spPr>
      </p:sp>
      <p:sp>
        <p:nvSpPr>
          <p:cNvPr id="9" name="Text 7"/>
          <p:cNvSpPr/>
          <p:nvPr/>
        </p:nvSpPr>
        <p:spPr>
          <a:xfrm>
            <a:off x="731520" y="2606040"/>
            <a:ext cx="4937760" cy="274320"/>
          </a:xfrm>
          <a:prstGeom prst="rect">
            <a:avLst/>
          </a:prstGeom>
          <a:noFill/>
          <a:ln/>
        </p:spPr>
        <p:txBody>
          <a:bodyPr wrap="square" rtlCol="0" anchor="ctr"/>
          <a:lstStyle/>
          <a:p>
            <a:pPr indent="0" marL="0">
              <a:buNone/>
            </a:pPr>
            <a:r>
              <a:rPr lang="en-US" sz="1000" b="1" spc="200" kern="0" dirty="0">
                <a:solidFill>
                  <a:srgbClr val="CC785C"/>
                </a:solidFill>
                <a:latin typeface="Calibri" pitchFamily="34" charset="0"/>
                <a:ea typeface="Calibri" pitchFamily="34" charset="-122"/>
                <a:cs typeface="Calibri" pitchFamily="34" charset="-120"/>
              </a:rPr>
              <a:t>RETRIEVAL, NOT STUFFING</a:t>
            </a:r>
            <a:endParaRPr lang="en-US" sz="1000" dirty="0"/>
          </a:p>
        </p:txBody>
      </p:sp>
      <p:sp>
        <p:nvSpPr>
          <p:cNvPr id="10" name="Text 8"/>
          <p:cNvSpPr/>
          <p:nvPr/>
        </p:nvSpPr>
        <p:spPr>
          <a:xfrm>
            <a:off x="731520" y="2926080"/>
            <a:ext cx="4937760" cy="1143000"/>
          </a:xfrm>
          <a:prstGeom prst="rect">
            <a:avLst/>
          </a:prstGeom>
          <a:noFill/>
          <a:ln/>
        </p:spPr>
        <p:txBody>
          <a:bodyPr wrap="square" rtlCol="0" anchor="ctr"/>
          <a:lstStyle/>
          <a:p>
            <a:pPr indent="0" marL="0">
              <a:lnSpc>
                <a:spcPct val="125000"/>
              </a:lnSpc>
              <a:buNone/>
            </a:pPr>
            <a:r>
              <a:rPr lang="en-US" sz="1150" dirty="0">
                <a:solidFill>
                  <a:srgbClr val="1F1F1E"/>
                </a:solidFill>
                <a:latin typeface="Calibri" pitchFamily="34" charset="0"/>
                <a:ea typeface="Calibri" pitchFamily="34" charset="-122"/>
                <a:cs typeface="Calibri" pitchFamily="34" charset="-120"/>
              </a:rPr>
              <a:t>Claude Code reads the repo the way a senior engineer does: file tree first, then grep, then read only what matters. Context holds the thread of work, not the entire codebase.</a:t>
            </a:r>
            <a:endParaRPr lang="en-US" sz="1150" dirty="0"/>
          </a:p>
        </p:txBody>
      </p:sp>
      <p:sp>
        <p:nvSpPr>
          <p:cNvPr id="11" name="Shape 9"/>
          <p:cNvSpPr/>
          <p:nvPr/>
        </p:nvSpPr>
        <p:spPr>
          <a:xfrm>
            <a:off x="6355080" y="2468880"/>
            <a:ext cx="5349240" cy="1645920"/>
          </a:xfrm>
          <a:prstGeom prst="rect">
            <a:avLst/>
          </a:prstGeom>
          <a:solidFill>
            <a:srgbClr val="E8E4D8"/>
          </a:solidFill>
          <a:ln w="9525">
            <a:solidFill>
              <a:srgbClr val="D6D1C4"/>
            </a:solidFill>
            <a:prstDash val="solid"/>
          </a:ln>
        </p:spPr>
      </p:sp>
      <p:sp>
        <p:nvSpPr>
          <p:cNvPr id="12" name="Text 10"/>
          <p:cNvSpPr/>
          <p:nvPr/>
        </p:nvSpPr>
        <p:spPr>
          <a:xfrm>
            <a:off x="6583680" y="2606040"/>
            <a:ext cx="4937760" cy="274320"/>
          </a:xfrm>
          <a:prstGeom prst="rect">
            <a:avLst/>
          </a:prstGeom>
          <a:noFill/>
          <a:ln/>
        </p:spPr>
        <p:txBody>
          <a:bodyPr wrap="square" rtlCol="0" anchor="ctr"/>
          <a:lstStyle/>
          <a:p>
            <a:pPr indent="0" marL="0">
              <a:buNone/>
            </a:pPr>
            <a:r>
              <a:rPr lang="en-US" sz="1000" b="1" spc="200" kern="0" dirty="0">
                <a:solidFill>
                  <a:srgbClr val="CC785C"/>
                </a:solidFill>
                <a:latin typeface="Calibri" pitchFamily="34" charset="0"/>
                <a:ea typeface="Calibri" pitchFamily="34" charset="-122"/>
                <a:cs typeface="Calibri" pitchFamily="34" charset="-120"/>
              </a:rPr>
              <a:t>SUBAGENTS FOR DEPTH</a:t>
            </a:r>
            <a:endParaRPr lang="en-US" sz="1000" dirty="0"/>
          </a:p>
        </p:txBody>
      </p:sp>
      <p:sp>
        <p:nvSpPr>
          <p:cNvPr id="13" name="Text 11"/>
          <p:cNvSpPr/>
          <p:nvPr/>
        </p:nvSpPr>
        <p:spPr>
          <a:xfrm>
            <a:off x="6583680" y="2926080"/>
            <a:ext cx="4937760" cy="1143000"/>
          </a:xfrm>
          <a:prstGeom prst="rect">
            <a:avLst/>
          </a:prstGeom>
          <a:noFill/>
          <a:ln/>
        </p:spPr>
        <p:txBody>
          <a:bodyPr wrap="square" rtlCol="0" anchor="ctr"/>
          <a:lstStyle/>
          <a:p>
            <a:pPr indent="0" marL="0">
              <a:lnSpc>
                <a:spcPct val="125000"/>
              </a:lnSpc>
              <a:buNone/>
            </a:pPr>
            <a:r>
              <a:rPr lang="en-US" sz="1150" dirty="0">
                <a:solidFill>
                  <a:srgbClr val="1F1F1E"/>
                </a:solidFill>
                <a:latin typeface="Calibri" pitchFamily="34" charset="0"/>
                <a:ea typeface="Calibri" pitchFamily="34" charset="-122"/>
                <a:cs typeface="Calibri" pitchFamily="34" charset="-120"/>
              </a:rPr>
              <a:t>When a task crosses many files, Claude Code spawns subagents with narrower context. Each one returns a summary. The main agent keeps the plan, not the clutter.</a:t>
            </a:r>
            <a:endParaRPr lang="en-US" sz="1150" dirty="0"/>
          </a:p>
        </p:txBody>
      </p:sp>
      <p:sp>
        <p:nvSpPr>
          <p:cNvPr id="14" name="Shape 12"/>
          <p:cNvSpPr/>
          <p:nvPr/>
        </p:nvSpPr>
        <p:spPr>
          <a:xfrm>
            <a:off x="502920" y="4251960"/>
            <a:ext cx="5349240" cy="1645920"/>
          </a:xfrm>
          <a:prstGeom prst="rect">
            <a:avLst/>
          </a:prstGeom>
          <a:solidFill>
            <a:srgbClr val="E8E4D8"/>
          </a:solidFill>
          <a:ln w="9525">
            <a:solidFill>
              <a:srgbClr val="D6D1C4"/>
            </a:solidFill>
            <a:prstDash val="solid"/>
          </a:ln>
        </p:spPr>
      </p:sp>
      <p:sp>
        <p:nvSpPr>
          <p:cNvPr id="15" name="Text 13"/>
          <p:cNvSpPr/>
          <p:nvPr/>
        </p:nvSpPr>
        <p:spPr>
          <a:xfrm>
            <a:off x="731520" y="4389120"/>
            <a:ext cx="4937760" cy="274320"/>
          </a:xfrm>
          <a:prstGeom prst="rect">
            <a:avLst/>
          </a:prstGeom>
          <a:noFill/>
          <a:ln/>
        </p:spPr>
        <p:txBody>
          <a:bodyPr wrap="square" rtlCol="0" anchor="ctr"/>
          <a:lstStyle/>
          <a:p>
            <a:pPr indent="0" marL="0">
              <a:buNone/>
            </a:pPr>
            <a:r>
              <a:rPr lang="en-US" sz="1000" b="1" spc="200" kern="0" dirty="0">
                <a:solidFill>
                  <a:srgbClr val="CC785C"/>
                </a:solidFill>
                <a:latin typeface="Calibri" pitchFamily="34" charset="0"/>
                <a:ea typeface="Calibri" pitchFamily="34" charset="-122"/>
                <a:cs typeface="Calibri" pitchFamily="34" charset="-120"/>
              </a:rPr>
              <a:t>AUTO-COMPACT, EXPLAINED</a:t>
            </a:r>
            <a:endParaRPr lang="en-US" sz="1000" dirty="0"/>
          </a:p>
        </p:txBody>
      </p:sp>
      <p:sp>
        <p:nvSpPr>
          <p:cNvPr id="16" name="Text 14"/>
          <p:cNvSpPr/>
          <p:nvPr/>
        </p:nvSpPr>
        <p:spPr>
          <a:xfrm>
            <a:off x="731520" y="4709160"/>
            <a:ext cx="4937760" cy="1143000"/>
          </a:xfrm>
          <a:prstGeom prst="rect">
            <a:avLst/>
          </a:prstGeom>
          <a:noFill/>
          <a:ln/>
        </p:spPr>
        <p:txBody>
          <a:bodyPr wrap="square" rtlCol="0" anchor="ctr"/>
          <a:lstStyle/>
          <a:p>
            <a:pPr indent="0" marL="0">
              <a:lnSpc>
                <a:spcPct val="125000"/>
              </a:lnSpc>
              <a:buNone/>
            </a:pPr>
            <a:r>
              <a:rPr lang="en-US" sz="1150" dirty="0">
                <a:solidFill>
                  <a:srgbClr val="1F1F1E"/>
                </a:solidFill>
                <a:latin typeface="Calibri" pitchFamily="34" charset="0"/>
                <a:ea typeface="Calibri" pitchFamily="34" charset="-122"/>
                <a:cs typeface="Calibri" pitchFamily="34" charset="-120"/>
              </a:rPr>
              <a:t>When context approaches the limit, Claude Code compacts older turns into a summary and keeps going. The engineer sees it happen. Plans, decisions, and open files survive; verbose tool output does not.</a:t>
            </a:r>
            <a:endParaRPr lang="en-US" sz="1150" dirty="0"/>
          </a:p>
        </p:txBody>
      </p:sp>
      <p:sp>
        <p:nvSpPr>
          <p:cNvPr id="17" name="Shape 15"/>
          <p:cNvSpPr/>
          <p:nvPr/>
        </p:nvSpPr>
        <p:spPr>
          <a:xfrm>
            <a:off x="6355080" y="4251960"/>
            <a:ext cx="5349240" cy="1645920"/>
          </a:xfrm>
          <a:prstGeom prst="rect">
            <a:avLst/>
          </a:prstGeom>
          <a:solidFill>
            <a:srgbClr val="E8E4D8"/>
          </a:solidFill>
          <a:ln w="9525">
            <a:solidFill>
              <a:srgbClr val="D6D1C4"/>
            </a:solidFill>
            <a:prstDash val="solid"/>
          </a:ln>
        </p:spPr>
      </p:sp>
      <p:sp>
        <p:nvSpPr>
          <p:cNvPr id="18" name="Text 16"/>
          <p:cNvSpPr/>
          <p:nvPr/>
        </p:nvSpPr>
        <p:spPr>
          <a:xfrm>
            <a:off x="6583680" y="4389120"/>
            <a:ext cx="4937760" cy="274320"/>
          </a:xfrm>
          <a:prstGeom prst="rect">
            <a:avLst/>
          </a:prstGeom>
          <a:noFill/>
          <a:ln/>
        </p:spPr>
        <p:txBody>
          <a:bodyPr wrap="square" rtlCol="0" anchor="ctr"/>
          <a:lstStyle/>
          <a:p>
            <a:pPr indent="0" marL="0">
              <a:buNone/>
            </a:pPr>
            <a:r>
              <a:rPr lang="en-US" sz="1000" b="1" spc="200" kern="0" dirty="0">
                <a:solidFill>
                  <a:srgbClr val="CC785C"/>
                </a:solidFill>
                <a:latin typeface="Calibri" pitchFamily="34" charset="0"/>
                <a:ea typeface="Calibri" pitchFamily="34" charset="-122"/>
                <a:cs typeface="Calibri" pitchFamily="34" charset="-120"/>
              </a:rPr>
              <a:t>MODERNIZATION PLAYBOOK</a:t>
            </a:r>
            <a:endParaRPr lang="en-US" sz="1000" dirty="0"/>
          </a:p>
        </p:txBody>
      </p:sp>
      <p:sp>
        <p:nvSpPr>
          <p:cNvPr id="19" name="Text 17"/>
          <p:cNvSpPr/>
          <p:nvPr/>
        </p:nvSpPr>
        <p:spPr>
          <a:xfrm>
            <a:off x="6583680" y="4709160"/>
            <a:ext cx="4937760" cy="1143000"/>
          </a:xfrm>
          <a:prstGeom prst="rect">
            <a:avLst/>
          </a:prstGeom>
          <a:noFill/>
          <a:ln/>
        </p:spPr>
        <p:txBody>
          <a:bodyPr wrap="square" rtlCol="0" anchor="ctr"/>
          <a:lstStyle/>
          <a:p>
            <a:pPr indent="0" marL="0">
              <a:lnSpc>
                <a:spcPct val="125000"/>
              </a:lnSpc>
              <a:buNone/>
            </a:pPr>
            <a:r>
              <a:rPr lang="en-US" sz="1150" dirty="0">
                <a:solidFill>
                  <a:srgbClr val="1F1F1E"/>
                </a:solidFill>
                <a:latin typeface="Calibri" pitchFamily="34" charset="0"/>
                <a:ea typeface="Calibri" pitchFamily="34" charset="-122"/>
                <a:cs typeface="Calibri" pitchFamily="34" charset="-120"/>
              </a:rPr>
              <a:t>For COBOL-to-Java or monolith decomposition: slice by bounded context, anchor every slice to a characterization test, keep a human in the loop on architectural calls. Claude Code handles the grinding, not the judgment.</a:t>
            </a:r>
            <a:endParaRPr lang="en-US" sz="1150" dirty="0"/>
          </a:p>
        </p:txBody>
      </p:sp>
      <p:sp>
        <p:nvSpPr>
          <p:cNvPr id="20" name="Shape 18"/>
          <p:cNvSpPr/>
          <p:nvPr/>
        </p:nvSpPr>
        <p:spPr>
          <a:xfrm>
            <a:off x="502920" y="6035040"/>
            <a:ext cx="11247120" cy="320040"/>
          </a:xfrm>
          <a:prstGeom prst="rect">
            <a:avLst/>
          </a:prstGeom>
          <a:solidFill>
            <a:srgbClr val="1F1F1E"/>
          </a:solidFill>
          <a:ln w="12700">
            <a:solidFill>
              <a:srgbClr val="1F1F1E"/>
            </a:solidFill>
            <a:prstDash val="solid"/>
          </a:ln>
        </p:spPr>
      </p:sp>
      <p:sp>
        <p:nvSpPr>
          <p:cNvPr id="21" name="Text 19"/>
          <p:cNvSpPr/>
          <p:nvPr/>
        </p:nvSpPr>
        <p:spPr>
          <a:xfrm>
            <a:off x="777240" y="6062472"/>
            <a:ext cx="10972800" cy="274320"/>
          </a:xfrm>
          <a:prstGeom prst="rect">
            <a:avLst/>
          </a:prstGeom>
          <a:noFill/>
          <a:ln/>
        </p:spPr>
        <p:txBody>
          <a:bodyPr wrap="square" rtlCol="0" anchor="ctr"/>
          <a:lstStyle/>
          <a:p>
            <a:pPr indent="0" marL="0">
              <a:buNone/>
            </a:pPr>
            <a:r>
              <a:rPr lang="en-US" sz="1100" i="1" dirty="0">
                <a:solidFill>
                  <a:srgbClr val="F0EEE6"/>
                </a:solidFill>
                <a:latin typeface="Georgia" pitchFamily="34" charset="0"/>
                <a:ea typeface="Georgia" pitchFamily="34" charset="-122"/>
                <a:cs typeface="Georgia" pitchFamily="34" charset="-120"/>
              </a:rPr>
              <a:t>Greenfield feels magical. A 20-year monolith feels like a very patient senior engineer. Both useful; not the same product experience.</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0EEE6"/>
        </a:solidFill>
      </p:bgPr>
    </p:bg>
    <p:spTree>
      <p:nvGrpSpPr>
        <p:cNvPr id="1" name=""/>
        <p:cNvGrpSpPr/>
        <p:nvPr/>
      </p:nvGrpSpPr>
      <p:grpSpPr>
        <a:xfrm>
          <a:off x="0" y="0"/>
          <a:ext cx="0" cy="0"/>
          <a:chOff x="0" y="0"/>
          <a:chExt cx="0" cy="0"/>
        </a:xfrm>
      </p:grpSpPr>
      <p:sp>
        <p:nvSpPr>
          <p:cNvPr id="2" name="Text 0"/>
          <p:cNvSpPr/>
          <p:nvPr/>
        </p:nvSpPr>
        <p:spPr>
          <a:xfrm>
            <a:off x="457200" y="6446520"/>
            <a:ext cx="6400800" cy="274320"/>
          </a:xfrm>
          <a:prstGeom prst="rect">
            <a:avLst/>
          </a:prstGeom>
          <a:noFill/>
          <a:ln/>
        </p:spPr>
        <p:txBody>
          <a:bodyPr wrap="square" rtlCol="0" anchor="ctr"/>
          <a:lstStyle/>
          <a:p>
            <a:pPr indent="0" marL="0">
              <a:buNone/>
            </a:pPr>
            <a:r>
              <a:rPr lang="en-US" sz="900" dirty="0">
                <a:solidFill>
                  <a:srgbClr val="6B6760"/>
                </a:solidFill>
                <a:latin typeface="Calibri" pitchFamily="34" charset="0"/>
                <a:ea typeface="Calibri" pitchFamily="34" charset="-122"/>
                <a:cs typeface="Calibri" pitchFamily="34" charset="-120"/>
              </a:rPr>
              <a:t>Claude Code  ·  Technical deep-dive</a:t>
            </a:r>
            <a:endParaRPr lang="en-US" sz="900" dirty="0"/>
          </a:p>
        </p:txBody>
      </p:sp>
      <p:sp>
        <p:nvSpPr>
          <p:cNvPr id="3" name="Text 1"/>
          <p:cNvSpPr/>
          <p:nvPr/>
        </p:nvSpPr>
        <p:spPr>
          <a:xfrm>
            <a:off x="10515600" y="6446520"/>
            <a:ext cx="1371600" cy="274320"/>
          </a:xfrm>
          <a:prstGeom prst="rect">
            <a:avLst/>
          </a:prstGeom>
          <a:noFill/>
          <a:ln/>
        </p:spPr>
        <p:txBody>
          <a:bodyPr wrap="square" rtlCol="0" anchor="ctr"/>
          <a:lstStyle/>
          <a:p>
            <a:pPr algn="r" indent="0" marL="0">
              <a:buNone/>
            </a:pPr>
            <a:r>
              <a:rPr lang="en-US" sz="900" i="1" dirty="0">
                <a:solidFill>
                  <a:srgbClr val="6B6760"/>
                </a:solidFill>
                <a:latin typeface="Calibri" pitchFamily="34" charset="0"/>
                <a:ea typeface="Calibri" pitchFamily="34" charset="-122"/>
                <a:cs typeface="Calibri" pitchFamily="34" charset="-120"/>
              </a:rPr>
              <a:t>Anthropic</a:t>
            </a:r>
            <a:endParaRPr lang="en-US" sz="900" dirty="0"/>
          </a:p>
        </p:txBody>
      </p:sp>
      <p:sp>
        <p:nvSpPr>
          <p:cNvPr id="4" name="Shape 2"/>
          <p:cNvSpPr/>
          <p:nvPr/>
        </p:nvSpPr>
        <p:spPr>
          <a:xfrm>
            <a:off x="457200" y="457200"/>
            <a:ext cx="164592" cy="164592"/>
          </a:xfrm>
          <a:prstGeom prst="rect">
            <a:avLst/>
          </a:prstGeom>
          <a:solidFill>
            <a:srgbClr val="CC785C"/>
          </a:solidFill>
          <a:ln w="12700">
            <a:solidFill>
              <a:srgbClr val="CC785C"/>
            </a:solidFill>
            <a:prstDash val="solid"/>
          </a:ln>
        </p:spPr>
      </p:sp>
      <p:sp>
        <p:nvSpPr>
          <p:cNvPr id="5" name="Text 3"/>
          <p:cNvSpPr/>
          <p:nvPr/>
        </p:nvSpPr>
        <p:spPr>
          <a:xfrm>
            <a:off x="777240" y="384048"/>
            <a:ext cx="7315200" cy="320040"/>
          </a:xfrm>
          <a:prstGeom prst="rect">
            <a:avLst/>
          </a:prstGeom>
          <a:noFill/>
          <a:ln/>
        </p:spPr>
        <p:txBody>
          <a:bodyPr wrap="square" rtlCol="0" anchor="ctr"/>
          <a:lstStyle/>
          <a:p>
            <a:pPr indent="0" marL="0">
              <a:buNone/>
            </a:pPr>
            <a:r>
              <a:rPr lang="en-US" sz="1100" b="1" spc="200" kern="0" dirty="0">
                <a:solidFill>
                  <a:srgbClr val="CC785C"/>
                </a:solidFill>
                <a:latin typeface="Calibri" pitchFamily="34" charset="0"/>
                <a:ea typeface="Calibri" pitchFamily="34" charset="-122"/>
                <a:cs typeface="Calibri" pitchFamily="34" charset="-120"/>
              </a:rPr>
              <a:t>ROLLOUT</a:t>
            </a:r>
            <a:endParaRPr lang="en-US" sz="1100" dirty="0"/>
          </a:p>
        </p:txBody>
      </p:sp>
      <p:sp>
        <p:nvSpPr>
          <p:cNvPr id="6" name="Text 4"/>
          <p:cNvSpPr/>
          <p:nvPr/>
        </p:nvSpPr>
        <p:spPr>
          <a:xfrm>
            <a:off x="457200" y="777240"/>
            <a:ext cx="11247120" cy="822960"/>
          </a:xfrm>
          <a:prstGeom prst="rect">
            <a:avLst/>
          </a:prstGeom>
          <a:noFill/>
          <a:ln/>
        </p:spPr>
        <p:txBody>
          <a:bodyPr wrap="square" rtlCol="0" anchor="ctr"/>
          <a:lstStyle/>
          <a:p>
            <a:pPr indent="0" marL="0">
              <a:buNone/>
            </a:pPr>
            <a:r>
              <a:rPr lang="en-US" sz="3200" dirty="0">
                <a:solidFill>
                  <a:srgbClr val="1F1F1E"/>
                </a:solidFill>
                <a:latin typeface="Georgia" pitchFamily="34" charset="0"/>
                <a:ea typeface="Georgia" pitchFamily="34" charset="-122"/>
                <a:cs typeface="Georgia" pitchFamily="34" charset="-120"/>
              </a:rPr>
              <a:t>Three phases, each one reversible.</a:t>
            </a:r>
            <a:endParaRPr lang="en-US" sz="3200" dirty="0"/>
          </a:p>
        </p:txBody>
      </p:sp>
      <p:sp>
        <p:nvSpPr>
          <p:cNvPr id="7" name="Shape 5"/>
          <p:cNvSpPr/>
          <p:nvPr/>
        </p:nvSpPr>
        <p:spPr>
          <a:xfrm>
            <a:off x="502920" y="1783080"/>
            <a:ext cx="3703320" cy="4572000"/>
          </a:xfrm>
          <a:prstGeom prst="rect">
            <a:avLst/>
          </a:prstGeom>
          <a:solidFill>
            <a:srgbClr val="FFFFFF"/>
          </a:solidFill>
          <a:ln w="9525">
            <a:solidFill>
              <a:srgbClr val="D6D1C4"/>
            </a:solidFill>
            <a:prstDash val="solid"/>
          </a:ln>
        </p:spPr>
      </p:sp>
      <p:sp>
        <p:nvSpPr>
          <p:cNvPr id="8" name="Shape 6"/>
          <p:cNvSpPr/>
          <p:nvPr/>
        </p:nvSpPr>
        <p:spPr>
          <a:xfrm>
            <a:off x="502920" y="1783080"/>
            <a:ext cx="3703320" cy="457200"/>
          </a:xfrm>
          <a:prstGeom prst="rect">
            <a:avLst/>
          </a:prstGeom>
          <a:solidFill>
            <a:srgbClr val="CC785C"/>
          </a:solidFill>
          <a:ln w="12700">
            <a:solidFill>
              <a:srgbClr val="CC785C"/>
            </a:solidFill>
            <a:prstDash val="solid"/>
          </a:ln>
        </p:spPr>
      </p:sp>
      <p:sp>
        <p:nvSpPr>
          <p:cNvPr id="9" name="Text 7"/>
          <p:cNvSpPr/>
          <p:nvPr/>
        </p:nvSpPr>
        <p:spPr>
          <a:xfrm>
            <a:off x="685800" y="1847088"/>
            <a:ext cx="2743200" cy="274320"/>
          </a:xfrm>
          <a:prstGeom prst="rect">
            <a:avLst/>
          </a:prstGeom>
          <a:noFill/>
          <a:ln/>
        </p:spPr>
        <p:txBody>
          <a:bodyPr wrap="square" rtlCol="0" anchor="ctr"/>
          <a:lstStyle/>
          <a:p>
            <a:pPr indent="0" marL="0">
              <a:buNone/>
            </a:pPr>
            <a:r>
              <a:rPr lang="en-US" sz="1000" b="1" spc="200" kern="0" dirty="0">
                <a:solidFill>
                  <a:srgbClr val="FFFFFF"/>
                </a:solidFill>
                <a:latin typeface="Calibri" pitchFamily="34" charset="0"/>
                <a:ea typeface="Calibri" pitchFamily="34" charset="-122"/>
                <a:cs typeface="Calibri" pitchFamily="34" charset="-120"/>
              </a:rPr>
              <a:t>PHASE 1</a:t>
            </a:r>
            <a:endParaRPr lang="en-US" sz="1000" dirty="0"/>
          </a:p>
        </p:txBody>
      </p:sp>
      <p:sp>
        <p:nvSpPr>
          <p:cNvPr id="10" name="Text 8"/>
          <p:cNvSpPr/>
          <p:nvPr/>
        </p:nvSpPr>
        <p:spPr>
          <a:xfrm>
            <a:off x="685800" y="2377440"/>
            <a:ext cx="3474720" cy="457200"/>
          </a:xfrm>
          <a:prstGeom prst="rect">
            <a:avLst/>
          </a:prstGeom>
          <a:noFill/>
          <a:ln/>
        </p:spPr>
        <p:txBody>
          <a:bodyPr wrap="square" rtlCol="0" anchor="ctr"/>
          <a:lstStyle/>
          <a:p>
            <a:pPr indent="0" marL="0">
              <a:buNone/>
            </a:pPr>
            <a:r>
              <a:rPr lang="en-US" sz="2400" dirty="0">
                <a:solidFill>
                  <a:srgbClr val="1F1F1E"/>
                </a:solidFill>
                <a:latin typeface="Georgia" pitchFamily="34" charset="0"/>
                <a:ea typeface="Georgia" pitchFamily="34" charset="-122"/>
                <a:cs typeface="Georgia" pitchFamily="34" charset="-120"/>
              </a:rPr>
              <a:t>Pilot</a:t>
            </a:r>
            <a:endParaRPr lang="en-US" sz="2400" dirty="0"/>
          </a:p>
        </p:txBody>
      </p:sp>
      <p:sp>
        <p:nvSpPr>
          <p:cNvPr id="11" name="Text 9"/>
          <p:cNvSpPr/>
          <p:nvPr/>
        </p:nvSpPr>
        <p:spPr>
          <a:xfrm>
            <a:off x="685800" y="2880360"/>
            <a:ext cx="3474720" cy="274320"/>
          </a:xfrm>
          <a:prstGeom prst="rect">
            <a:avLst/>
          </a:prstGeom>
          <a:noFill/>
          <a:ln/>
        </p:spPr>
        <p:txBody>
          <a:bodyPr wrap="square" rtlCol="0" anchor="ctr"/>
          <a:lstStyle/>
          <a:p>
            <a:pPr indent="0" marL="0">
              <a:buNone/>
            </a:pPr>
            <a:r>
              <a:rPr lang="en-US" sz="1100" i="1" dirty="0">
                <a:solidFill>
                  <a:srgbClr val="CC785C"/>
                </a:solidFill>
                <a:latin typeface="Calibri" pitchFamily="34" charset="0"/>
                <a:ea typeface="Calibri" pitchFamily="34" charset="-122"/>
                <a:cs typeface="Calibri" pitchFamily="34" charset="-120"/>
              </a:rPr>
              <a:t>Weeks 1–4</a:t>
            </a:r>
            <a:endParaRPr lang="en-US" sz="1100" dirty="0"/>
          </a:p>
        </p:txBody>
      </p:sp>
      <p:sp>
        <p:nvSpPr>
          <p:cNvPr id="12" name="Text 10"/>
          <p:cNvSpPr/>
          <p:nvPr/>
        </p:nvSpPr>
        <p:spPr>
          <a:xfrm>
            <a:off x="685800" y="3291840"/>
            <a:ext cx="3383280" cy="228600"/>
          </a:xfrm>
          <a:prstGeom prst="rect">
            <a:avLst/>
          </a:prstGeom>
          <a:noFill/>
          <a:ln/>
        </p:spPr>
        <p:txBody>
          <a:bodyPr wrap="square" rtlCol="0" anchor="ctr"/>
          <a:lstStyle/>
          <a:p>
            <a:pPr indent="0" marL="0">
              <a:buNone/>
            </a:pPr>
            <a:r>
              <a:rPr lang="en-US" sz="900" b="1" spc="200" kern="0" dirty="0">
                <a:solidFill>
                  <a:srgbClr val="CC785C"/>
                </a:solidFill>
                <a:latin typeface="Calibri" pitchFamily="34" charset="0"/>
                <a:ea typeface="Calibri" pitchFamily="34" charset="-122"/>
                <a:cs typeface="Calibri" pitchFamily="34" charset="-120"/>
              </a:rPr>
              <a:t>COHORT</a:t>
            </a:r>
            <a:endParaRPr lang="en-US" sz="900" dirty="0"/>
          </a:p>
        </p:txBody>
      </p:sp>
      <p:sp>
        <p:nvSpPr>
          <p:cNvPr id="13" name="Text 11"/>
          <p:cNvSpPr/>
          <p:nvPr/>
        </p:nvSpPr>
        <p:spPr>
          <a:xfrm>
            <a:off x="685800" y="3520440"/>
            <a:ext cx="3383280" cy="502920"/>
          </a:xfrm>
          <a:prstGeom prst="rect">
            <a:avLst/>
          </a:prstGeom>
          <a:noFill/>
          <a:ln/>
        </p:spPr>
        <p:txBody>
          <a:bodyPr wrap="square" rtlCol="0" anchor="ctr"/>
          <a:lstStyle/>
          <a:p>
            <a:pPr indent="0" marL="0">
              <a:lnSpc>
                <a:spcPct val="120000"/>
              </a:lnSpc>
              <a:buNone/>
            </a:pPr>
            <a:r>
              <a:rPr lang="en-US" sz="1100" dirty="0">
                <a:solidFill>
                  <a:srgbClr val="1F1F1E"/>
                </a:solidFill>
                <a:latin typeface="Calibri" pitchFamily="34" charset="0"/>
                <a:ea typeface="Calibri" pitchFamily="34" charset="-122"/>
                <a:cs typeface="Calibri" pitchFamily="34" charset="-120"/>
              </a:rPr>
              <a:t>One team, 8–12 engineers</a:t>
            </a:r>
            <a:endParaRPr lang="en-US" sz="1100" dirty="0"/>
          </a:p>
        </p:txBody>
      </p:sp>
      <p:sp>
        <p:nvSpPr>
          <p:cNvPr id="14" name="Text 12"/>
          <p:cNvSpPr/>
          <p:nvPr/>
        </p:nvSpPr>
        <p:spPr>
          <a:xfrm>
            <a:off x="685800" y="4041648"/>
            <a:ext cx="3383280" cy="228600"/>
          </a:xfrm>
          <a:prstGeom prst="rect">
            <a:avLst/>
          </a:prstGeom>
          <a:noFill/>
          <a:ln/>
        </p:spPr>
        <p:txBody>
          <a:bodyPr wrap="square" rtlCol="0" anchor="ctr"/>
          <a:lstStyle/>
          <a:p>
            <a:pPr indent="0" marL="0">
              <a:buNone/>
            </a:pPr>
            <a:r>
              <a:rPr lang="en-US" sz="900" b="1" spc="200" kern="0" dirty="0">
                <a:solidFill>
                  <a:srgbClr val="CC785C"/>
                </a:solidFill>
                <a:latin typeface="Calibri" pitchFamily="34" charset="0"/>
                <a:ea typeface="Calibri" pitchFamily="34" charset="-122"/>
                <a:cs typeface="Calibri" pitchFamily="34" charset="-120"/>
              </a:rPr>
              <a:t>SCOPE</a:t>
            </a:r>
            <a:endParaRPr lang="en-US" sz="900" dirty="0"/>
          </a:p>
        </p:txBody>
      </p:sp>
      <p:sp>
        <p:nvSpPr>
          <p:cNvPr id="15" name="Text 13"/>
          <p:cNvSpPr/>
          <p:nvPr/>
        </p:nvSpPr>
        <p:spPr>
          <a:xfrm>
            <a:off x="685800" y="4270248"/>
            <a:ext cx="3383280" cy="502920"/>
          </a:xfrm>
          <a:prstGeom prst="rect">
            <a:avLst/>
          </a:prstGeom>
          <a:noFill/>
          <a:ln/>
        </p:spPr>
        <p:txBody>
          <a:bodyPr wrap="square" rtlCol="0" anchor="ctr"/>
          <a:lstStyle/>
          <a:p>
            <a:pPr indent="0" marL="0">
              <a:lnSpc>
                <a:spcPct val="120000"/>
              </a:lnSpc>
              <a:buNone/>
            </a:pPr>
            <a:r>
              <a:rPr lang="en-US" sz="1100" dirty="0">
                <a:solidFill>
                  <a:srgbClr val="1F1F1E"/>
                </a:solidFill>
                <a:latin typeface="Calibri" pitchFamily="34" charset="0"/>
                <a:ea typeface="Calibri" pitchFamily="34" charset="-122"/>
                <a:cs typeface="Calibri" pitchFamily="34" charset="-120"/>
              </a:rPr>
              <a:t>One repo · read-only + ask-before-write</a:t>
            </a:r>
            <a:endParaRPr lang="en-US" sz="1100" dirty="0"/>
          </a:p>
        </p:txBody>
      </p:sp>
      <p:sp>
        <p:nvSpPr>
          <p:cNvPr id="16" name="Text 14"/>
          <p:cNvSpPr/>
          <p:nvPr/>
        </p:nvSpPr>
        <p:spPr>
          <a:xfrm>
            <a:off x="685800" y="4791456"/>
            <a:ext cx="3383280" cy="228600"/>
          </a:xfrm>
          <a:prstGeom prst="rect">
            <a:avLst/>
          </a:prstGeom>
          <a:noFill/>
          <a:ln/>
        </p:spPr>
        <p:txBody>
          <a:bodyPr wrap="square" rtlCol="0" anchor="ctr"/>
          <a:lstStyle/>
          <a:p>
            <a:pPr indent="0" marL="0">
              <a:buNone/>
            </a:pPr>
            <a:r>
              <a:rPr lang="en-US" sz="900" b="1" spc="200" kern="0" dirty="0">
                <a:solidFill>
                  <a:srgbClr val="CC785C"/>
                </a:solidFill>
                <a:latin typeface="Calibri" pitchFamily="34" charset="0"/>
                <a:ea typeface="Calibri" pitchFamily="34" charset="-122"/>
                <a:cs typeface="Calibri" pitchFamily="34" charset="-120"/>
              </a:rPr>
              <a:t>GATES</a:t>
            </a:r>
            <a:endParaRPr lang="en-US" sz="900" dirty="0"/>
          </a:p>
        </p:txBody>
      </p:sp>
      <p:sp>
        <p:nvSpPr>
          <p:cNvPr id="17" name="Text 15"/>
          <p:cNvSpPr/>
          <p:nvPr/>
        </p:nvSpPr>
        <p:spPr>
          <a:xfrm>
            <a:off x="685800" y="5020056"/>
            <a:ext cx="3383280" cy="502920"/>
          </a:xfrm>
          <a:prstGeom prst="rect">
            <a:avLst/>
          </a:prstGeom>
          <a:noFill/>
          <a:ln/>
        </p:spPr>
        <p:txBody>
          <a:bodyPr wrap="square" rtlCol="0" anchor="ctr"/>
          <a:lstStyle/>
          <a:p>
            <a:pPr indent="0" marL="0">
              <a:lnSpc>
                <a:spcPct val="120000"/>
              </a:lnSpc>
              <a:buNone/>
            </a:pPr>
            <a:r>
              <a:rPr lang="en-US" sz="1100" dirty="0">
                <a:solidFill>
                  <a:srgbClr val="1F1F1E"/>
                </a:solidFill>
                <a:latin typeface="Calibri" pitchFamily="34" charset="0"/>
                <a:ea typeface="Calibri" pitchFamily="34" charset="-122"/>
                <a:cs typeface="Calibri" pitchFamily="34" charset="-120"/>
              </a:rPr>
              <a:t>PR velocity, escape defects, engineer NPS</a:t>
            </a:r>
            <a:endParaRPr lang="en-US" sz="1100" dirty="0"/>
          </a:p>
        </p:txBody>
      </p:sp>
      <p:sp>
        <p:nvSpPr>
          <p:cNvPr id="18" name="Text 16"/>
          <p:cNvSpPr/>
          <p:nvPr/>
        </p:nvSpPr>
        <p:spPr>
          <a:xfrm>
            <a:off x="685800" y="5541264"/>
            <a:ext cx="3383280" cy="228600"/>
          </a:xfrm>
          <a:prstGeom prst="rect">
            <a:avLst/>
          </a:prstGeom>
          <a:noFill/>
          <a:ln/>
        </p:spPr>
        <p:txBody>
          <a:bodyPr wrap="square" rtlCol="0" anchor="ctr"/>
          <a:lstStyle/>
          <a:p>
            <a:pPr indent="0" marL="0">
              <a:buNone/>
            </a:pPr>
            <a:r>
              <a:rPr lang="en-US" sz="900" b="1" spc="200" kern="0" dirty="0">
                <a:solidFill>
                  <a:srgbClr val="CC785C"/>
                </a:solidFill>
                <a:latin typeface="Calibri" pitchFamily="34" charset="0"/>
                <a:ea typeface="Calibri" pitchFamily="34" charset="-122"/>
                <a:cs typeface="Calibri" pitchFamily="34" charset="-120"/>
              </a:rPr>
              <a:t>EXIT CRITERIA</a:t>
            </a:r>
            <a:endParaRPr lang="en-US" sz="900" dirty="0"/>
          </a:p>
        </p:txBody>
      </p:sp>
      <p:sp>
        <p:nvSpPr>
          <p:cNvPr id="19" name="Text 17"/>
          <p:cNvSpPr/>
          <p:nvPr/>
        </p:nvSpPr>
        <p:spPr>
          <a:xfrm>
            <a:off x="685800" y="5769864"/>
            <a:ext cx="3383280" cy="502920"/>
          </a:xfrm>
          <a:prstGeom prst="rect">
            <a:avLst/>
          </a:prstGeom>
          <a:noFill/>
          <a:ln/>
        </p:spPr>
        <p:txBody>
          <a:bodyPr wrap="square" rtlCol="0" anchor="ctr"/>
          <a:lstStyle/>
          <a:p>
            <a:pPr indent="0" marL="0">
              <a:lnSpc>
                <a:spcPct val="120000"/>
              </a:lnSpc>
              <a:buNone/>
            </a:pPr>
            <a:r>
              <a:rPr lang="en-US" sz="1100" dirty="0">
                <a:solidFill>
                  <a:srgbClr val="1F1F1E"/>
                </a:solidFill>
                <a:latin typeface="Calibri" pitchFamily="34" charset="0"/>
                <a:ea typeface="Calibri" pitchFamily="34" charset="-122"/>
                <a:cs typeface="Calibri" pitchFamily="34" charset="-120"/>
              </a:rPr>
              <a:t>80% of pilots say 'I'd be sad to lose this'</a:t>
            </a:r>
            <a:endParaRPr lang="en-US" sz="1100" dirty="0"/>
          </a:p>
        </p:txBody>
      </p:sp>
      <p:sp>
        <p:nvSpPr>
          <p:cNvPr id="20" name="Shape 18"/>
          <p:cNvSpPr/>
          <p:nvPr/>
        </p:nvSpPr>
        <p:spPr>
          <a:xfrm>
            <a:off x="4343400" y="1783080"/>
            <a:ext cx="3703320" cy="4572000"/>
          </a:xfrm>
          <a:prstGeom prst="rect">
            <a:avLst/>
          </a:prstGeom>
          <a:solidFill>
            <a:srgbClr val="FFFFFF"/>
          </a:solidFill>
          <a:ln w="9525">
            <a:solidFill>
              <a:srgbClr val="D6D1C4"/>
            </a:solidFill>
            <a:prstDash val="solid"/>
          </a:ln>
        </p:spPr>
      </p:sp>
      <p:sp>
        <p:nvSpPr>
          <p:cNvPr id="21" name="Shape 19"/>
          <p:cNvSpPr/>
          <p:nvPr/>
        </p:nvSpPr>
        <p:spPr>
          <a:xfrm>
            <a:off x="4343400" y="1783080"/>
            <a:ext cx="3703320" cy="457200"/>
          </a:xfrm>
          <a:prstGeom prst="rect">
            <a:avLst/>
          </a:prstGeom>
          <a:solidFill>
            <a:srgbClr val="CC785C"/>
          </a:solidFill>
          <a:ln w="12700">
            <a:solidFill>
              <a:srgbClr val="CC785C"/>
            </a:solidFill>
            <a:prstDash val="solid"/>
          </a:ln>
        </p:spPr>
      </p:sp>
      <p:sp>
        <p:nvSpPr>
          <p:cNvPr id="22" name="Text 20"/>
          <p:cNvSpPr/>
          <p:nvPr/>
        </p:nvSpPr>
        <p:spPr>
          <a:xfrm>
            <a:off x="4526280" y="1847088"/>
            <a:ext cx="2743200" cy="274320"/>
          </a:xfrm>
          <a:prstGeom prst="rect">
            <a:avLst/>
          </a:prstGeom>
          <a:noFill/>
          <a:ln/>
        </p:spPr>
        <p:txBody>
          <a:bodyPr wrap="square" rtlCol="0" anchor="ctr"/>
          <a:lstStyle/>
          <a:p>
            <a:pPr indent="0" marL="0">
              <a:buNone/>
            </a:pPr>
            <a:r>
              <a:rPr lang="en-US" sz="1000" b="1" spc="200" kern="0" dirty="0">
                <a:solidFill>
                  <a:srgbClr val="FFFFFF"/>
                </a:solidFill>
                <a:latin typeface="Calibri" pitchFamily="34" charset="0"/>
                <a:ea typeface="Calibri" pitchFamily="34" charset="-122"/>
                <a:cs typeface="Calibri" pitchFamily="34" charset="-120"/>
              </a:rPr>
              <a:t>PHASE 2</a:t>
            </a:r>
            <a:endParaRPr lang="en-US" sz="1000" dirty="0"/>
          </a:p>
        </p:txBody>
      </p:sp>
      <p:sp>
        <p:nvSpPr>
          <p:cNvPr id="23" name="Text 21"/>
          <p:cNvSpPr/>
          <p:nvPr/>
        </p:nvSpPr>
        <p:spPr>
          <a:xfrm>
            <a:off x="4526280" y="2377440"/>
            <a:ext cx="3474720" cy="457200"/>
          </a:xfrm>
          <a:prstGeom prst="rect">
            <a:avLst/>
          </a:prstGeom>
          <a:noFill/>
          <a:ln/>
        </p:spPr>
        <p:txBody>
          <a:bodyPr wrap="square" rtlCol="0" anchor="ctr"/>
          <a:lstStyle/>
          <a:p>
            <a:pPr indent="0" marL="0">
              <a:buNone/>
            </a:pPr>
            <a:r>
              <a:rPr lang="en-US" sz="2400" dirty="0">
                <a:solidFill>
                  <a:srgbClr val="1F1F1E"/>
                </a:solidFill>
                <a:latin typeface="Georgia" pitchFamily="34" charset="0"/>
                <a:ea typeface="Georgia" pitchFamily="34" charset="-122"/>
                <a:cs typeface="Georgia" pitchFamily="34" charset="-120"/>
              </a:rPr>
              <a:t>Expansion</a:t>
            </a:r>
            <a:endParaRPr lang="en-US" sz="2400" dirty="0"/>
          </a:p>
        </p:txBody>
      </p:sp>
      <p:sp>
        <p:nvSpPr>
          <p:cNvPr id="24" name="Text 22"/>
          <p:cNvSpPr/>
          <p:nvPr/>
        </p:nvSpPr>
        <p:spPr>
          <a:xfrm>
            <a:off x="4526280" y="2880360"/>
            <a:ext cx="3474720" cy="274320"/>
          </a:xfrm>
          <a:prstGeom prst="rect">
            <a:avLst/>
          </a:prstGeom>
          <a:noFill/>
          <a:ln/>
        </p:spPr>
        <p:txBody>
          <a:bodyPr wrap="square" rtlCol="0" anchor="ctr"/>
          <a:lstStyle/>
          <a:p>
            <a:pPr indent="0" marL="0">
              <a:buNone/>
            </a:pPr>
            <a:r>
              <a:rPr lang="en-US" sz="1100" i="1" dirty="0">
                <a:solidFill>
                  <a:srgbClr val="CC785C"/>
                </a:solidFill>
                <a:latin typeface="Calibri" pitchFamily="34" charset="0"/>
                <a:ea typeface="Calibri" pitchFamily="34" charset="-122"/>
                <a:cs typeface="Calibri" pitchFamily="34" charset="-120"/>
              </a:rPr>
              <a:t>Weeks 5–12</a:t>
            </a:r>
            <a:endParaRPr lang="en-US" sz="1100" dirty="0"/>
          </a:p>
        </p:txBody>
      </p:sp>
      <p:sp>
        <p:nvSpPr>
          <p:cNvPr id="25" name="Text 23"/>
          <p:cNvSpPr/>
          <p:nvPr/>
        </p:nvSpPr>
        <p:spPr>
          <a:xfrm>
            <a:off x="4526280" y="3291840"/>
            <a:ext cx="3383280" cy="228600"/>
          </a:xfrm>
          <a:prstGeom prst="rect">
            <a:avLst/>
          </a:prstGeom>
          <a:noFill/>
          <a:ln/>
        </p:spPr>
        <p:txBody>
          <a:bodyPr wrap="square" rtlCol="0" anchor="ctr"/>
          <a:lstStyle/>
          <a:p>
            <a:pPr indent="0" marL="0">
              <a:buNone/>
            </a:pPr>
            <a:r>
              <a:rPr lang="en-US" sz="900" b="1" spc="200" kern="0" dirty="0">
                <a:solidFill>
                  <a:srgbClr val="CC785C"/>
                </a:solidFill>
                <a:latin typeface="Calibri" pitchFamily="34" charset="0"/>
                <a:ea typeface="Calibri" pitchFamily="34" charset="-122"/>
                <a:cs typeface="Calibri" pitchFamily="34" charset="-120"/>
              </a:rPr>
              <a:t>COHORT</a:t>
            </a:r>
            <a:endParaRPr lang="en-US" sz="900" dirty="0"/>
          </a:p>
        </p:txBody>
      </p:sp>
      <p:sp>
        <p:nvSpPr>
          <p:cNvPr id="26" name="Text 24"/>
          <p:cNvSpPr/>
          <p:nvPr/>
        </p:nvSpPr>
        <p:spPr>
          <a:xfrm>
            <a:off x="4526280" y="3520440"/>
            <a:ext cx="3383280" cy="502920"/>
          </a:xfrm>
          <a:prstGeom prst="rect">
            <a:avLst/>
          </a:prstGeom>
          <a:noFill/>
          <a:ln/>
        </p:spPr>
        <p:txBody>
          <a:bodyPr wrap="square" rtlCol="0" anchor="ctr"/>
          <a:lstStyle/>
          <a:p>
            <a:pPr indent="0" marL="0">
              <a:lnSpc>
                <a:spcPct val="120000"/>
              </a:lnSpc>
              <a:buNone/>
            </a:pPr>
            <a:r>
              <a:rPr lang="en-US" sz="1100" dirty="0">
                <a:solidFill>
                  <a:srgbClr val="1F1F1E"/>
                </a:solidFill>
                <a:latin typeface="Calibri" pitchFamily="34" charset="0"/>
                <a:ea typeface="Calibri" pitchFamily="34" charset="-122"/>
                <a:cs typeface="Calibri" pitchFamily="34" charset="-120"/>
              </a:rPr>
              <a:t>Three teams, 30–40 engineers</a:t>
            </a:r>
            <a:endParaRPr lang="en-US" sz="1100" dirty="0"/>
          </a:p>
        </p:txBody>
      </p:sp>
      <p:sp>
        <p:nvSpPr>
          <p:cNvPr id="27" name="Text 25"/>
          <p:cNvSpPr/>
          <p:nvPr/>
        </p:nvSpPr>
        <p:spPr>
          <a:xfrm>
            <a:off x="4526280" y="4041648"/>
            <a:ext cx="3383280" cy="228600"/>
          </a:xfrm>
          <a:prstGeom prst="rect">
            <a:avLst/>
          </a:prstGeom>
          <a:noFill/>
          <a:ln/>
        </p:spPr>
        <p:txBody>
          <a:bodyPr wrap="square" rtlCol="0" anchor="ctr"/>
          <a:lstStyle/>
          <a:p>
            <a:pPr indent="0" marL="0">
              <a:buNone/>
            </a:pPr>
            <a:r>
              <a:rPr lang="en-US" sz="900" b="1" spc="200" kern="0" dirty="0">
                <a:solidFill>
                  <a:srgbClr val="CC785C"/>
                </a:solidFill>
                <a:latin typeface="Calibri" pitchFamily="34" charset="0"/>
                <a:ea typeface="Calibri" pitchFamily="34" charset="-122"/>
                <a:cs typeface="Calibri" pitchFamily="34" charset="-120"/>
              </a:rPr>
              <a:t>SCOPE</a:t>
            </a:r>
            <a:endParaRPr lang="en-US" sz="900" dirty="0"/>
          </a:p>
        </p:txBody>
      </p:sp>
      <p:sp>
        <p:nvSpPr>
          <p:cNvPr id="28" name="Text 26"/>
          <p:cNvSpPr/>
          <p:nvPr/>
        </p:nvSpPr>
        <p:spPr>
          <a:xfrm>
            <a:off x="4526280" y="4270248"/>
            <a:ext cx="3383280" cy="502920"/>
          </a:xfrm>
          <a:prstGeom prst="rect">
            <a:avLst/>
          </a:prstGeom>
          <a:noFill/>
          <a:ln/>
        </p:spPr>
        <p:txBody>
          <a:bodyPr wrap="square" rtlCol="0" anchor="ctr"/>
          <a:lstStyle/>
          <a:p>
            <a:pPr indent="0" marL="0">
              <a:lnSpc>
                <a:spcPct val="120000"/>
              </a:lnSpc>
              <a:buNone/>
            </a:pPr>
            <a:r>
              <a:rPr lang="en-US" sz="1100" dirty="0">
                <a:solidFill>
                  <a:srgbClr val="1F1F1E"/>
                </a:solidFill>
                <a:latin typeface="Calibri" pitchFamily="34" charset="0"/>
                <a:ea typeface="Calibri" pitchFamily="34" charset="-122"/>
                <a:cs typeface="Calibri" pitchFamily="34" charset="-120"/>
              </a:rPr>
              <a:t>Five repos · auto-edit on non-prod code</a:t>
            </a:r>
            <a:endParaRPr lang="en-US" sz="1100" dirty="0"/>
          </a:p>
        </p:txBody>
      </p:sp>
      <p:sp>
        <p:nvSpPr>
          <p:cNvPr id="29" name="Text 27"/>
          <p:cNvSpPr/>
          <p:nvPr/>
        </p:nvSpPr>
        <p:spPr>
          <a:xfrm>
            <a:off x="4526280" y="4791456"/>
            <a:ext cx="3383280" cy="228600"/>
          </a:xfrm>
          <a:prstGeom prst="rect">
            <a:avLst/>
          </a:prstGeom>
          <a:noFill/>
          <a:ln/>
        </p:spPr>
        <p:txBody>
          <a:bodyPr wrap="square" rtlCol="0" anchor="ctr"/>
          <a:lstStyle/>
          <a:p>
            <a:pPr indent="0" marL="0">
              <a:buNone/>
            </a:pPr>
            <a:r>
              <a:rPr lang="en-US" sz="900" b="1" spc="200" kern="0" dirty="0">
                <a:solidFill>
                  <a:srgbClr val="CC785C"/>
                </a:solidFill>
                <a:latin typeface="Calibri" pitchFamily="34" charset="0"/>
                <a:ea typeface="Calibri" pitchFamily="34" charset="-122"/>
                <a:cs typeface="Calibri" pitchFamily="34" charset="-120"/>
              </a:rPr>
              <a:t>GATES</a:t>
            </a:r>
            <a:endParaRPr lang="en-US" sz="900" dirty="0"/>
          </a:p>
        </p:txBody>
      </p:sp>
      <p:sp>
        <p:nvSpPr>
          <p:cNvPr id="30" name="Text 28"/>
          <p:cNvSpPr/>
          <p:nvPr/>
        </p:nvSpPr>
        <p:spPr>
          <a:xfrm>
            <a:off x="4526280" y="5020056"/>
            <a:ext cx="3383280" cy="502920"/>
          </a:xfrm>
          <a:prstGeom prst="rect">
            <a:avLst/>
          </a:prstGeom>
          <a:noFill/>
          <a:ln/>
        </p:spPr>
        <p:txBody>
          <a:bodyPr wrap="square" rtlCol="0" anchor="ctr"/>
          <a:lstStyle/>
          <a:p>
            <a:pPr indent="0" marL="0">
              <a:lnSpc>
                <a:spcPct val="120000"/>
              </a:lnSpc>
              <a:buNone/>
            </a:pPr>
            <a:r>
              <a:rPr lang="en-US" sz="1100" dirty="0">
                <a:solidFill>
                  <a:srgbClr val="1F1F1E"/>
                </a:solidFill>
                <a:latin typeface="Calibri" pitchFamily="34" charset="0"/>
                <a:ea typeface="Calibri" pitchFamily="34" charset="-122"/>
                <a:cs typeface="Calibri" pitchFamily="34" charset="-120"/>
              </a:rPr>
              <a:t>Cycle time, security finding rate, CLAUDE.md drift</a:t>
            </a:r>
            <a:endParaRPr lang="en-US" sz="1100" dirty="0"/>
          </a:p>
        </p:txBody>
      </p:sp>
      <p:sp>
        <p:nvSpPr>
          <p:cNvPr id="31" name="Text 29"/>
          <p:cNvSpPr/>
          <p:nvPr/>
        </p:nvSpPr>
        <p:spPr>
          <a:xfrm>
            <a:off x="4526280" y="5541264"/>
            <a:ext cx="3383280" cy="228600"/>
          </a:xfrm>
          <a:prstGeom prst="rect">
            <a:avLst/>
          </a:prstGeom>
          <a:noFill/>
          <a:ln/>
        </p:spPr>
        <p:txBody>
          <a:bodyPr wrap="square" rtlCol="0" anchor="ctr"/>
          <a:lstStyle/>
          <a:p>
            <a:pPr indent="0" marL="0">
              <a:buNone/>
            </a:pPr>
            <a:r>
              <a:rPr lang="en-US" sz="900" b="1" spc="200" kern="0" dirty="0">
                <a:solidFill>
                  <a:srgbClr val="CC785C"/>
                </a:solidFill>
                <a:latin typeface="Calibri" pitchFamily="34" charset="0"/>
                <a:ea typeface="Calibri" pitchFamily="34" charset="-122"/>
                <a:cs typeface="Calibri" pitchFamily="34" charset="-120"/>
              </a:rPr>
              <a:t>EXIT CRITERIA</a:t>
            </a:r>
            <a:endParaRPr lang="en-US" sz="900" dirty="0"/>
          </a:p>
        </p:txBody>
      </p:sp>
      <p:sp>
        <p:nvSpPr>
          <p:cNvPr id="32" name="Text 30"/>
          <p:cNvSpPr/>
          <p:nvPr/>
        </p:nvSpPr>
        <p:spPr>
          <a:xfrm>
            <a:off x="4526280" y="5769864"/>
            <a:ext cx="3383280" cy="502920"/>
          </a:xfrm>
          <a:prstGeom prst="rect">
            <a:avLst/>
          </a:prstGeom>
          <a:noFill/>
          <a:ln/>
        </p:spPr>
        <p:txBody>
          <a:bodyPr wrap="square" rtlCol="0" anchor="ctr"/>
          <a:lstStyle/>
          <a:p>
            <a:pPr indent="0" marL="0">
              <a:lnSpc>
                <a:spcPct val="120000"/>
              </a:lnSpc>
              <a:buNone/>
            </a:pPr>
            <a:r>
              <a:rPr lang="en-US" sz="1100" dirty="0">
                <a:solidFill>
                  <a:srgbClr val="1F1F1E"/>
                </a:solidFill>
                <a:latin typeface="Calibri" pitchFamily="34" charset="0"/>
                <a:ea typeface="Calibri" pitchFamily="34" charset="-122"/>
                <a:cs typeface="Calibri" pitchFamily="34" charset="-120"/>
              </a:rPr>
              <a:t>No critical security findings; cycle time down ≥15%</a:t>
            </a:r>
            <a:endParaRPr lang="en-US" sz="1100" dirty="0"/>
          </a:p>
        </p:txBody>
      </p:sp>
      <p:sp>
        <p:nvSpPr>
          <p:cNvPr id="33" name="Shape 31"/>
          <p:cNvSpPr/>
          <p:nvPr/>
        </p:nvSpPr>
        <p:spPr>
          <a:xfrm>
            <a:off x="8183880" y="1783080"/>
            <a:ext cx="3703320" cy="4572000"/>
          </a:xfrm>
          <a:prstGeom prst="rect">
            <a:avLst/>
          </a:prstGeom>
          <a:solidFill>
            <a:srgbClr val="FFFFFF"/>
          </a:solidFill>
          <a:ln w="9525">
            <a:solidFill>
              <a:srgbClr val="D6D1C4"/>
            </a:solidFill>
            <a:prstDash val="solid"/>
          </a:ln>
        </p:spPr>
      </p:sp>
      <p:sp>
        <p:nvSpPr>
          <p:cNvPr id="34" name="Shape 32"/>
          <p:cNvSpPr/>
          <p:nvPr/>
        </p:nvSpPr>
        <p:spPr>
          <a:xfrm>
            <a:off x="8183880" y="1783080"/>
            <a:ext cx="3703320" cy="457200"/>
          </a:xfrm>
          <a:prstGeom prst="rect">
            <a:avLst/>
          </a:prstGeom>
          <a:solidFill>
            <a:srgbClr val="CC785C"/>
          </a:solidFill>
          <a:ln w="12700">
            <a:solidFill>
              <a:srgbClr val="CC785C"/>
            </a:solidFill>
            <a:prstDash val="solid"/>
          </a:ln>
        </p:spPr>
      </p:sp>
      <p:sp>
        <p:nvSpPr>
          <p:cNvPr id="35" name="Text 33"/>
          <p:cNvSpPr/>
          <p:nvPr/>
        </p:nvSpPr>
        <p:spPr>
          <a:xfrm>
            <a:off x="8366760" y="1847088"/>
            <a:ext cx="2743200" cy="274320"/>
          </a:xfrm>
          <a:prstGeom prst="rect">
            <a:avLst/>
          </a:prstGeom>
          <a:noFill/>
          <a:ln/>
        </p:spPr>
        <p:txBody>
          <a:bodyPr wrap="square" rtlCol="0" anchor="ctr"/>
          <a:lstStyle/>
          <a:p>
            <a:pPr indent="0" marL="0">
              <a:buNone/>
            </a:pPr>
            <a:r>
              <a:rPr lang="en-US" sz="1000" b="1" spc="200" kern="0" dirty="0">
                <a:solidFill>
                  <a:srgbClr val="FFFFFF"/>
                </a:solidFill>
                <a:latin typeface="Calibri" pitchFamily="34" charset="0"/>
                <a:ea typeface="Calibri" pitchFamily="34" charset="-122"/>
                <a:cs typeface="Calibri" pitchFamily="34" charset="-120"/>
              </a:rPr>
              <a:t>PHASE 3</a:t>
            </a:r>
            <a:endParaRPr lang="en-US" sz="1000" dirty="0"/>
          </a:p>
        </p:txBody>
      </p:sp>
      <p:sp>
        <p:nvSpPr>
          <p:cNvPr id="36" name="Text 34"/>
          <p:cNvSpPr/>
          <p:nvPr/>
        </p:nvSpPr>
        <p:spPr>
          <a:xfrm>
            <a:off x="8366760" y="2377440"/>
            <a:ext cx="3474720" cy="457200"/>
          </a:xfrm>
          <a:prstGeom prst="rect">
            <a:avLst/>
          </a:prstGeom>
          <a:noFill/>
          <a:ln/>
        </p:spPr>
        <p:txBody>
          <a:bodyPr wrap="square" rtlCol="0" anchor="ctr"/>
          <a:lstStyle/>
          <a:p>
            <a:pPr indent="0" marL="0">
              <a:buNone/>
            </a:pPr>
            <a:r>
              <a:rPr lang="en-US" sz="2400" dirty="0">
                <a:solidFill>
                  <a:srgbClr val="1F1F1E"/>
                </a:solidFill>
                <a:latin typeface="Georgia" pitchFamily="34" charset="0"/>
                <a:ea typeface="Georgia" pitchFamily="34" charset="-122"/>
                <a:cs typeface="Georgia" pitchFamily="34" charset="-120"/>
              </a:rPr>
              <a:t>Org-wide</a:t>
            </a:r>
            <a:endParaRPr lang="en-US" sz="2400" dirty="0"/>
          </a:p>
        </p:txBody>
      </p:sp>
      <p:sp>
        <p:nvSpPr>
          <p:cNvPr id="37" name="Text 35"/>
          <p:cNvSpPr/>
          <p:nvPr/>
        </p:nvSpPr>
        <p:spPr>
          <a:xfrm>
            <a:off x="8366760" y="2880360"/>
            <a:ext cx="3474720" cy="274320"/>
          </a:xfrm>
          <a:prstGeom prst="rect">
            <a:avLst/>
          </a:prstGeom>
          <a:noFill/>
          <a:ln/>
        </p:spPr>
        <p:txBody>
          <a:bodyPr wrap="square" rtlCol="0" anchor="ctr"/>
          <a:lstStyle/>
          <a:p>
            <a:pPr indent="0" marL="0">
              <a:buNone/>
            </a:pPr>
            <a:r>
              <a:rPr lang="en-US" sz="1100" i="1" dirty="0">
                <a:solidFill>
                  <a:srgbClr val="CC785C"/>
                </a:solidFill>
                <a:latin typeface="Calibri" pitchFamily="34" charset="0"/>
                <a:ea typeface="Calibri" pitchFamily="34" charset="-122"/>
                <a:cs typeface="Calibri" pitchFamily="34" charset="-120"/>
              </a:rPr>
              <a:t>Month 4+</a:t>
            </a:r>
            <a:endParaRPr lang="en-US" sz="1100" dirty="0"/>
          </a:p>
        </p:txBody>
      </p:sp>
      <p:sp>
        <p:nvSpPr>
          <p:cNvPr id="38" name="Text 36"/>
          <p:cNvSpPr/>
          <p:nvPr/>
        </p:nvSpPr>
        <p:spPr>
          <a:xfrm>
            <a:off x="8366760" y="3291840"/>
            <a:ext cx="3383280" cy="228600"/>
          </a:xfrm>
          <a:prstGeom prst="rect">
            <a:avLst/>
          </a:prstGeom>
          <a:noFill/>
          <a:ln/>
        </p:spPr>
        <p:txBody>
          <a:bodyPr wrap="square" rtlCol="0" anchor="ctr"/>
          <a:lstStyle/>
          <a:p>
            <a:pPr indent="0" marL="0">
              <a:buNone/>
            </a:pPr>
            <a:r>
              <a:rPr lang="en-US" sz="900" b="1" spc="200" kern="0" dirty="0">
                <a:solidFill>
                  <a:srgbClr val="CC785C"/>
                </a:solidFill>
                <a:latin typeface="Calibri" pitchFamily="34" charset="0"/>
                <a:ea typeface="Calibri" pitchFamily="34" charset="-122"/>
                <a:cs typeface="Calibri" pitchFamily="34" charset="-120"/>
              </a:rPr>
              <a:t>COHORT</a:t>
            </a:r>
            <a:endParaRPr lang="en-US" sz="900" dirty="0"/>
          </a:p>
        </p:txBody>
      </p:sp>
      <p:sp>
        <p:nvSpPr>
          <p:cNvPr id="39" name="Text 37"/>
          <p:cNvSpPr/>
          <p:nvPr/>
        </p:nvSpPr>
        <p:spPr>
          <a:xfrm>
            <a:off x="8366760" y="3520440"/>
            <a:ext cx="3383280" cy="502920"/>
          </a:xfrm>
          <a:prstGeom prst="rect">
            <a:avLst/>
          </a:prstGeom>
          <a:noFill/>
          <a:ln/>
        </p:spPr>
        <p:txBody>
          <a:bodyPr wrap="square" rtlCol="0" anchor="ctr"/>
          <a:lstStyle/>
          <a:p>
            <a:pPr indent="0" marL="0">
              <a:lnSpc>
                <a:spcPct val="120000"/>
              </a:lnSpc>
              <a:buNone/>
            </a:pPr>
            <a:r>
              <a:rPr lang="en-US" sz="1100" dirty="0">
                <a:solidFill>
                  <a:srgbClr val="1F1F1E"/>
                </a:solidFill>
                <a:latin typeface="Calibri" pitchFamily="34" charset="0"/>
                <a:ea typeface="Calibri" pitchFamily="34" charset="-122"/>
                <a:cs typeface="Calibri" pitchFamily="34" charset="-120"/>
              </a:rPr>
              <a:t>All engineering, opt-in</a:t>
            </a:r>
            <a:endParaRPr lang="en-US" sz="1100" dirty="0"/>
          </a:p>
        </p:txBody>
      </p:sp>
      <p:sp>
        <p:nvSpPr>
          <p:cNvPr id="40" name="Text 38"/>
          <p:cNvSpPr/>
          <p:nvPr/>
        </p:nvSpPr>
        <p:spPr>
          <a:xfrm>
            <a:off x="8366760" y="4041648"/>
            <a:ext cx="3383280" cy="228600"/>
          </a:xfrm>
          <a:prstGeom prst="rect">
            <a:avLst/>
          </a:prstGeom>
          <a:noFill/>
          <a:ln/>
        </p:spPr>
        <p:txBody>
          <a:bodyPr wrap="square" rtlCol="0" anchor="ctr"/>
          <a:lstStyle/>
          <a:p>
            <a:pPr indent="0" marL="0">
              <a:buNone/>
            </a:pPr>
            <a:r>
              <a:rPr lang="en-US" sz="900" b="1" spc="200" kern="0" dirty="0">
                <a:solidFill>
                  <a:srgbClr val="CC785C"/>
                </a:solidFill>
                <a:latin typeface="Calibri" pitchFamily="34" charset="0"/>
                <a:ea typeface="Calibri" pitchFamily="34" charset="-122"/>
                <a:cs typeface="Calibri" pitchFamily="34" charset="-120"/>
              </a:rPr>
              <a:t>SCOPE</a:t>
            </a:r>
            <a:endParaRPr lang="en-US" sz="900" dirty="0"/>
          </a:p>
        </p:txBody>
      </p:sp>
      <p:sp>
        <p:nvSpPr>
          <p:cNvPr id="41" name="Text 39"/>
          <p:cNvSpPr/>
          <p:nvPr/>
        </p:nvSpPr>
        <p:spPr>
          <a:xfrm>
            <a:off x="8366760" y="4270248"/>
            <a:ext cx="3383280" cy="502920"/>
          </a:xfrm>
          <a:prstGeom prst="rect">
            <a:avLst/>
          </a:prstGeom>
          <a:noFill/>
          <a:ln/>
        </p:spPr>
        <p:txBody>
          <a:bodyPr wrap="square" rtlCol="0" anchor="ctr"/>
          <a:lstStyle/>
          <a:p>
            <a:pPr indent="0" marL="0">
              <a:lnSpc>
                <a:spcPct val="120000"/>
              </a:lnSpc>
              <a:buNone/>
            </a:pPr>
            <a:r>
              <a:rPr lang="en-US" sz="1100" dirty="0">
                <a:solidFill>
                  <a:srgbClr val="1F1F1E"/>
                </a:solidFill>
                <a:latin typeface="Calibri" pitchFamily="34" charset="0"/>
                <a:ea typeface="Calibri" pitchFamily="34" charset="-122"/>
                <a:cs typeface="Calibri" pitchFamily="34" charset="-120"/>
              </a:rPr>
              <a:t>All repos, tiered by sensitivity</a:t>
            </a:r>
            <a:endParaRPr lang="en-US" sz="1100" dirty="0"/>
          </a:p>
        </p:txBody>
      </p:sp>
      <p:sp>
        <p:nvSpPr>
          <p:cNvPr id="42" name="Text 40"/>
          <p:cNvSpPr/>
          <p:nvPr/>
        </p:nvSpPr>
        <p:spPr>
          <a:xfrm>
            <a:off x="8366760" y="4791456"/>
            <a:ext cx="3383280" cy="228600"/>
          </a:xfrm>
          <a:prstGeom prst="rect">
            <a:avLst/>
          </a:prstGeom>
          <a:noFill/>
          <a:ln/>
        </p:spPr>
        <p:txBody>
          <a:bodyPr wrap="square" rtlCol="0" anchor="ctr"/>
          <a:lstStyle/>
          <a:p>
            <a:pPr indent="0" marL="0">
              <a:buNone/>
            </a:pPr>
            <a:r>
              <a:rPr lang="en-US" sz="900" b="1" spc="200" kern="0" dirty="0">
                <a:solidFill>
                  <a:srgbClr val="CC785C"/>
                </a:solidFill>
                <a:latin typeface="Calibri" pitchFamily="34" charset="0"/>
                <a:ea typeface="Calibri" pitchFamily="34" charset="-122"/>
                <a:cs typeface="Calibri" pitchFamily="34" charset="-120"/>
              </a:rPr>
              <a:t>GATES</a:t>
            </a:r>
            <a:endParaRPr lang="en-US" sz="900" dirty="0"/>
          </a:p>
        </p:txBody>
      </p:sp>
      <p:sp>
        <p:nvSpPr>
          <p:cNvPr id="43" name="Text 41"/>
          <p:cNvSpPr/>
          <p:nvPr/>
        </p:nvSpPr>
        <p:spPr>
          <a:xfrm>
            <a:off x="8366760" y="5020056"/>
            <a:ext cx="3383280" cy="502920"/>
          </a:xfrm>
          <a:prstGeom prst="rect">
            <a:avLst/>
          </a:prstGeom>
          <a:noFill/>
          <a:ln/>
        </p:spPr>
        <p:txBody>
          <a:bodyPr wrap="square" rtlCol="0" anchor="ctr"/>
          <a:lstStyle/>
          <a:p>
            <a:pPr indent="0" marL="0">
              <a:lnSpc>
                <a:spcPct val="120000"/>
              </a:lnSpc>
              <a:buNone/>
            </a:pPr>
            <a:r>
              <a:rPr lang="en-US" sz="1100" dirty="0">
                <a:solidFill>
                  <a:srgbClr val="1F1F1E"/>
                </a:solidFill>
                <a:latin typeface="Calibri" pitchFamily="34" charset="0"/>
                <a:ea typeface="Calibri" pitchFamily="34" charset="-122"/>
                <a:cs typeface="Calibri" pitchFamily="34" charset="-120"/>
              </a:rPr>
              <a:t>Adoption curve, cost per active engineer, audit log review cadence</a:t>
            </a:r>
            <a:endParaRPr lang="en-US" sz="1100" dirty="0"/>
          </a:p>
        </p:txBody>
      </p:sp>
      <p:sp>
        <p:nvSpPr>
          <p:cNvPr id="44" name="Text 42"/>
          <p:cNvSpPr/>
          <p:nvPr/>
        </p:nvSpPr>
        <p:spPr>
          <a:xfrm>
            <a:off x="8366760" y="5541264"/>
            <a:ext cx="3383280" cy="228600"/>
          </a:xfrm>
          <a:prstGeom prst="rect">
            <a:avLst/>
          </a:prstGeom>
          <a:noFill/>
          <a:ln/>
        </p:spPr>
        <p:txBody>
          <a:bodyPr wrap="square" rtlCol="0" anchor="ctr"/>
          <a:lstStyle/>
          <a:p>
            <a:pPr indent="0" marL="0">
              <a:buNone/>
            </a:pPr>
            <a:r>
              <a:rPr lang="en-US" sz="900" b="1" spc="200" kern="0" dirty="0">
                <a:solidFill>
                  <a:srgbClr val="CC785C"/>
                </a:solidFill>
                <a:latin typeface="Calibri" pitchFamily="34" charset="0"/>
                <a:ea typeface="Calibri" pitchFamily="34" charset="-122"/>
                <a:cs typeface="Calibri" pitchFamily="34" charset="-120"/>
              </a:rPr>
              <a:t>EXIT CRITERIA</a:t>
            </a:r>
            <a:endParaRPr lang="en-US" sz="900" dirty="0"/>
          </a:p>
        </p:txBody>
      </p:sp>
      <p:sp>
        <p:nvSpPr>
          <p:cNvPr id="45" name="Text 43"/>
          <p:cNvSpPr/>
          <p:nvPr/>
        </p:nvSpPr>
        <p:spPr>
          <a:xfrm>
            <a:off x="8366760" y="5769864"/>
            <a:ext cx="3383280" cy="502920"/>
          </a:xfrm>
          <a:prstGeom prst="rect">
            <a:avLst/>
          </a:prstGeom>
          <a:noFill/>
          <a:ln/>
        </p:spPr>
        <p:txBody>
          <a:bodyPr wrap="square" rtlCol="0" anchor="ctr"/>
          <a:lstStyle/>
          <a:p>
            <a:pPr indent="0" marL="0">
              <a:lnSpc>
                <a:spcPct val="120000"/>
              </a:lnSpc>
              <a:buNone/>
            </a:pPr>
            <a:r>
              <a:rPr lang="en-US" sz="1100" dirty="0">
                <a:solidFill>
                  <a:srgbClr val="1F1F1E"/>
                </a:solidFill>
                <a:latin typeface="Calibri" pitchFamily="34" charset="0"/>
                <a:ea typeface="Calibri" pitchFamily="34" charset="-122"/>
                <a:cs typeface="Calibri" pitchFamily="34" charset="-120"/>
              </a:rPr>
              <a:t>Steady-state operating model documented</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0EEE6"/>
        </a:solidFill>
      </p:bgPr>
    </p:bg>
    <p:spTree>
      <p:nvGrpSpPr>
        <p:cNvPr id="1" name=""/>
        <p:cNvGrpSpPr/>
        <p:nvPr/>
      </p:nvGrpSpPr>
      <p:grpSpPr>
        <a:xfrm>
          <a:off x="0" y="0"/>
          <a:ext cx="0" cy="0"/>
          <a:chOff x="0" y="0"/>
          <a:chExt cx="0" cy="0"/>
        </a:xfrm>
      </p:grpSpPr>
      <p:sp>
        <p:nvSpPr>
          <p:cNvPr id="2" name="Text 0"/>
          <p:cNvSpPr/>
          <p:nvPr/>
        </p:nvSpPr>
        <p:spPr>
          <a:xfrm>
            <a:off x="457200" y="6446520"/>
            <a:ext cx="6400800" cy="274320"/>
          </a:xfrm>
          <a:prstGeom prst="rect">
            <a:avLst/>
          </a:prstGeom>
          <a:noFill/>
          <a:ln/>
        </p:spPr>
        <p:txBody>
          <a:bodyPr wrap="square" rtlCol="0" anchor="ctr"/>
          <a:lstStyle/>
          <a:p>
            <a:pPr indent="0" marL="0">
              <a:buNone/>
            </a:pPr>
            <a:r>
              <a:rPr lang="en-US" sz="900" dirty="0">
                <a:solidFill>
                  <a:srgbClr val="6B6760"/>
                </a:solidFill>
                <a:latin typeface="Calibri" pitchFamily="34" charset="0"/>
                <a:ea typeface="Calibri" pitchFamily="34" charset="-122"/>
                <a:cs typeface="Calibri" pitchFamily="34" charset="-120"/>
              </a:rPr>
              <a:t>Claude Code  ·  Technical deep-dive</a:t>
            </a:r>
            <a:endParaRPr lang="en-US" sz="900" dirty="0"/>
          </a:p>
        </p:txBody>
      </p:sp>
      <p:sp>
        <p:nvSpPr>
          <p:cNvPr id="3" name="Text 1"/>
          <p:cNvSpPr/>
          <p:nvPr/>
        </p:nvSpPr>
        <p:spPr>
          <a:xfrm>
            <a:off x="10515600" y="6446520"/>
            <a:ext cx="1371600" cy="274320"/>
          </a:xfrm>
          <a:prstGeom prst="rect">
            <a:avLst/>
          </a:prstGeom>
          <a:noFill/>
          <a:ln/>
        </p:spPr>
        <p:txBody>
          <a:bodyPr wrap="square" rtlCol="0" anchor="ctr"/>
          <a:lstStyle/>
          <a:p>
            <a:pPr algn="r" indent="0" marL="0">
              <a:buNone/>
            </a:pPr>
            <a:r>
              <a:rPr lang="en-US" sz="900" i="1" dirty="0">
                <a:solidFill>
                  <a:srgbClr val="6B6760"/>
                </a:solidFill>
                <a:latin typeface="Calibri" pitchFamily="34" charset="0"/>
                <a:ea typeface="Calibri" pitchFamily="34" charset="-122"/>
                <a:cs typeface="Calibri" pitchFamily="34" charset="-120"/>
              </a:rPr>
              <a:t>Anthropic</a:t>
            </a:r>
            <a:endParaRPr lang="en-US" sz="900" dirty="0"/>
          </a:p>
        </p:txBody>
      </p:sp>
      <p:sp>
        <p:nvSpPr>
          <p:cNvPr id="4" name="Shape 2"/>
          <p:cNvSpPr/>
          <p:nvPr/>
        </p:nvSpPr>
        <p:spPr>
          <a:xfrm>
            <a:off x="457200" y="457200"/>
            <a:ext cx="164592" cy="164592"/>
          </a:xfrm>
          <a:prstGeom prst="rect">
            <a:avLst/>
          </a:prstGeom>
          <a:solidFill>
            <a:srgbClr val="CC785C"/>
          </a:solidFill>
          <a:ln w="12700">
            <a:solidFill>
              <a:srgbClr val="CC785C"/>
            </a:solidFill>
            <a:prstDash val="solid"/>
          </a:ln>
        </p:spPr>
      </p:sp>
      <p:sp>
        <p:nvSpPr>
          <p:cNvPr id="5" name="Text 3"/>
          <p:cNvSpPr/>
          <p:nvPr/>
        </p:nvSpPr>
        <p:spPr>
          <a:xfrm>
            <a:off x="777240" y="384048"/>
            <a:ext cx="7315200" cy="320040"/>
          </a:xfrm>
          <a:prstGeom prst="rect">
            <a:avLst/>
          </a:prstGeom>
          <a:noFill/>
          <a:ln/>
        </p:spPr>
        <p:txBody>
          <a:bodyPr wrap="square" rtlCol="0" anchor="ctr"/>
          <a:lstStyle/>
          <a:p>
            <a:pPr indent="0" marL="0">
              <a:buNone/>
            </a:pPr>
            <a:r>
              <a:rPr lang="en-US" sz="1100" b="1" spc="200" kern="0" dirty="0">
                <a:solidFill>
                  <a:srgbClr val="CC785C"/>
                </a:solidFill>
                <a:latin typeface="Calibri" pitchFamily="34" charset="0"/>
                <a:ea typeface="Calibri" pitchFamily="34" charset="-122"/>
                <a:cs typeface="Calibri" pitchFamily="34" charset="-120"/>
              </a:rPr>
              <a:t>MEASUREMENT</a:t>
            </a:r>
            <a:endParaRPr lang="en-US" sz="1100" dirty="0"/>
          </a:p>
        </p:txBody>
      </p:sp>
      <p:sp>
        <p:nvSpPr>
          <p:cNvPr id="6" name="Text 4"/>
          <p:cNvSpPr/>
          <p:nvPr/>
        </p:nvSpPr>
        <p:spPr>
          <a:xfrm>
            <a:off x="457200" y="777240"/>
            <a:ext cx="11247120" cy="822960"/>
          </a:xfrm>
          <a:prstGeom prst="rect">
            <a:avLst/>
          </a:prstGeom>
          <a:noFill/>
          <a:ln/>
        </p:spPr>
        <p:txBody>
          <a:bodyPr wrap="square" rtlCol="0" anchor="ctr"/>
          <a:lstStyle/>
          <a:p>
            <a:pPr indent="0" marL="0">
              <a:buNone/>
            </a:pPr>
            <a:r>
              <a:rPr lang="en-US" sz="3200" dirty="0">
                <a:solidFill>
                  <a:srgbClr val="1F1F1E"/>
                </a:solidFill>
                <a:latin typeface="Georgia" pitchFamily="34" charset="0"/>
                <a:ea typeface="Georgia" pitchFamily="34" charset="-122"/>
                <a:cs typeface="Georgia" pitchFamily="34" charset="-120"/>
              </a:rPr>
              <a:t>Three frameworks, two horizons, one honest dashboard.</a:t>
            </a:r>
            <a:endParaRPr lang="en-US" sz="3200" dirty="0"/>
          </a:p>
        </p:txBody>
      </p:sp>
      <p:sp>
        <p:nvSpPr>
          <p:cNvPr id="7" name="Text 5"/>
          <p:cNvSpPr/>
          <p:nvPr/>
        </p:nvSpPr>
        <p:spPr>
          <a:xfrm>
            <a:off x="502920" y="1691640"/>
            <a:ext cx="9144000" cy="274320"/>
          </a:xfrm>
          <a:prstGeom prst="rect">
            <a:avLst/>
          </a:prstGeom>
          <a:noFill/>
          <a:ln/>
        </p:spPr>
        <p:txBody>
          <a:bodyPr wrap="square" rtlCol="0" anchor="ctr"/>
          <a:lstStyle/>
          <a:p>
            <a:pPr indent="0" marL="0">
              <a:buNone/>
            </a:pPr>
            <a:r>
              <a:rPr lang="en-US" sz="1000" b="1" spc="200" kern="0" dirty="0">
                <a:solidFill>
                  <a:srgbClr val="CC785C"/>
                </a:solidFill>
                <a:latin typeface="Calibri" pitchFamily="34" charset="0"/>
                <a:ea typeface="Calibri" pitchFamily="34" charset="-122"/>
                <a:cs typeface="Calibri" pitchFamily="34" charset="-120"/>
              </a:rPr>
              <a:t>THE FRAMEWORKS DEV MANAGERS ACTUALLY USE</a:t>
            </a:r>
            <a:endParaRPr lang="en-US" sz="1000" dirty="0"/>
          </a:p>
        </p:txBody>
      </p:sp>
      <p:sp>
        <p:nvSpPr>
          <p:cNvPr id="8" name="Shape 6"/>
          <p:cNvSpPr/>
          <p:nvPr/>
        </p:nvSpPr>
        <p:spPr>
          <a:xfrm>
            <a:off x="502920" y="2011680"/>
            <a:ext cx="3703320" cy="868680"/>
          </a:xfrm>
          <a:prstGeom prst="rect">
            <a:avLst/>
          </a:prstGeom>
          <a:solidFill>
            <a:srgbClr val="E8E4D8"/>
          </a:solidFill>
          <a:ln w="6350">
            <a:solidFill>
              <a:srgbClr val="D6D1C4"/>
            </a:solidFill>
            <a:prstDash val="solid"/>
          </a:ln>
        </p:spPr>
      </p:sp>
      <p:sp>
        <p:nvSpPr>
          <p:cNvPr id="9" name="Text 7"/>
          <p:cNvSpPr/>
          <p:nvPr/>
        </p:nvSpPr>
        <p:spPr>
          <a:xfrm>
            <a:off x="685800" y="2084832"/>
            <a:ext cx="3383280" cy="274320"/>
          </a:xfrm>
          <a:prstGeom prst="rect">
            <a:avLst/>
          </a:prstGeom>
          <a:noFill/>
          <a:ln/>
        </p:spPr>
        <p:txBody>
          <a:bodyPr wrap="square" rtlCol="0" anchor="ctr"/>
          <a:lstStyle/>
          <a:p>
            <a:pPr indent="0" marL="0">
              <a:buNone/>
            </a:pPr>
            <a:r>
              <a:rPr lang="en-US" sz="1200" b="1" dirty="0">
                <a:solidFill>
                  <a:srgbClr val="1F1F1E"/>
                </a:solidFill>
                <a:latin typeface="Calibri" pitchFamily="34" charset="0"/>
                <a:ea typeface="Calibri" pitchFamily="34" charset="-122"/>
                <a:cs typeface="Calibri" pitchFamily="34" charset="-120"/>
              </a:rPr>
              <a:t>DORA</a:t>
            </a:r>
            <a:endParaRPr lang="en-US" sz="1200" dirty="0"/>
          </a:p>
        </p:txBody>
      </p:sp>
      <p:sp>
        <p:nvSpPr>
          <p:cNvPr id="10" name="Text 8"/>
          <p:cNvSpPr/>
          <p:nvPr/>
        </p:nvSpPr>
        <p:spPr>
          <a:xfrm>
            <a:off x="685800" y="2331720"/>
            <a:ext cx="3383280" cy="502920"/>
          </a:xfrm>
          <a:prstGeom prst="rect">
            <a:avLst/>
          </a:prstGeom>
          <a:noFill/>
          <a:ln/>
        </p:spPr>
        <p:txBody>
          <a:bodyPr wrap="square" rtlCol="0" anchor="ctr"/>
          <a:lstStyle/>
          <a:p>
            <a:pPr indent="0" marL="0">
              <a:lnSpc>
                <a:spcPct val="120000"/>
              </a:lnSpc>
              <a:buNone/>
            </a:pPr>
            <a:r>
              <a:rPr lang="en-US" sz="1000" dirty="0">
                <a:solidFill>
                  <a:srgbClr val="6B6760"/>
                </a:solidFill>
                <a:latin typeface="Calibri" pitchFamily="34" charset="0"/>
                <a:ea typeface="Calibri" pitchFamily="34" charset="-122"/>
                <a:cs typeface="Calibri" pitchFamily="34" charset="-120"/>
              </a:rPr>
              <a:t>Delivery performance. Deploy frequency, lead time, change failure rate, MTTR.</a:t>
            </a:r>
            <a:endParaRPr lang="en-US" sz="1000" dirty="0"/>
          </a:p>
        </p:txBody>
      </p:sp>
      <p:sp>
        <p:nvSpPr>
          <p:cNvPr id="11" name="Shape 9"/>
          <p:cNvSpPr/>
          <p:nvPr/>
        </p:nvSpPr>
        <p:spPr>
          <a:xfrm>
            <a:off x="4343400" y="2011680"/>
            <a:ext cx="3703320" cy="868680"/>
          </a:xfrm>
          <a:prstGeom prst="rect">
            <a:avLst/>
          </a:prstGeom>
          <a:solidFill>
            <a:srgbClr val="E8E4D8"/>
          </a:solidFill>
          <a:ln w="6350">
            <a:solidFill>
              <a:srgbClr val="D6D1C4"/>
            </a:solidFill>
            <a:prstDash val="solid"/>
          </a:ln>
        </p:spPr>
      </p:sp>
      <p:sp>
        <p:nvSpPr>
          <p:cNvPr id="12" name="Text 10"/>
          <p:cNvSpPr/>
          <p:nvPr/>
        </p:nvSpPr>
        <p:spPr>
          <a:xfrm>
            <a:off x="4526280" y="2084832"/>
            <a:ext cx="3383280" cy="274320"/>
          </a:xfrm>
          <a:prstGeom prst="rect">
            <a:avLst/>
          </a:prstGeom>
          <a:noFill/>
          <a:ln/>
        </p:spPr>
        <p:txBody>
          <a:bodyPr wrap="square" rtlCol="0" anchor="ctr"/>
          <a:lstStyle/>
          <a:p>
            <a:pPr indent="0" marL="0">
              <a:buNone/>
            </a:pPr>
            <a:r>
              <a:rPr lang="en-US" sz="1200" b="1" dirty="0">
                <a:solidFill>
                  <a:srgbClr val="1F1F1E"/>
                </a:solidFill>
                <a:latin typeface="Calibri" pitchFamily="34" charset="0"/>
                <a:ea typeface="Calibri" pitchFamily="34" charset="-122"/>
                <a:cs typeface="Calibri" pitchFamily="34" charset="-120"/>
              </a:rPr>
              <a:t>SPACE</a:t>
            </a:r>
            <a:endParaRPr lang="en-US" sz="1200" dirty="0"/>
          </a:p>
        </p:txBody>
      </p:sp>
      <p:sp>
        <p:nvSpPr>
          <p:cNvPr id="13" name="Text 11"/>
          <p:cNvSpPr/>
          <p:nvPr/>
        </p:nvSpPr>
        <p:spPr>
          <a:xfrm>
            <a:off x="4526280" y="2331720"/>
            <a:ext cx="3383280" cy="502920"/>
          </a:xfrm>
          <a:prstGeom prst="rect">
            <a:avLst/>
          </a:prstGeom>
          <a:noFill/>
          <a:ln/>
        </p:spPr>
        <p:txBody>
          <a:bodyPr wrap="square" rtlCol="0" anchor="ctr"/>
          <a:lstStyle/>
          <a:p>
            <a:pPr indent="0" marL="0">
              <a:lnSpc>
                <a:spcPct val="120000"/>
              </a:lnSpc>
              <a:buNone/>
            </a:pPr>
            <a:r>
              <a:rPr lang="en-US" sz="1000" dirty="0">
                <a:solidFill>
                  <a:srgbClr val="6B6760"/>
                </a:solidFill>
                <a:latin typeface="Calibri" pitchFamily="34" charset="0"/>
                <a:ea typeface="Calibri" pitchFamily="34" charset="-122"/>
                <a:cs typeface="Calibri" pitchFamily="34" charset="-120"/>
              </a:rPr>
              <a:t>Developer experience. Satisfaction, Performance, Activity, Communication, Efficiency.</a:t>
            </a:r>
            <a:endParaRPr lang="en-US" sz="1000" dirty="0"/>
          </a:p>
        </p:txBody>
      </p:sp>
      <p:sp>
        <p:nvSpPr>
          <p:cNvPr id="14" name="Shape 12"/>
          <p:cNvSpPr/>
          <p:nvPr/>
        </p:nvSpPr>
        <p:spPr>
          <a:xfrm>
            <a:off x="8183880" y="2011680"/>
            <a:ext cx="3703320" cy="868680"/>
          </a:xfrm>
          <a:prstGeom prst="rect">
            <a:avLst/>
          </a:prstGeom>
          <a:solidFill>
            <a:srgbClr val="E8E4D8"/>
          </a:solidFill>
          <a:ln w="6350">
            <a:solidFill>
              <a:srgbClr val="D6D1C4"/>
            </a:solidFill>
            <a:prstDash val="solid"/>
          </a:ln>
        </p:spPr>
      </p:sp>
      <p:sp>
        <p:nvSpPr>
          <p:cNvPr id="15" name="Text 13"/>
          <p:cNvSpPr/>
          <p:nvPr/>
        </p:nvSpPr>
        <p:spPr>
          <a:xfrm>
            <a:off x="8366760" y="2084832"/>
            <a:ext cx="3383280" cy="274320"/>
          </a:xfrm>
          <a:prstGeom prst="rect">
            <a:avLst/>
          </a:prstGeom>
          <a:noFill/>
          <a:ln/>
        </p:spPr>
        <p:txBody>
          <a:bodyPr wrap="square" rtlCol="0" anchor="ctr"/>
          <a:lstStyle/>
          <a:p>
            <a:pPr indent="0" marL="0">
              <a:buNone/>
            </a:pPr>
            <a:r>
              <a:rPr lang="en-US" sz="1200" b="1" dirty="0">
                <a:solidFill>
                  <a:srgbClr val="1F1F1E"/>
                </a:solidFill>
                <a:latin typeface="Calibri" pitchFamily="34" charset="0"/>
                <a:ea typeface="Calibri" pitchFamily="34" charset="-122"/>
                <a:cs typeface="Calibri" pitchFamily="34" charset="-120"/>
              </a:rPr>
              <a:t>DX CORE 4</a:t>
            </a:r>
            <a:endParaRPr lang="en-US" sz="1200" dirty="0"/>
          </a:p>
        </p:txBody>
      </p:sp>
      <p:sp>
        <p:nvSpPr>
          <p:cNvPr id="16" name="Text 14"/>
          <p:cNvSpPr/>
          <p:nvPr/>
        </p:nvSpPr>
        <p:spPr>
          <a:xfrm>
            <a:off x="8366760" y="2331720"/>
            <a:ext cx="3383280" cy="502920"/>
          </a:xfrm>
          <a:prstGeom prst="rect">
            <a:avLst/>
          </a:prstGeom>
          <a:noFill/>
          <a:ln/>
        </p:spPr>
        <p:txBody>
          <a:bodyPr wrap="square" rtlCol="0" anchor="ctr"/>
          <a:lstStyle/>
          <a:p>
            <a:pPr indent="0" marL="0">
              <a:lnSpc>
                <a:spcPct val="120000"/>
              </a:lnSpc>
              <a:buNone/>
            </a:pPr>
            <a:r>
              <a:rPr lang="en-US" sz="1000" dirty="0">
                <a:solidFill>
                  <a:srgbClr val="6B6760"/>
                </a:solidFill>
                <a:latin typeface="Calibri" pitchFamily="34" charset="0"/>
                <a:ea typeface="Calibri" pitchFamily="34" charset="-122"/>
                <a:cs typeface="Calibri" pitchFamily="34" charset="-120"/>
              </a:rPr>
              <a:t>Speed, effectiveness, quality, impact. Newer, built for the AI-assisted era.</a:t>
            </a:r>
            <a:endParaRPr lang="en-US" sz="1000" dirty="0"/>
          </a:p>
        </p:txBody>
      </p:sp>
      <p:sp>
        <p:nvSpPr>
          <p:cNvPr id="17" name="Text 15"/>
          <p:cNvSpPr/>
          <p:nvPr/>
        </p:nvSpPr>
        <p:spPr>
          <a:xfrm>
            <a:off x="502920" y="3108960"/>
            <a:ext cx="5486400" cy="274320"/>
          </a:xfrm>
          <a:prstGeom prst="rect">
            <a:avLst/>
          </a:prstGeom>
          <a:noFill/>
          <a:ln/>
        </p:spPr>
        <p:txBody>
          <a:bodyPr wrap="square" rtlCol="0" anchor="ctr"/>
          <a:lstStyle/>
          <a:p>
            <a:pPr indent="0" marL="0">
              <a:buNone/>
            </a:pPr>
            <a:r>
              <a:rPr lang="en-US" sz="1000" b="1" spc="200" kern="0" dirty="0">
                <a:solidFill>
                  <a:srgbClr val="CC785C"/>
                </a:solidFill>
                <a:latin typeface="Calibri" pitchFamily="34" charset="0"/>
                <a:ea typeface="Calibri" pitchFamily="34" charset="-122"/>
                <a:cs typeface="Calibri" pitchFamily="34" charset="-120"/>
              </a:rPr>
              <a:t>LEADING INDICATORS  ·  DAY ONE</a:t>
            </a:r>
            <a:endParaRPr lang="en-US" sz="1000" dirty="0"/>
          </a:p>
        </p:txBody>
      </p:sp>
      <p:sp>
        <p:nvSpPr>
          <p:cNvPr id="18" name="Text 16"/>
          <p:cNvSpPr/>
          <p:nvPr/>
        </p:nvSpPr>
        <p:spPr>
          <a:xfrm>
            <a:off x="502920" y="3429000"/>
            <a:ext cx="5303520" cy="228600"/>
          </a:xfrm>
          <a:prstGeom prst="rect">
            <a:avLst/>
          </a:prstGeom>
          <a:noFill/>
          <a:ln/>
        </p:spPr>
        <p:txBody>
          <a:bodyPr wrap="square" rtlCol="0" anchor="ctr"/>
          <a:lstStyle/>
          <a:p>
            <a:pPr indent="0" marL="0">
              <a:buNone/>
            </a:pPr>
            <a:r>
              <a:rPr lang="en-US" sz="1150" b="1" dirty="0">
                <a:solidFill>
                  <a:srgbClr val="1F1F1E"/>
                </a:solidFill>
                <a:latin typeface="Calibri" pitchFamily="34" charset="0"/>
                <a:ea typeface="Calibri" pitchFamily="34" charset="-122"/>
                <a:cs typeface="Calibri" pitchFamily="34" charset="-120"/>
              </a:rPr>
              <a:t>Adoption return rate</a:t>
            </a:r>
            <a:endParaRPr lang="en-US" sz="1150" dirty="0"/>
          </a:p>
        </p:txBody>
      </p:sp>
      <p:sp>
        <p:nvSpPr>
          <p:cNvPr id="19" name="Text 17"/>
          <p:cNvSpPr/>
          <p:nvPr/>
        </p:nvSpPr>
        <p:spPr>
          <a:xfrm>
            <a:off x="502920" y="3639312"/>
            <a:ext cx="5303520" cy="365760"/>
          </a:xfrm>
          <a:prstGeom prst="rect">
            <a:avLst/>
          </a:prstGeom>
          <a:noFill/>
          <a:ln/>
        </p:spPr>
        <p:txBody>
          <a:bodyPr wrap="square" rtlCol="0" anchor="ctr"/>
          <a:lstStyle/>
          <a:p>
            <a:pPr indent="0" marL="0">
              <a:lnSpc>
                <a:spcPct val="115000"/>
              </a:lnSpc>
              <a:buNone/>
            </a:pPr>
            <a:r>
              <a:rPr lang="en-US" sz="1000" dirty="0">
                <a:solidFill>
                  <a:srgbClr val="6B6760"/>
                </a:solidFill>
                <a:latin typeface="Calibri" pitchFamily="34" charset="0"/>
                <a:ea typeface="Calibri" pitchFamily="34" charset="-122"/>
                <a:cs typeface="Calibri" pitchFamily="34" charset="-120"/>
              </a:rPr>
              <a:t>Do developers come back in week 2? Best early signal of real value.</a:t>
            </a:r>
            <a:endParaRPr lang="en-US" sz="1000" dirty="0"/>
          </a:p>
        </p:txBody>
      </p:sp>
      <p:sp>
        <p:nvSpPr>
          <p:cNvPr id="20" name="Text 18"/>
          <p:cNvSpPr/>
          <p:nvPr/>
        </p:nvSpPr>
        <p:spPr>
          <a:xfrm>
            <a:off x="502920" y="4032504"/>
            <a:ext cx="5303520" cy="228600"/>
          </a:xfrm>
          <a:prstGeom prst="rect">
            <a:avLst/>
          </a:prstGeom>
          <a:noFill/>
          <a:ln/>
        </p:spPr>
        <p:txBody>
          <a:bodyPr wrap="square" rtlCol="0" anchor="ctr"/>
          <a:lstStyle/>
          <a:p>
            <a:pPr indent="0" marL="0">
              <a:buNone/>
            </a:pPr>
            <a:r>
              <a:rPr lang="en-US" sz="1150" b="1" dirty="0">
                <a:solidFill>
                  <a:srgbClr val="1F1F1E"/>
                </a:solidFill>
                <a:latin typeface="Calibri" pitchFamily="34" charset="0"/>
                <a:ea typeface="Calibri" pitchFamily="34" charset="-122"/>
                <a:cs typeface="Calibri" pitchFamily="34" charset="-120"/>
              </a:rPr>
              <a:t>Time to first useful response</a:t>
            </a:r>
            <a:endParaRPr lang="en-US" sz="1150" dirty="0"/>
          </a:p>
        </p:txBody>
      </p:sp>
      <p:sp>
        <p:nvSpPr>
          <p:cNvPr id="21" name="Text 19"/>
          <p:cNvSpPr/>
          <p:nvPr/>
        </p:nvSpPr>
        <p:spPr>
          <a:xfrm>
            <a:off x="502920" y="4242816"/>
            <a:ext cx="5303520" cy="365760"/>
          </a:xfrm>
          <a:prstGeom prst="rect">
            <a:avLst/>
          </a:prstGeom>
          <a:noFill/>
          <a:ln/>
        </p:spPr>
        <p:txBody>
          <a:bodyPr wrap="square" rtlCol="0" anchor="ctr"/>
          <a:lstStyle/>
          <a:p>
            <a:pPr indent="0" marL="0">
              <a:lnSpc>
                <a:spcPct val="115000"/>
              </a:lnSpc>
              <a:buNone/>
            </a:pPr>
            <a:r>
              <a:rPr lang="en-US" sz="1000" dirty="0">
                <a:solidFill>
                  <a:srgbClr val="6B6760"/>
                </a:solidFill>
                <a:latin typeface="Calibri" pitchFamily="34" charset="0"/>
                <a:ea typeface="Calibri" pitchFamily="34" charset="-122"/>
                <a:cs typeface="Calibri" pitchFamily="34" charset="-120"/>
              </a:rPr>
              <a:t>Claude Code open to first accepted suggestion.</a:t>
            </a:r>
            <a:endParaRPr lang="en-US" sz="1000" dirty="0"/>
          </a:p>
        </p:txBody>
      </p:sp>
      <p:sp>
        <p:nvSpPr>
          <p:cNvPr id="22" name="Text 20"/>
          <p:cNvSpPr/>
          <p:nvPr/>
        </p:nvSpPr>
        <p:spPr>
          <a:xfrm>
            <a:off x="502920" y="4636008"/>
            <a:ext cx="5303520" cy="228600"/>
          </a:xfrm>
          <a:prstGeom prst="rect">
            <a:avLst/>
          </a:prstGeom>
          <a:noFill/>
          <a:ln/>
        </p:spPr>
        <p:txBody>
          <a:bodyPr wrap="square" rtlCol="0" anchor="ctr"/>
          <a:lstStyle/>
          <a:p>
            <a:pPr indent="0" marL="0">
              <a:buNone/>
            </a:pPr>
            <a:r>
              <a:rPr lang="en-US" sz="1150" b="1" dirty="0">
                <a:solidFill>
                  <a:srgbClr val="1F1F1E"/>
                </a:solidFill>
                <a:latin typeface="Calibri" pitchFamily="34" charset="0"/>
                <a:ea typeface="Calibri" pitchFamily="34" charset="-122"/>
                <a:cs typeface="Calibri" pitchFamily="34" charset="-120"/>
              </a:rPr>
              <a:t>Time to resolution</a:t>
            </a:r>
            <a:endParaRPr lang="en-US" sz="1150" dirty="0"/>
          </a:p>
        </p:txBody>
      </p:sp>
      <p:sp>
        <p:nvSpPr>
          <p:cNvPr id="23" name="Text 21"/>
          <p:cNvSpPr/>
          <p:nvPr/>
        </p:nvSpPr>
        <p:spPr>
          <a:xfrm>
            <a:off x="502920" y="4846320"/>
            <a:ext cx="5303520" cy="365760"/>
          </a:xfrm>
          <a:prstGeom prst="rect">
            <a:avLst/>
          </a:prstGeom>
          <a:noFill/>
          <a:ln/>
        </p:spPr>
        <p:txBody>
          <a:bodyPr wrap="square" rtlCol="0" anchor="ctr"/>
          <a:lstStyle/>
          <a:p>
            <a:pPr indent="0" marL="0">
              <a:lnSpc>
                <a:spcPct val="115000"/>
              </a:lnSpc>
              <a:buNone/>
            </a:pPr>
            <a:r>
              <a:rPr lang="en-US" sz="1000" dirty="0">
                <a:solidFill>
                  <a:srgbClr val="6B6760"/>
                </a:solidFill>
                <a:latin typeface="Calibri" pitchFamily="34" charset="0"/>
                <a:ea typeface="Calibri" pitchFamily="34" charset="-122"/>
                <a:cs typeface="Calibri" pitchFamily="34" charset="-120"/>
              </a:rPr>
              <a:t>First Claude touch to merged PR on a Claude-assisted ticket.</a:t>
            </a:r>
            <a:endParaRPr lang="en-US" sz="1000" dirty="0"/>
          </a:p>
        </p:txBody>
      </p:sp>
      <p:sp>
        <p:nvSpPr>
          <p:cNvPr id="24" name="Text 22"/>
          <p:cNvSpPr/>
          <p:nvPr/>
        </p:nvSpPr>
        <p:spPr>
          <a:xfrm>
            <a:off x="502920" y="5239512"/>
            <a:ext cx="5303520" cy="228600"/>
          </a:xfrm>
          <a:prstGeom prst="rect">
            <a:avLst/>
          </a:prstGeom>
          <a:noFill/>
          <a:ln/>
        </p:spPr>
        <p:txBody>
          <a:bodyPr wrap="square" rtlCol="0" anchor="ctr"/>
          <a:lstStyle/>
          <a:p>
            <a:pPr indent="0" marL="0">
              <a:buNone/>
            </a:pPr>
            <a:r>
              <a:rPr lang="en-US" sz="1150" b="1" dirty="0">
                <a:solidFill>
                  <a:srgbClr val="1F1F1E"/>
                </a:solidFill>
                <a:latin typeface="Calibri" pitchFamily="34" charset="0"/>
                <a:ea typeface="Calibri" pitchFamily="34" charset="-122"/>
                <a:cs typeface="Calibri" pitchFamily="34" charset="-120"/>
              </a:rPr>
              <a:t>Denial rate</a:t>
            </a:r>
            <a:endParaRPr lang="en-US" sz="1150" dirty="0"/>
          </a:p>
        </p:txBody>
      </p:sp>
      <p:sp>
        <p:nvSpPr>
          <p:cNvPr id="25" name="Text 23"/>
          <p:cNvSpPr/>
          <p:nvPr/>
        </p:nvSpPr>
        <p:spPr>
          <a:xfrm>
            <a:off x="502920" y="5449824"/>
            <a:ext cx="5303520" cy="365760"/>
          </a:xfrm>
          <a:prstGeom prst="rect">
            <a:avLst/>
          </a:prstGeom>
          <a:noFill/>
          <a:ln/>
        </p:spPr>
        <p:txBody>
          <a:bodyPr wrap="square" rtlCol="0" anchor="ctr"/>
          <a:lstStyle/>
          <a:p>
            <a:pPr indent="0" marL="0">
              <a:lnSpc>
                <a:spcPct val="115000"/>
              </a:lnSpc>
              <a:buNone/>
            </a:pPr>
            <a:r>
              <a:rPr lang="en-US" sz="1000" dirty="0">
                <a:solidFill>
                  <a:srgbClr val="6B6760"/>
                </a:solidFill>
                <a:latin typeface="Calibri" pitchFamily="34" charset="0"/>
                <a:ea typeface="Calibri" pitchFamily="34" charset="-122"/>
                <a:cs typeface="Calibri" pitchFamily="34" charset="-120"/>
              </a:rPr>
              <a:t>How often Safety Gate blocks. Tells you whether CLAUDE.md is tuned right.</a:t>
            </a:r>
            <a:endParaRPr lang="en-US" sz="1000" dirty="0"/>
          </a:p>
        </p:txBody>
      </p:sp>
      <p:sp>
        <p:nvSpPr>
          <p:cNvPr id="26" name="Text 24"/>
          <p:cNvSpPr/>
          <p:nvPr/>
        </p:nvSpPr>
        <p:spPr>
          <a:xfrm>
            <a:off x="6355080" y="3108960"/>
            <a:ext cx="5486400" cy="274320"/>
          </a:xfrm>
          <a:prstGeom prst="rect">
            <a:avLst/>
          </a:prstGeom>
          <a:noFill/>
          <a:ln/>
        </p:spPr>
        <p:txBody>
          <a:bodyPr wrap="square" rtlCol="0" anchor="ctr"/>
          <a:lstStyle/>
          <a:p>
            <a:pPr indent="0" marL="0">
              <a:buNone/>
            </a:pPr>
            <a:r>
              <a:rPr lang="en-US" sz="1000" b="1" spc="200" kern="0" dirty="0">
                <a:solidFill>
                  <a:srgbClr val="CC785C"/>
                </a:solidFill>
                <a:latin typeface="Calibri" pitchFamily="34" charset="0"/>
                <a:ea typeface="Calibri" pitchFamily="34" charset="-122"/>
                <a:cs typeface="Calibri" pitchFamily="34" charset="-120"/>
              </a:rPr>
              <a:t>LAGGING INDICATORS  ·  MONTH THREE</a:t>
            </a:r>
            <a:endParaRPr lang="en-US" sz="1000" dirty="0"/>
          </a:p>
        </p:txBody>
      </p:sp>
      <p:sp>
        <p:nvSpPr>
          <p:cNvPr id="27" name="Text 25"/>
          <p:cNvSpPr/>
          <p:nvPr/>
        </p:nvSpPr>
        <p:spPr>
          <a:xfrm>
            <a:off x="6355080" y="3429000"/>
            <a:ext cx="5303520" cy="228600"/>
          </a:xfrm>
          <a:prstGeom prst="rect">
            <a:avLst/>
          </a:prstGeom>
          <a:noFill/>
          <a:ln/>
        </p:spPr>
        <p:txBody>
          <a:bodyPr wrap="square" rtlCol="0" anchor="ctr"/>
          <a:lstStyle/>
          <a:p>
            <a:pPr indent="0" marL="0">
              <a:buNone/>
            </a:pPr>
            <a:r>
              <a:rPr lang="en-US" sz="1150" b="1" dirty="0">
                <a:solidFill>
                  <a:srgbClr val="1F1F1E"/>
                </a:solidFill>
                <a:latin typeface="Calibri" pitchFamily="34" charset="0"/>
                <a:ea typeface="Calibri" pitchFamily="34" charset="-122"/>
                <a:cs typeface="Calibri" pitchFamily="34" charset="-120"/>
              </a:rPr>
              <a:t>Developer sentiment survey</a:t>
            </a:r>
            <a:endParaRPr lang="en-US" sz="1150" dirty="0"/>
          </a:p>
        </p:txBody>
      </p:sp>
      <p:sp>
        <p:nvSpPr>
          <p:cNvPr id="28" name="Text 26"/>
          <p:cNvSpPr/>
          <p:nvPr/>
        </p:nvSpPr>
        <p:spPr>
          <a:xfrm>
            <a:off x="6355080" y="3639312"/>
            <a:ext cx="5303520" cy="365760"/>
          </a:xfrm>
          <a:prstGeom prst="rect">
            <a:avLst/>
          </a:prstGeom>
          <a:noFill/>
          <a:ln/>
        </p:spPr>
        <p:txBody>
          <a:bodyPr wrap="square" rtlCol="0" anchor="ctr"/>
          <a:lstStyle/>
          <a:p>
            <a:pPr indent="0" marL="0">
              <a:lnSpc>
                <a:spcPct val="115000"/>
              </a:lnSpc>
              <a:buNone/>
            </a:pPr>
            <a:r>
              <a:rPr lang="en-US" sz="1000" dirty="0">
                <a:solidFill>
                  <a:srgbClr val="6B6760"/>
                </a:solidFill>
                <a:latin typeface="Calibri" pitchFamily="34" charset="0"/>
                <a:ea typeface="Calibri" pitchFamily="34" charset="-122"/>
                <a:cs typeface="Calibri" pitchFamily="34" charset="-120"/>
              </a:rPr>
              <a:t>Quarterly. 'I'd be sad to lose this' as anchor question.</a:t>
            </a:r>
            <a:endParaRPr lang="en-US" sz="1000" dirty="0"/>
          </a:p>
        </p:txBody>
      </p:sp>
      <p:sp>
        <p:nvSpPr>
          <p:cNvPr id="29" name="Text 27"/>
          <p:cNvSpPr/>
          <p:nvPr/>
        </p:nvSpPr>
        <p:spPr>
          <a:xfrm>
            <a:off x="6355080" y="4032504"/>
            <a:ext cx="5303520" cy="228600"/>
          </a:xfrm>
          <a:prstGeom prst="rect">
            <a:avLst/>
          </a:prstGeom>
          <a:noFill/>
          <a:ln/>
        </p:spPr>
        <p:txBody>
          <a:bodyPr wrap="square" rtlCol="0" anchor="ctr"/>
          <a:lstStyle/>
          <a:p>
            <a:pPr indent="0" marL="0">
              <a:buNone/>
            </a:pPr>
            <a:r>
              <a:rPr lang="en-US" sz="1150" b="1" dirty="0">
                <a:solidFill>
                  <a:srgbClr val="1F1F1E"/>
                </a:solidFill>
                <a:latin typeface="Calibri" pitchFamily="34" charset="0"/>
                <a:ea typeface="Calibri" pitchFamily="34" charset="-122"/>
                <a:cs typeface="Calibri" pitchFamily="34" charset="-120"/>
              </a:rPr>
              <a:t>Escape defect rate</a:t>
            </a:r>
            <a:endParaRPr lang="en-US" sz="1150" dirty="0"/>
          </a:p>
        </p:txBody>
      </p:sp>
      <p:sp>
        <p:nvSpPr>
          <p:cNvPr id="30" name="Text 28"/>
          <p:cNvSpPr/>
          <p:nvPr/>
        </p:nvSpPr>
        <p:spPr>
          <a:xfrm>
            <a:off x="6355080" y="4242816"/>
            <a:ext cx="5303520" cy="365760"/>
          </a:xfrm>
          <a:prstGeom prst="rect">
            <a:avLst/>
          </a:prstGeom>
          <a:noFill/>
          <a:ln/>
        </p:spPr>
        <p:txBody>
          <a:bodyPr wrap="square" rtlCol="0" anchor="ctr"/>
          <a:lstStyle/>
          <a:p>
            <a:pPr indent="0" marL="0">
              <a:lnSpc>
                <a:spcPct val="115000"/>
              </a:lnSpc>
              <a:buNone/>
            </a:pPr>
            <a:r>
              <a:rPr lang="en-US" sz="1000" dirty="0">
                <a:solidFill>
                  <a:srgbClr val="6B6760"/>
                </a:solidFill>
                <a:latin typeface="Calibri" pitchFamily="34" charset="0"/>
                <a:ea typeface="Calibri" pitchFamily="34" charset="-122"/>
                <a:cs typeface="Calibri" pitchFamily="34" charset="-120"/>
              </a:rPr>
              <a:t>Bugs that reach production, normalized per 1,000 lines shipped.</a:t>
            </a:r>
            <a:endParaRPr lang="en-US" sz="1000" dirty="0"/>
          </a:p>
        </p:txBody>
      </p:sp>
      <p:sp>
        <p:nvSpPr>
          <p:cNvPr id="31" name="Text 29"/>
          <p:cNvSpPr/>
          <p:nvPr/>
        </p:nvSpPr>
        <p:spPr>
          <a:xfrm>
            <a:off x="6355080" y="4636008"/>
            <a:ext cx="5303520" cy="228600"/>
          </a:xfrm>
          <a:prstGeom prst="rect">
            <a:avLst/>
          </a:prstGeom>
          <a:noFill/>
          <a:ln/>
        </p:spPr>
        <p:txBody>
          <a:bodyPr wrap="square" rtlCol="0" anchor="ctr"/>
          <a:lstStyle/>
          <a:p>
            <a:pPr indent="0" marL="0">
              <a:buNone/>
            </a:pPr>
            <a:r>
              <a:rPr lang="en-US" sz="1150" b="1" dirty="0">
                <a:solidFill>
                  <a:srgbClr val="1F1F1E"/>
                </a:solidFill>
                <a:latin typeface="Calibri" pitchFamily="34" charset="0"/>
                <a:ea typeface="Calibri" pitchFamily="34" charset="-122"/>
                <a:cs typeface="Calibri" pitchFamily="34" charset="-120"/>
              </a:rPr>
              <a:t>Audit finding rate</a:t>
            </a:r>
            <a:endParaRPr lang="en-US" sz="1150" dirty="0"/>
          </a:p>
        </p:txBody>
      </p:sp>
      <p:sp>
        <p:nvSpPr>
          <p:cNvPr id="32" name="Text 30"/>
          <p:cNvSpPr/>
          <p:nvPr/>
        </p:nvSpPr>
        <p:spPr>
          <a:xfrm>
            <a:off x="6355080" y="4846320"/>
            <a:ext cx="5303520" cy="365760"/>
          </a:xfrm>
          <a:prstGeom prst="rect">
            <a:avLst/>
          </a:prstGeom>
          <a:noFill/>
          <a:ln/>
        </p:spPr>
        <p:txBody>
          <a:bodyPr wrap="square" rtlCol="0" anchor="ctr"/>
          <a:lstStyle/>
          <a:p>
            <a:pPr indent="0" marL="0">
              <a:lnSpc>
                <a:spcPct val="115000"/>
              </a:lnSpc>
              <a:buNone/>
            </a:pPr>
            <a:r>
              <a:rPr lang="en-US" sz="1000" dirty="0">
                <a:solidFill>
                  <a:srgbClr val="6B6760"/>
                </a:solidFill>
                <a:latin typeface="Calibri" pitchFamily="34" charset="0"/>
                <a:ea typeface="Calibri" pitchFamily="34" charset="-122"/>
                <a:cs typeface="Calibri" pitchFamily="34" charset="-120"/>
              </a:rPr>
              <a:t>Compared to pre-pilot baseline, by severity.</a:t>
            </a:r>
            <a:endParaRPr lang="en-US" sz="1000" dirty="0"/>
          </a:p>
        </p:txBody>
      </p:sp>
      <p:sp>
        <p:nvSpPr>
          <p:cNvPr id="33" name="Text 31"/>
          <p:cNvSpPr/>
          <p:nvPr/>
        </p:nvSpPr>
        <p:spPr>
          <a:xfrm>
            <a:off x="6355080" y="5239512"/>
            <a:ext cx="5303520" cy="228600"/>
          </a:xfrm>
          <a:prstGeom prst="rect">
            <a:avLst/>
          </a:prstGeom>
          <a:noFill/>
          <a:ln/>
        </p:spPr>
        <p:txBody>
          <a:bodyPr wrap="square" rtlCol="0" anchor="ctr"/>
          <a:lstStyle/>
          <a:p>
            <a:pPr indent="0" marL="0">
              <a:buNone/>
            </a:pPr>
            <a:r>
              <a:rPr lang="en-US" sz="1150" b="1" dirty="0">
                <a:solidFill>
                  <a:srgbClr val="1F1F1E"/>
                </a:solidFill>
                <a:latin typeface="Calibri" pitchFamily="34" charset="0"/>
                <a:ea typeface="Calibri" pitchFamily="34" charset="-122"/>
                <a:cs typeface="Calibri" pitchFamily="34" charset="-120"/>
              </a:rPr>
              <a:t>Cost per active engineer</a:t>
            </a:r>
            <a:endParaRPr lang="en-US" sz="1150" dirty="0"/>
          </a:p>
        </p:txBody>
      </p:sp>
      <p:sp>
        <p:nvSpPr>
          <p:cNvPr id="34" name="Text 32"/>
          <p:cNvSpPr/>
          <p:nvPr/>
        </p:nvSpPr>
        <p:spPr>
          <a:xfrm>
            <a:off x="6355080" y="5449824"/>
            <a:ext cx="5303520" cy="365760"/>
          </a:xfrm>
          <a:prstGeom prst="rect">
            <a:avLst/>
          </a:prstGeom>
          <a:noFill/>
          <a:ln/>
        </p:spPr>
        <p:txBody>
          <a:bodyPr wrap="square" rtlCol="0" anchor="ctr"/>
          <a:lstStyle/>
          <a:p>
            <a:pPr indent="0" marL="0">
              <a:lnSpc>
                <a:spcPct val="115000"/>
              </a:lnSpc>
              <a:buNone/>
            </a:pPr>
            <a:r>
              <a:rPr lang="en-US" sz="1000" dirty="0">
                <a:solidFill>
                  <a:srgbClr val="6B6760"/>
                </a:solidFill>
                <a:latin typeface="Calibri" pitchFamily="34" charset="0"/>
                <a:ea typeface="Calibri" pitchFamily="34" charset="-122"/>
                <a:cs typeface="Calibri" pitchFamily="34" charset="-120"/>
              </a:rPr>
              <a:t>API spend ÷ weekly active users. Watch for runaway context use.</a:t>
            </a:r>
            <a:endParaRPr lang="en-US" sz="1000" dirty="0"/>
          </a:p>
        </p:txBody>
      </p:sp>
      <p:sp>
        <p:nvSpPr>
          <p:cNvPr id="35" name="Shape 33"/>
          <p:cNvSpPr/>
          <p:nvPr/>
        </p:nvSpPr>
        <p:spPr>
          <a:xfrm>
            <a:off x="502920" y="5943600"/>
            <a:ext cx="11247120" cy="502920"/>
          </a:xfrm>
          <a:prstGeom prst="rect">
            <a:avLst/>
          </a:prstGeom>
          <a:solidFill>
            <a:srgbClr val="1F1F1E"/>
          </a:solidFill>
          <a:ln w="12700">
            <a:solidFill>
              <a:srgbClr val="1F1F1E"/>
            </a:solidFill>
            <a:prstDash val="solid"/>
          </a:ln>
        </p:spPr>
      </p:sp>
      <p:sp>
        <p:nvSpPr>
          <p:cNvPr id="36" name="Text 34"/>
          <p:cNvSpPr/>
          <p:nvPr/>
        </p:nvSpPr>
        <p:spPr>
          <a:xfrm>
            <a:off x="777240" y="6016752"/>
            <a:ext cx="10972800" cy="365760"/>
          </a:xfrm>
          <a:prstGeom prst="rect">
            <a:avLst/>
          </a:prstGeom>
          <a:noFill/>
          <a:ln/>
        </p:spPr>
        <p:txBody>
          <a:bodyPr wrap="square" rtlCol="0" anchor="ctr"/>
          <a:lstStyle/>
          <a:p>
            <a:pPr indent="0" marL="0">
              <a:buNone/>
            </a:pPr>
            <a:r>
              <a:rPr lang="en-US" sz="1300" i="1" dirty="0">
                <a:solidFill>
                  <a:srgbClr val="F0EEE6"/>
                </a:solidFill>
                <a:latin typeface="Georgia" pitchFamily="34" charset="0"/>
                <a:ea typeface="Georgia" pitchFamily="34" charset="-122"/>
                <a:cs typeface="Georgia" pitchFamily="34" charset="-120"/>
              </a:rPr>
              <a:t>The point isn't the dashboard. The point is making the first bad week visible before the auditor finds it.</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0EEE6"/>
        </a:solidFill>
      </p:bgPr>
    </p:bg>
    <p:spTree>
      <p:nvGrpSpPr>
        <p:cNvPr id="1" name=""/>
        <p:cNvGrpSpPr/>
        <p:nvPr/>
      </p:nvGrpSpPr>
      <p:grpSpPr>
        <a:xfrm>
          <a:off x="0" y="0"/>
          <a:ext cx="0" cy="0"/>
          <a:chOff x="0" y="0"/>
          <a:chExt cx="0" cy="0"/>
        </a:xfrm>
      </p:grpSpPr>
      <p:sp>
        <p:nvSpPr>
          <p:cNvPr id="2" name="Text 0"/>
          <p:cNvSpPr/>
          <p:nvPr/>
        </p:nvSpPr>
        <p:spPr>
          <a:xfrm>
            <a:off x="457200" y="6446520"/>
            <a:ext cx="6400800" cy="274320"/>
          </a:xfrm>
          <a:prstGeom prst="rect">
            <a:avLst/>
          </a:prstGeom>
          <a:noFill/>
          <a:ln/>
        </p:spPr>
        <p:txBody>
          <a:bodyPr wrap="square" rtlCol="0" anchor="ctr"/>
          <a:lstStyle/>
          <a:p>
            <a:pPr indent="0" marL="0">
              <a:buNone/>
            </a:pPr>
            <a:r>
              <a:rPr lang="en-US" sz="900" dirty="0">
                <a:solidFill>
                  <a:srgbClr val="6B6760"/>
                </a:solidFill>
                <a:latin typeface="Calibri" pitchFamily="34" charset="0"/>
                <a:ea typeface="Calibri" pitchFamily="34" charset="-122"/>
                <a:cs typeface="Calibri" pitchFamily="34" charset="-120"/>
              </a:rPr>
              <a:t>Claude Code  ·  Technical deep-dive</a:t>
            </a:r>
            <a:endParaRPr lang="en-US" sz="900" dirty="0"/>
          </a:p>
        </p:txBody>
      </p:sp>
      <p:sp>
        <p:nvSpPr>
          <p:cNvPr id="3" name="Text 1"/>
          <p:cNvSpPr/>
          <p:nvPr/>
        </p:nvSpPr>
        <p:spPr>
          <a:xfrm>
            <a:off x="10515600" y="6446520"/>
            <a:ext cx="1371600" cy="274320"/>
          </a:xfrm>
          <a:prstGeom prst="rect">
            <a:avLst/>
          </a:prstGeom>
          <a:noFill/>
          <a:ln/>
        </p:spPr>
        <p:txBody>
          <a:bodyPr wrap="square" rtlCol="0" anchor="ctr"/>
          <a:lstStyle/>
          <a:p>
            <a:pPr algn="r" indent="0" marL="0">
              <a:buNone/>
            </a:pPr>
            <a:r>
              <a:rPr lang="en-US" sz="900" i="1" dirty="0">
                <a:solidFill>
                  <a:srgbClr val="6B6760"/>
                </a:solidFill>
                <a:latin typeface="Calibri" pitchFamily="34" charset="0"/>
                <a:ea typeface="Calibri" pitchFamily="34" charset="-122"/>
                <a:cs typeface="Calibri" pitchFamily="34" charset="-120"/>
              </a:rPr>
              <a:t>Anthropic</a:t>
            </a:r>
            <a:endParaRPr lang="en-US" sz="900" dirty="0"/>
          </a:p>
        </p:txBody>
      </p:sp>
      <p:sp>
        <p:nvSpPr>
          <p:cNvPr id="4" name="Shape 2"/>
          <p:cNvSpPr/>
          <p:nvPr/>
        </p:nvSpPr>
        <p:spPr>
          <a:xfrm>
            <a:off x="457200" y="457200"/>
            <a:ext cx="164592" cy="164592"/>
          </a:xfrm>
          <a:prstGeom prst="rect">
            <a:avLst/>
          </a:prstGeom>
          <a:solidFill>
            <a:srgbClr val="CC785C"/>
          </a:solidFill>
          <a:ln w="12700">
            <a:solidFill>
              <a:srgbClr val="CC785C"/>
            </a:solidFill>
            <a:prstDash val="solid"/>
          </a:ln>
        </p:spPr>
      </p:sp>
      <p:sp>
        <p:nvSpPr>
          <p:cNvPr id="5" name="Text 3"/>
          <p:cNvSpPr/>
          <p:nvPr/>
        </p:nvSpPr>
        <p:spPr>
          <a:xfrm>
            <a:off x="777240" y="384048"/>
            <a:ext cx="7315200" cy="320040"/>
          </a:xfrm>
          <a:prstGeom prst="rect">
            <a:avLst/>
          </a:prstGeom>
          <a:noFill/>
          <a:ln/>
        </p:spPr>
        <p:txBody>
          <a:bodyPr wrap="square" rtlCol="0" anchor="ctr"/>
          <a:lstStyle/>
          <a:p>
            <a:pPr indent="0" marL="0">
              <a:buNone/>
            </a:pPr>
            <a:r>
              <a:rPr lang="en-US" sz="1100" b="1" spc="200" kern="0" dirty="0">
                <a:solidFill>
                  <a:srgbClr val="CC785C"/>
                </a:solidFill>
                <a:latin typeface="Calibri" pitchFamily="34" charset="0"/>
                <a:ea typeface="Calibri" pitchFamily="34" charset="-122"/>
                <a:cs typeface="Calibri" pitchFamily="34" charset="-120"/>
              </a:rPr>
              <a:t>FAILURE MODES</a:t>
            </a:r>
            <a:endParaRPr lang="en-US" sz="1100" dirty="0"/>
          </a:p>
        </p:txBody>
      </p:sp>
      <p:sp>
        <p:nvSpPr>
          <p:cNvPr id="6" name="Text 4"/>
          <p:cNvSpPr/>
          <p:nvPr/>
        </p:nvSpPr>
        <p:spPr>
          <a:xfrm>
            <a:off x="457200" y="777240"/>
            <a:ext cx="11247120" cy="822960"/>
          </a:xfrm>
          <a:prstGeom prst="rect">
            <a:avLst/>
          </a:prstGeom>
          <a:noFill/>
          <a:ln/>
        </p:spPr>
        <p:txBody>
          <a:bodyPr wrap="square" rtlCol="0" anchor="ctr"/>
          <a:lstStyle/>
          <a:p>
            <a:pPr indent="0" marL="0">
              <a:buNone/>
            </a:pPr>
            <a:r>
              <a:rPr lang="en-US" sz="3200" dirty="0">
                <a:solidFill>
                  <a:srgbClr val="1F1F1E"/>
                </a:solidFill>
                <a:latin typeface="Georgia" pitchFamily="34" charset="0"/>
                <a:ea typeface="Georgia" pitchFamily="34" charset="-122"/>
                <a:cs typeface="Georgia" pitchFamily="34" charset="-120"/>
              </a:rPr>
              <a:t>Five failure modes, and how we catch each one.</a:t>
            </a:r>
            <a:endParaRPr lang="en-US" sz="3200" dirty="0"/>
          </a:p>
        </p:txBody>
      </p:sp>
      <p:sp>
        <p:nvSpPr>
          <p:cNvPr id="7" name="Shape 5"/>
          <p:cNvSpPr/>
          <p:nvPr/>
        </p:nvSpPr>
        <p:spPr>
          <a:xfrm>
            <a:off x="502920" y="1737360"/>
            <a:ext cx="11247120" cy="868680"/>
          </a:xfrm>
          <a:prstGeom prst="rect">
            <a:avLst/>
          </a:prstGeom>
          <a:solidFill>
            <a:srgbClr val="E8E4D8"/>
          </a:solidFill>
          <a:ln w="12700">
            <a:solidFill>
              <a:srgbClr val="E8E4D8"/>
            </a:solidFill>
            <a:prstDash val="solid"/>
          </a:ln>
        </p:spPr>
      </p:sp>
      <p:sp>
        <p:nvSpPr>
          <p:cNvPr id="8" name="Text 6"/>
          <p:cNvSpPr/>
          <p:nvPr/>
        </p:nvSpPr>
        <p:spPr>
          <a:xfrm>
            <a:off x="685800" y="1783080"/>
            <a:ext cx="3200400" cy="777240"/>
          </a:xfrm>
          <a:prstGeom prst="rect">
            <a:avLst/>
          </a:prstGeom>
          <a:noFill/>
          <a:ln/>
        </p:spPr>
        <p:txBody>
          <a:bodyPr wrap="square" rtlCol="0" anchor="ctr"/>
          <a:lstStyle/>
          <a:p>
            <a:pPr indent="0" marL="0">
              <a:buNone/>
            </a:pPr>
            <a:r>
              <a:rPr lang="en-US" sz="1300" b="1" dirty="0">
                <a:solidFill>
                  <a:srgbClr val="1F1F1E"/>
                </a:solidFill>
                <a:latin typeface="Calibri" pitchFamily="34" charset="0"/>
                <a:ea typeface="Calibri" pitchFamily="34" charset="-122"/>
                <a:cs typeface="Calibri" pitchFamily="34" charset="-120"/>
              </a:rPr>
              <a:t>Wrong fix lands in PR</a:t>
            </a:r>
            <a:endParaRPr lang="en-US" sz="1300" dirty="0"/>
          </a:p>
        </p:txBody>
      </p:sp>
      <p:sp>
        <p:nvSpPr>
          <p:cNvPr id="9" name="Text 7"/>
          <p:cNvSpPr/>
          <p:nvPr/>
        </p:nvSpPr>
        <p:spPr>
          <a:xfrm>
            <a:off x="3931920" y="1783080"/>
            <a:ext cx="3931920" cy="777240"/>
          </a:xfrm>
          <a:prstGeom prst="rect">
            <a:avLst/>
          </a:prstGeom>
          <a:noFill/>
          <a:ln/>
        </p:spPr>
        <p:txBody>
          <a:bodyPr wrap="square" rtlCol="0" anchor="ctr"/>
          <a:lstStyle/>
          <a:p>
            <a:pPr indent="0" marL="0">
              <a:lnSpc>
                <a:spcPct val="120000"/>
              </a:lnSpc>
              <a:buNone/>
            </a:pPr>
            <a:r>
              <a:rPr lang="en-US" sz="1150" dirty="0">
                <a:solidFill>
                  <a:srgbClr val="6B6760"/>
                </a:solidFill>
                <a:latin typeface="Calibri" pitchFamily="34" charset="0"/>
                <a:ea typeface="Calibri" pitchFamily="34" charset="-122"/>
                <a:cs typeface="Calibri" pitchFamily="34" charset="-120"/>
              </a:rPr>
              <a:t>Tests pass but the code is subtly wrong</a:t>
            </a:r>
            <a:endParaRPr lang="en-US" sz="1150" dirty="0"/>
          </a:p>
        </p:txBody>
      </p:sp>
      <p:sp>
        <p:nvSpPr>
          <p:cNvPr id="10" name="Text 8"/>
          <p:cNvSpPr/>
          <p:nvPr/>
        </p:nvSpPr>
        <p:spPr>
          <a:xfrm>
            <a:off x="7955280" y="1783080"/>
            <a:ext cx="3840480" cy="777240"/>
          </a:xfrm>
          <a:prstGeom prst="rect">
            <a:avLst/>
          </a:prstGeom>
          <a:noFill/>
          <a:ln/>
        </p:spPr>
        <p:txBody>
          <a:bodyPr wrap="square" rtlCol="0" anchor="ctr"/>
          <a:lstStyle/>
          <a:p>
            <a:pPr indent="0" marL="0">
              <a:lnSpc>
                <a:spcPct val="120000"/>
              </a:lnSpc>
              <a:buNone/>
            </a:pPr>
            <a:r>
              <a:rPr lang="en-US" sz="1150" dirty="0">
                <a:solidFill>
                  <a:srgbClr val="1F1F1E"/>
                </a:solidFill>
                <a:latin typeface="Calibri" pitchFamily="34" charset="0"/>
                <a:ea typeface="Calibri" pitchFamily="34" charset="-122"/>
                <a:cs typeface="Calibri" pitchFamily="34" charset="-120"/>
              </a:rPr>
              <a:t>PR review is still required; Claude Code doesn't auto-merge</a:t>
            </a:r>
            <a:endParaRPr lang="en-US" sz="1150" dirty="0"/>
          </a:p>
        </p:txBody>
      </p:sp>
      <p:sp>
        <p:nvSpPr>
          <p:cNvPr id="11" name="Text 9"/>
          <p:cNvSpPr/>
          <p:nvPr/>
        </p:nvSpPr>
        <p:spPr>
          <a:xfrm>
            <a:off x="685800" y="2651760"/>
            <a:ext cx="3200400" cy="777240"/>
          </a:xfrm>
          <a:prstGeom prst="rect">
            <a:avLst/>
          </a:prstGeom>
          <a:noFill/>
          <a:ln/>
        </p:spPr>
        <p:txBody>
          <a:bodyPr wrap="square" rtlCol="0" anchor="ctr"/>
          <a:lstStyle/>
          <a:p>
            <a:pPr indent="0" marL="0">
              <a:buNone/>
            </a:pPr>
            <a:r>
              <a:rPr lang="en-US" sz="1300" b="1" dirty="0">
                <a:solidFill>
                  <a:srgbClr val="1F1F1E"/>
                </a:solidFill>
                <a:latin typeface="Calibri" pitchFamily="34" charset="0"/>
                <a:ea typeface="Calibri" pitchFamily="34" charset="-122"/>
                <a:cs typeface="Calibri" pitchFamily="34" charset="-120"/>
              </a:rPr>
              <a:t>CLAUDE.md drifts from reality</a:t>
            </a:r>
            <a:endParaRPr lang="en-US" sz="1300" dirty="0"/>
          </a:p>
        </p:txBody>
      </p:sp>
      <p:sp>
        <p:nvSpPr>
          <p:cNvPr id="12" name="Text 10"/>
          <p:cNvSpPr/>
          <p:nvPr/>
        </p:nvSpPr>
        <p:spPr>
          <a:xfrm>
            <a:off x="3931920" y="2651760"/>
            <a:ext cx="3931920" cy="777240"/>
          </a:xfrm>
          <a:prstGeom prst="rect">
            <a:avLst/>
          </a:prstGeom>
          <a:noFill/>
          <a:ln/>
        </p:spPr>
        <p:txBody>
          <a:bodyPr wrap="square" rtlCol="0" anchor="ctr"/>
          <a:lstStyle/>
          <a:p>
            <a:pPr indent="0" marL="0">
              <a:lnSpc>
                <a:spcPct val="120000"/>
              </a:lnSpc>
              <a:buNone/>
            </a:pPr>
            <a:r>
              <a:rPr lang="en-US" sz="1150" dirty="0">
                <a:solidFill>
                  <a:srgbClr val="6B6760"/>
                </a:solidFill>
                <a:latin typeface="Calibri" pitchFamily="34" charset="0"/>
                <a:ea typeface="Calibri" pitchFamily="34" charset="-122"/>
                <a:cs typeface="Calibri" pitchFamily="34" charset="-120"/>
              </a:rPr>
              <a:t>Policy says one thing, the repo says another</a:t>
            </a:r>
            <a:endParaRPr lang="en-US" sz="1150" dirty="0"/>
          </a:p>
        </p:txBody>
      </p:sp>
      <p:sp>
        <p:nvSpPr>
          <p:cNvPr id="13" name="Text 11"/>
          <p:cNvSpPr/>
          <p:nvPr/>
        </p:nvSpPr>
        <p:spPr>
          <a:xfrm>
            <a:off x="7955280" y="2651760"/>
            <a:ext cx="3840480" cy="777240"/>
          </a:xfrm>
          <a:prstGeom prst="rect">
            <a:avLst/>
          </a:prstGeom>
          <a:noFill/>
          <a:ln/>
        </p:spPr>
        <p:txBody>
          <a:bodyPr wrap="square" rtlCol="0" anchor="ctr"/>
          <a:lstStyle/>
          <a:p>
            <a:pPr indent="0" marL="0">
              <a:lnSpc>
                <a:spcPct val="120000"/>
              </a:lnSpc>
              <a:buNone/>
            </a:pPr>
            <a:r>
              <a:rPr lang="en-US" sz="1150" dirty="0">
                <a:solidFill>
                  <a:srgbClr val="1F1F1E"/>
                </a:solidFill>
                <a:latin typeface="Calibri" pitchFamily="34" charset="0"/>
                <a:ea typeface="Calibri" pitchFamily="34" charset="-122"/>
                <a:cs typeface="Calibri" pitchFamily="34" charset="-120"/>
              </a:rPr>
              <a:t>Quarterly drift scan; CLAUDE.md is versioned like any other policy</a:t>
            </a:r>
            <a:endParaRPr lang="en-US" sz="1150" dirty="0"/>
          </a:p>
        </p:txBody>
      </p:sp>
      <p:sp>
        <p:nvSpPr>
          <p:cNvPr id="14" name="Shape 12"/>
          <p:cNvSpPr/>
          <p:nvPr/>
        </p:nvSpPr>
        <p:spPr>
          <a:xfrm>
            <a:off x="502920" y="3474720"/>
            <a:ext cx="11247120" cy="868680"/>
          </a:xfrm>
          <a:prstGeom prst="rect">
            <a:avLst/>
          </a:prstGeom>
          <a:solidFill>
            <a:srgbClr val="E8E4D8"/>
          </a:solidFill>
          <a:ln w="12700">
            <a:solidFill>
              <a:srgbClr val="E8E4D8"/>
            </a:solidFill>
            <a:prstDash val="solid"/>
          </a:ln>
        </p:spPr>
      </p:sp>
      <p:sp>
        <p:nvSpPr>
          <p:cNvPr id="15" name="Text 13"/>
          <p:cNvSpPr/>
          <p:nvPr/>
        </p:nvSpPr>
        <p:spPr>
          <a:xfrm>
            <a:off x="685800" y="3520440"/>
            <a:ext cx="3200400" cy="777240"/>
          </a:xfrm>
          <a:prstGeom prst="rect">
            <a:avLst/>
          </a:prstGeom>
          <a:noFill/>
          <a:ln/>
        </p:spPr>
        <p:txBody>
          <a:bodyPr wrap="square" rtlCol="0" anchor="ctr"/>
          <a:lstStyle/>
          <a:p>
            <a:pPr indent="0" marL="0">
              <a:buNone/>
            </a:pPr>
            <a:r>
              <a:rPr lang="en-US" sz="1300" b="1" dirty="0">
                <a:solidFill>
                  <a:srgbClr val="1F1F1E"/>
                </a:solidFill>
                <a:latin typeface="Calibri" pitchFamily="34" charset="0"/>
                <a:ea typeface="Calibri" pitchFamily="34" charset="-122"/>
                <a:cs typeface="Calibri" pitchFamily="34" charset="-120"/>
              </a:rPr>
              <a:t>Thin test suite masks regressions</a:t>
            </a:r>
            <a:endParaRPr lang="en-US" sz="1300" dirty="0"/>
          </a:p>
        </p:txBody>
      </p:sp>
      <p:sp>
        <p:nvSpPr>
          <p:cNvPr id="16" name="Text 14"/>
          <p:cNvSpPr/>
          <p:nvPr/>
        </p:nvSpPr>
        <p:spPr>
          <a:xfrm>
            <a:off x="3931920" y="3520440"/>
            <a:ext cx="3931920" cy="777240"/>
          </a:xfrm>
          <a:prstGeom prst="rect">
            <a:avLst/>
          </a:prstGeom>
          <a:noFill/>
          <a:ln/>
        </p:spPr>
        <p:txBody>
          <a:bodyPr wrap="square" rtlCol="0" anchor="ctr"/>
          <a:lstStyle/>
          <a:p>
            <a:pPr indent="0" marL="0">
              <a:lnSpc>
                <a:spcPct val="120000"/>
              </a:lnSpc>
              <a:buNone/>
            </a:pPr>
            <a:r>
              <a:rPr lang="en-US" sz="1150" dirty="0">
                <a:solidFill>
                  <a:srgbClr val="6B6760"/>
                </a:solidFill>
                <a:latin typeface="Calibri" pitchFamily="34" charset="0"/>
                <a:ea typeface="Calibri" pitchFamily="34" charset="-122"/>
                <a:cs typeface="Calibri" pitchFamily="34" charset="-120"/>
              </a:rPr>
              <a:t>High coverage, low signal</a:t>
            </a:r>
            <a:endParaRPr lang="en-US" sz="1150" dirty="0"/>
          </a:p>
        </p:txBody>
      </p:sp>
      <p:sp>
        <p:nvSpPr>
          <p:cNvPr id="17" name="Text 15"/>
          <p:cNvSpPr/>
          <p:nvPr/>
        </p:nvSpPr>
        <p:spPr>
          <a:xfrm>
            <a:off x="7955280" y="3520440"/>
            <a:ext cx="3840480" cy="777240"/>
          </a:xfrm>
          <a:prstGeom prst="rect">
            <a:avLst/>
          </a:prstGeom>
          <a:noFill/>
          <a:ln/>
        </p:spPr>
        <p:txBody>
          <a:bodyPr wrap="square" rtlCol="0" anchor="ctr"/>
          <a:lstStyle/>
          <a:p>
            <a:pPr indent="0" marL="0">
              <a:lnSpc>
                <a:spcPct val="120000"/>
              </a:lnSpc>
              <a:buNone/>
            </a:pPr>
            <a:r>
              <a:rPr lang="en-US" sz="1150" dirty="0">
                <a:solidFill>
                  <a:srgbClr val="1F1F1E"/>
                </a:solidFill>
                <a:latin typeface="Calibri" pitchFamily="34" charset="0"/>
                <a:ea typeface="Calibri" pitchFamily="34" charset="-122"/>
                <a:cs typeface="Calibri" pitchFamily="34" charset="-120"/>
              </a:rPr>
              <a:t>Pilot gate measures escape defects, not just merge velocity</a:t>
            </a:r>
            <a:endParaRPr lang="en-US" sz="1150" dirty="0"/>
          </a:p>
        </p:txBody>
      </p:sp>
      <p:sp>
        <p:nvSpPr>
          <p:cNvPr id="18" name="Text 16"/>
          <p:cNvSpPr/>
          <p:nvPr/>
        </p:nvSpPr>
        <p:spPr>
          <a:xfrm>
            <a:off x="685800" y="4389120"/>
            <a:ext cx="3200400" cy="777240"/>
          </a:xfrm>
          <a:prstGeom prst="rect">
            <a:avLst/>
          </a:prstGeom>
          <a:noFill/>
          <a:ln/>
        </p:spPr>
        <p:txBody>
          <a:bodyPr wrap="square" rtlCol="0" anchor="ctr"/>
          <a:lstStyle/>
          <a:p>
            <a:pPr indent="0" marL="0">
              <a:buNone/>
            </a:pPr>
            <a:r>
              <a:rPr lang="en-US" sz="1300" b="1" dirty="0">
                <a:solidFill>
                  <a:srgbClr val="1F1F1E"/>
                </a:solidFill>
                <a:latin typeface="Calibri" pitchFamily="34" charset="0"/>
                <a:ea typeface="Calibri" pitchFamily="34" charset="-122"/>
                <a:cs typeface="Calibri" pitchFamily="34" charset="-120"/>
              </a:rPr>
              <a:t>Engineer disagrees with Claude</a:t>
            </a:r>
            <a:endParaRPr lang="en-US" sz="1300" dirty="0"/>
          </a:p>
        </p:txBody>
      </p:sp>
      <p:sp>
        <p:nvSpPr>
          <p:cNvPr id="19" name="Text 17"/>
          <p:cNvSpPr/>
          <p:nvPr/>
        </p:nvSpPr>
        <p:spPr>
          <a:xfrm>
            <a:off x="3931920" y="4389120"/>
            <a:ext cx="3931920" cy="777240"/>
          </a:xfrm>
          <a:prstGeom prst="rect">
            <a:avLst/>
          </a:prstGeom>
          <a:noFill/>
          <a:ln/>
        </p:spPr>
        <p:txBody>
          <a:bodyPr wrap="square" rtlCol="0" anchor="ctr"/>
          <a:lstStyle/>
          <a:p>
            <a:pPr indent="0" marL="0">
              <a:lnSpc>
                <a:spcPct val="120000"/>
              </a:lnSpc>
              <a:buNone/>
            </a:pPr>
            <a:r>
              <a:rPr lang="en-US" sz="1150" dirty="0">
                <a:solidFill>
                  <a:srgbClr val="6B6760"/>
                </a:solidFill>
                <a:latin typeface="Calibri" pitchFamily="34" charset="0"/>
                <a:ea typeface="Calibri" pitchFamily="34" charset="-122"/>
                <a:cs typeface="Calibri" pitchFamily="34" charset="-120"/>
              </a:rPr>
              <a:t>Suggestion is good, engineer rejects on instinct</a:t>
            </a:r>
            <a:endParaRPr lang="en-US" sz="1150" dirty="0"/>
          </a:p>
        </p:txBody>
      </p:sp>
      <p:sp>
        <p:nvSpPr>
          <p:cNvPr id="20" name="Text 18"/>
          <p:cNvSpPr/>
          <p:nvPr/>
        </p:nvSpPr>
        <p:spPr>
          <a:xfrm>
            <a:off x="7955280" y="4389120"/>
            <a:ext cx="3840480" cy="777240"/>
          </a:xfrm>
          <a:prstGeom prst="rect">
            <a:avLst/>
          </a:prstGeom>
          <a:noFill/>
          <a:ln/>
        </p:spPr>
        <p:txBody>
          <a:bodyPr wrap="square" rtlCol="0" anchor="ctr"/>
          <a:lstStyle/>
          <a:p>
            <a:pPr indent="0" marL="0">
              <a:lnSpc>
                <a:spcPct val="120000"/>
              </a:lnSpc>
              <a:buNone/>
            </a:pPr>
            <a:r>
              <a:rPr lang="en-US" sz="1150" dirty="0">
                <a:solidFill>
                  <a:srgbClr val="1F1F1E"/>
                </a:solidFill>
                <a:latin typeface="Calibri" pitchFamily="34" charset="0"/>
                <a:ea typeface="Calibri" pitchFamily="34" charset="-122"/>
                <a:cs typeface="Calibri" pitchFamily="34" charset="-120"/>
              </a:rPr>
              <a:t>Track override rate; high override in one repo means bad CLAUDE.md</a:t>
            </a:r>
            <a:endParaRPr lang="en-US" sz="1150" dirty="0"/>
          </a:p>
        </p:txBody>
      </p:sp>
      <p:sp>
        <p:nvSpPr>
          <p:cNvPr id="21" name="Shape 19"/>
          <p:cNvSpPr/>
          <p:nvPr/>
        </p:nvSpPr>
        <p:spPr>
          <a:xfrm>
            <a:off x="502920" y="5212080"/>
            <a:ext cx="11247120" cy="868680"/>
          </a:xfrm>
          <a:prstGeom prst="rect">
            <a:avLst/>
          </a:prstGeom>
          <a:solidFill>
            <a:srgbClr val="E8E4D8"/>
          </a:solidFill>
          <a:ln w="12700">
            <a:solidFill>
              <a:srgbClr val="E8E4D8"/>
            </a:solidFill>
            <a:prstDash val="solid"/>
          </a:ln>
        </p:spPr>
      </p:sp>
      <p:sp>
        <p:nvSpPr>
          <p:cNvPr id="22" name="Text 20"/>
          <p:cNvSpPr/>
          <p:nvPr/>
        </p:nvSpPr>
        <p:spPr>
          <a:xfrm>
            <a:off x="685800" y="5257800"/>
            <a:ext cx="3200400" cy="777240"/>
          </a:xfrm>
          <a:prstGeom prst="rect">
            <a:avLst/>
          </a:prstGeom>
          <a:noFill/>
          <a:ln/>
        </p:spPr>
        <p:txBody>
          <a:bodyPr wrap="square" rtlCol="0" anchor="ctr"/>
          <a:lstStyle/>
          <a:p>
            <a:pPr indent="0" marL="0">
              <a:buNone/>
            </a:pPr>
            <a:r>
              <a:rPr lang="en-US" sz="1300" b="1" dirty="0">
                <a:solidFill>
                  <a:srgbClr val="1F1F1E"/>
                </a:solidFill>
                <a:latin typeface="Calibri" pitchFamily="34" charset="0"/>
                <a:ea typeface="Calibri" pitchFamily="34" charset="-122"/>
                <a:cs typeface="Calibri" pitchFamily="34" charset="-120"/>
              </a:rPr>
              <a:t>API unreachable</a:t>
            </a:r>
            <a:endParaRPr lang="en-US" sz="1300" dirty="0"/>
          </a:p>
        </p:txBody>
      </p:sp>
      <p:sp>
        <p:nvSpPr>
          <p:cNvPr id="23" name="Text 21"/>
          <p:cNvSpPr/>
          <p:nvPr/>
        </p:nvSpPr>
        <p:spPr>
          <a:xfrm>
            <a:off x="3931920" y="5257800"/>
            <a:ext cx="3931920" cy="777240"/>
          </a:xfrm>
          <a:prstGeom prst="rect">
            <a:avLst/>
          </a:prstGeom>
          <a:noFill/>
          <a:ln/>
        </p:spPr>
        <p:txBody>
          <a:bodyPr wrap="square" rtlCol="0" anchor="ctr"/>
          <a:lstStyle/>
          <a:p>
            <a:pPr indent="0" marL="0">
              <a:lnSpc>
                <a:spcPct val="120000"/>
              </a:lnSpc>
              <a:buNone/>
            </a:pPr>
            <a:r>
              <a:rPr lang="en-US" sz="1150" dirty="0">
                <a:solidFill>
                  <a:srgbClr val="6B6760"/>
                </a:solidFill>
                <a:latin typeface="Calibri" pitchFamily="34" charset="0"/>
                <a:ea typeface="Calibri" pitchFamily="34" charset="-122"/>
                <a:cs typeface="Calibri" pitchFamily="34" charset="-120"/>
              </a:rPr>
              <a:t>Network issue, Anthropic incident, maintenance window</a:t>
            </a:r>
            <a:endParaRPr lang="en-US" sz="1150" dirty="0"/>
          </a:p>
        </p:txBody>
      </p:sp>
      <p:sp>
        <p:nvSpPr>
          <p:cNvPr id="24" name="Text 22"/>
          <p:cNvSpPr/>
          <p:nvPr/>
        </p:nvSpPr>
        <p:spPr>
          <a:xfrm>
            <a:off x="7955280" y="5257800"/>
            <a:ext cx="3840480" cy="777240"/>
          </a:xfrm>
          <a:prstGeom prst="rect">
            <a:avLst/>
          </a:prstGeom>
          <a:noFill/>
          <a:ln/>
        </p:spPr>
        <p:txBody>
          <a:bodyPr wrap="square" rtlCol="0" anchor="ctr"/>
          <a:lstStyle/>
          <a:p>
            <a:pPr indent="0" marL="0">
              <a:lnSpc>
                <a:spcPct val="120000"/>
              </a:lnSpc>
              <a:buNone/>
            </a:pPr>
            <a:r>
              <a:rPr lang="en-US" sz="1150" dirty="0">
                <a:solidFill>
                  <a:srgbClr val="1F1F1E"/>
                </a:solidFill>
                <a:latin typeface="Calibri" pitchFamily="34" charset="0"/>
                <a:ea typeface="Calibri" pitchFamily="34" charset="-122"/>
                <a:cs typeface="Calibri" pitchFamily="34" charset="-120"/>
              </a:rPr>
              <a:t>Engineers keep working offline; CI doesn't depend on Claude Code</a:t>
            </a:r>
            <a:endParaRPr lang="en-US" sz="11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0EEE6"/>
        </a:solidFill>
      </p:bgPr>
    </p:bg>
    <p:spTree>
      <p:nvGrpSpPr>
        <p:cNvPr id="1" name=""/>
        <p:cNvGrpSpPr/>
        <p:nvPr/>
      </p:nvGrpSpPr>
      <p:grpSpPr>
        <a:xfrm>
          <a:off x="0" y="0"/>
          <a:ext cx="0" cy="0"/>
          <a:chOff x="0" y="0"/>
          <a:chExt cx="0" cy="0"/>
        </a:xfrm>
      </p:grpSpPr>
      <p:sp>
        <p:nvSpPr>
          <p:cNvPr id="2" name="Text 0"/>
          <p:cNvSpPr/>
          <p:nvPr/>
        </p:nvSpPr>
        <p:spPr>
          <a:xfrm>
            <a:off x="457200" y="6446520"/>
            <a:ext cx="6400800" cy="274320"/>
          </a:xfrm>
          <a:prstGeom prst="rect">
            <a:avLst/>
          </a:prstGeom>
          <a:noFill/>
          <a:ln/>
        </p:spPr>
        <p:txBody>
          <a:bodyPr wrap="square" rtlCol="0" anchor="ctr"/>
          <a:lstStyle/>
          <a:p>
            <a:pPr indent="0" marL="0">
              <a:buNone/>
            </a:pPr>
            <a:r>
              <a:rPr lang="en-US" sz="900" dirty="0">
                <a:solidFill>
                  <a:srgbClr val="6B6760"/>
                </a:solidFill>
                <a:latin typeface="Calibri" pitchFamily="34" charset="0"/>
                <a:ea typeface="Calibri" pitchFamily="34" charset="-122"/>
                <a:cs typeface="Calibri" pitchFamily="34" charset="-120"/>
              </a:rPr>
              <a:t>Claude Code  ·  Technical deep-dive</a:t>
            </a:r>
            <a:endParaRPr lang="en-US" sz="900" dirty="0"/>
          </a:p>
        </p:txBody>
      </p:sp>
      <p:sp>
        <p:nvSpPr>
          <p:cNvPr id="3" name="Text 1"/>
          <p:cNvSpPr/>
          <p:nvPr/>
        </p:nvSpPr>
        <p:spPr>
          <a:xfrm>
            <a:off x="10515600" y="6446520"/>
            <a:ext cx="1371600" cy="274320"/>
          </a:xfrm>
          <a:prstGeom prst="rect">
            <a:avLst/>
          </a:prstGeom>
          <a:noFill/>
          <a:ln/>
        </p:spPr>
        <p:txBody>
          <a:bodyPr wrap="square" rtlCol="0" anchor="ctr"/>
          <a:lstStyle/>
          <a:p>
            <a:pPr algn="r" indent="0" marL="0">
              <a:buNone/>
            </a:pPr>
            <a:r>
              <a:rPr lang="en-US" sz="900" i="1" dirty="0">
                <a:solidFill>
                  <a:srgbClr val="6B6760"/>
                </a:solidFill>
                <a:latin typeface="Calibri" pitchFamily="34" charset="0"/>
                <a:ea typeface="Calibri" pitchFamily="34" charset="-122"/>
                <a:cs typeface="Calibri" pitchFamily="34" charset="-120"/>
              </a:rPr>
              <a:t>Anthropic</a:t>
            </a:r>
            <a:endParaRPr lang="en-US" sz="900" dirty="0"/>
          </a:p>
        </p:txBody>
      </p:sp>
      <p:sp>
        <p:nvSpPr>
          <p:cNvPr id="4" name="Shape 2"/>
          <p:cNvSpPr/>
          <p:nvPr/>
        </p:nvSpPr>
        <p:spPr>
          <a:xfrm>
            <a:off x="457200" y="457200"/>
            <a:ext cx="164592" cy="164592"/>
          </a:xfrm>
          <a:prstGeom prst="rect">
            <a:avLst/>
          </a:prstGeom>
          <a:solidFill>
            <a:srgbClr val="CC785C"/>
          </a:solidFill>
          <a:ln w="12700">
            <a:solidFill>
              <a:srgbClr val="CC785C"/>
            </a:solidFill>
            <a:prstDash val="solid"/>
          </a:ln>
        </p:spPr>
      </p:sp>
      <p:sp>
        <p:nvSpPr>
          <p:cNvPr id="5" name="Text 3"/>
          <p:cNvSpPr/>
          <p:nvPr/>
        </p:nvSpPr>
        <p:spPr>
          <a:xfrm>
            <a:off x="777240" y="384048"/>
            <a:ext cx="7315200" cy="320040"/>
          </a:xfrm>
          <a:prstGeom prst="rect">
            <a:avLst/>
          </a:prstGeom>
          <a:noFill/>
          <a:ln/>
        </p:spPr>
        <p:txBody>
          <a:bodyPr wrap="square" rtlCol="0" anchor="ctr"/>
          <a:lstStyle/>
          <a:p>
            <a:pPr indent="0" marL="0">
              <a:buNone/>
            </a:pPr>
            <a:r>
              <a:rPr lang="en-US" sz="1100" b="1" spc="200" kern="0" dirty="0">
                <a:solidFill>
                  <a:srgbClr val="CC785C"/>
                </a:solidFill>
                <a:latin typeface="Calibri" pitchFamily="34" charset="0"/>
                <a:ea typeface="Calibri" pitchFamily="34" charset="-122"/>
                <a:cs typeface="Calibri" pitchFamily="34" charset="-120"/>
              </a:rPr>
              <a:t>INTEGRATIONS · MCP</a:t>
            </a:r>
            <a:endParaRPr lang="en-US" sz="1100" dirty="0"/>
          </a:p>
        </p:txBody>
      </p:sp>
      <p:sp>
        <p:nvSpPr>
          <p:cNvPr id="6" name="Text 4"/>
          <p:cNvSpPr/>
          <p:nvPr/>
        </p:nvSpPr>
        <p:spPr>
          <a:xfrm>
            <a:off x="457200" y="777240"/>
            <a:ext cx="11247120" cy="822960"/>
          </a:xfrm>
          <a:prstGeom prst="rect">
            <a:avLst/>
          </a:prstGeom>
          <a:noFill/>
          <a:ln/>
        </p:spPr>
        <p:txBody>
          <a:bodyPr wrap="square" rtlCol="0" anchor="ctr"/>
          <a:lstStyle/>
          <a:p>
            <a:pPr indent="0" marL="0">
              <a:buNone/>
            </a:pPr>
            <a:r>
              <a:rPr lang="en-US" sz="3200" dirty="0">
                <a:solidFill>
                  <a:srgbClr val="1F1F1E"/>
                </a:solidFill>
                <a:latin typeface="Georgia" pitchFamily="34" charset="0"/>
                <a:ea typeface="Georgia" pitchFamily="34" charset="-122"/>
                <a:cs typeface="Georgia" pitchFamily="34" charset="-120"/>
              </a:rPr>
              <a:t>What Claude Code plugs into, and how to reason about risk.</a:t>
            </a:r>
            <a:endParaRPr lang="en-US" sz="3200" dirty="0"/>
          </a:p>
        </p:txBody>
      </p:sp>
      <p:sp>
        <p:nvSpPr>
          <p:cNvPr id="7" name="Text 5"/>
          <p:cNvSpPr/>
          <p:nvPr/>
        </p:nvSpPr>
        <p:spPr>
          <a:xfrm>
            <a:off x="502920" y="1691640"/>
            <a:ext cx="11247120" cy="1097280"/>
          </a:xfrm>
          <a:prstGeom prst="rect">
            <a:avLst/>
          </a:prstGeom>
          <a:noFill/>
          <a:ln/>
        </p:spPr>
        <p:txBody>
          <a:bodyPr wrap="square" rtlCol="0" anchor="ctr"/>
          <a:lstStyle/>
          <a:p>
            <a:pPr indent="0" marL="0">
              <a:lnSpc>
                <a:spcPct val="130000"/>
              </a:lnSpc>
              <a:buNone/>
            </a:pPr>
            <a:r>
              <a:rPr lang="en-US" sz="1300" dirty="0">
                <a:solidFill>
                  <a:srgbClr val="1F1F1E"/>
                </a:solidFill>
                <a:latin typeface="Calibri" pitchFamily="34" charset="0"/>
                <a:ea typeface="Calibri" pitchFamily="34" charset="-122"/>
                <a:cs typeface="Calibri" pitchFamily="34" charset="-120"/>
              </a:rPr>
              <a:t>MCP (Model Context Protocol) is how Claude Code reaches your internal systems: Jira, Confluence, internal APIs, databases. Every MCP server is a trust decision, so treat each one like any other production dependency: owned, reviewed, audit-logged.</a:t>
            </a:r>
            <a:endParaRPr lang="en-US" sz="1300" dirty="0"/>
          </a:p>
        </p:txBody>
      </p:sp>
      <p:sp>
        <p:nvSpPr>
          <p:cNvPr id="8" name="Shape 6"/>
          <p:cNvSpPr/>
          <p:nvPr/>
        </p:nvSpPr>
        <p:spPr>
          <a:xfrm>
            <a:off x="502920" y="2971800"/>
            <a:ext cx="11247120" cy="731520"/>
          </a:xfrm>
          <a:prstGeom prst="rect">
            <a:avLst/>
          </a:prstGeom>
          <a:solidFill>
            <a:srgbClr val="FFFFFF"/>
          </a:solidFill>
          <a:ln w="6350">
            <a:solidFill>
              <a:srgbClr val="D6D1C4"/>
            </a:solidFill>
            <a:prstDash val="solid"/>
          </a:ln>
        </p:spPr>
      </p:sp>
      <p:sp>
        <p:nvSpPr>
          <p:cNvPr id="9" name="Text 7"/>
          <p:cNvSpPr/>
          <p:nvPr/>
        </p:nvSpPr>
        <p:spPr>
          <a:xfrm>
            <a:off x="685800" y="3108960"/>
            <a:ext cx="1188720" cy="502920"/>
          </a:xfrm>
          <a:prstGeom prst="rect">
            <a:avLst/>
          </a:prstGeom>
          <a:noFill/>
          <a:ln/>
        </p:spPr>
        <p:txBody>
          <a:bodyPr wrap="square" rtlCol="0" anchor="ctr"/>
          <a:lstStyle/>
          <a:p>
            <a:pPr indent="0" marL="0">
              <a:buNone/>
            </a:pPr>
            <a:r>
              <a:rPr lang="en-US" sz="1000" b="1" spc="200" kern="0" dirty="0">
                <a:solidFill>
                  <a:srgbClr val="CC785C"/>
                </a:solidFill>
                <a:latin typeface="Calibri" pitchFamily="34" charset="0"/>
                <a:ea typeface="Calibri" pitchFamily="34" charset="-122"/>
                <a:cs typeface="Calibri" pitchFamily="34" charset="-120"/>
              </a:rPr>
              <a:t>TIER 1</a:t>
            </a:r>
            <a:endParaRPr lang="en-US" sz="1000" dirty="0"/>
          </a:p>
        </p:txBody>
      </p:sp>
      <p:sp>
        <p:nvSpPr>
          <p:cNvPr id="10" name="Text 8"/>
          <p:cNvSpPr/>
          <p:nvPr/>
        </p:nvSpPr>
        <p:spPr>
          <a:xfrm>
            <a:off x="1965960" y="3108960"/>
            <a:ext cx="3017520" cy="502920"/>
          </a:xfrm>
          <a:prstGeom prst="rect">
            <a:avLst/>
          </a:prstGeom>
          <a:noFill/>
          <a:ln/>
        </p:spPr>
        <p:txBody>
          <a:bodyPr wrap="square" rtlCol="0" anchor="ctr"/>
          <a:lstStyle/>
          <a:p>
            <a:pPr indent="0" marL="0">
              <a:buNone/>
            </a:pPr>
            <a:r>
              <a:rPr lang="en-US" sz="1300" b="1" dirty="0">
                <a:solidFill>
                  <a:srgbClr val="1F1F1E"/>
                </a:solidFill>
                <a:latin typeface="Calibri" pitchFamily="34" charset="0"/>
                <a:ea typeface="Calibri" pitchFamily="34" charset="-122"/>
                <a:cs typeface="Calibri" pitchFamily="34" charset="-120"/>
              </a:rPr>
              <a:t>Read-only, internal</a:t>
            </a:r>
            <a:endParaRPr lang="en-US" sz="1300" dirty="0"/>
          </a:p>
        </p:txBody>
      </p:sp>
      <p:sp>
        <p:nvSpPr>
          <p:cNvPr id="11" name="Text 9"/>
          <p:cNvSpPr/>
          <p:nvPr/>
        </p:nvSpPr>
        <p:spPr>
          <a:xfrm>
            <a:off x="5029200" y="3108960"/>
            <a:ext cx="3017520" cy="502920"/>
          </a:xfrm>
          <a:prstGeom prst="rect">
            <a:avLst/>
          </a:prstGeom>
          <a:noFill/>
          <a:ln/>
        </p:spPr>
        <p:txBody>
          <a:bodyPr wrap="square" rtlCol="0" anchor="ctr"/>
          <a:lstStyle/>
          <a:p>
            <a:pPr indent="0" marL="0">
              <a:buNone/>
            </a:pPr>
            <a:r>
              <a:rPr lang="en-US" sz="1100" i="1" dirty="0">
                <a:solidFill>
                  <a:srgbClr val="6B6760"/>
                </a:solidFill>
                <a:latin typeface="Calibri" pitchFamily="34" charset="0"/>
                <a:ea typeface="Calibri" pitchFamily="34" charset="-122"/>
                <a:cs typeface="Calibri" pitchFamily="34" charset="-120"/>
              </a:rPr>
              <a:t>Confluence search, internal docs</a:t>
            </a:r>
            <a:endParaRPr lang="en-US" sz="1100" dirty="0"/>
          </a:p>
        </p:txBody>
      </p:sp>
      <p:sp>
        <p:nvSpPr>
          <p:cNvPr id="12" name="Text 10"/>
          <p:cNvSpPr/>
          <p:nvPr/>
        </p:nvSpPr>
        <p:spPr>
          <a:xfrm>
            <a:off x="8092440" y="3108960"/>
            <a:ext cx="1280160" cy="502920"/>
          </a:xfrm>
          <a:prstGeom prst="rect">
            <a:avLst/>
          </a:prstGeom>
          <a:noFill/>
          <a:ln/>
        </p:spPr>
        <p:txBody>
          <a:bodyPr wrap="square" rtlCol="0" anchor="ctr"/>
          <a:lstStyle/>
          <a:p>
            <a:pPr indent="0" marL="0">
              <a:buNone/>
            </a:pPr>
            <a:r>
              <a:rPr lang="en-US" sz="1150" b="1" dirty="0">
                <a:solidFill>
                  <a:srgbClr val="1F1F1E"/>
                </a:solidFill>
                <a:latin typeface="Calibri" pitchFamily="34" charset="0"/>
                <a:ea typeface="Calibri" pitchFamily="34" charset="-122"/>
                <a:cs typeface="Calibri" pitchFamily="34" charset="-120"/>
              </a:rPr>
              <a:t>Low</a:t>
            </a:r>
            <a:endParaRPr lang="en-US" sz="1150" dirty="0"/>
          </a:p>
        </p:txBody>
      </p:sp>
      <p:sp>
        <p:nvSpPr>
          <p:cNvPr id="13" name="Text 11"/>
          <p:cNvSpPr/>
          <p:nvPr/>
        </p:nvSpPr>
        <p:spPr>
          <a:xfrm>
            <a:off x="9418320" y="3108960"/>
            <a:ext cx="2377440" cy="502920"/>
          </a:xfrm>
          <a:prstGeom prst="rect">
            <a:avLst/>
          </a:prstGeom>
          <a:noFill/>
          <a:ln/>
        </p:spPr>
        <p:txBody>
          <a:bodyPr wrap="square" rtlCol="0" anchor="ctr"/>
          <a:lstStyle/>
          <a:p>
            <a:pPr indent="0" marL="0">
              <a:buNone/>
            </a:pPr>
            <a:r>
              <a:rPr lang="en-US" sz="1050" dirty="0">
                <a:solidFill>
                  <a:srgbClr val="6B6760"/>
                </a:solidFill>
                <a:latin typeface="Calibri" pitchFamily="34" charset="0"/>
                <a:ea typeface="Calibri" pitchFamily="34" charset="-122"/>
                <a:cs typeface="Calibri" pitchFamily="34" charset="-120"/>
              </a:rPr>
              <a:t>Platform team sign-off</a:t>
            </a:r>
            <a:endParaRPr lang="en-US" sz="1050" dirty="0"/>
          </a:p>
        </p:txBody>
      </p:sp>
      <p:sp>
        <p:nvSpPr>
          <p:cNvPr id="14" name="Shape 12"/>
          <p:cNvSpPr/>
          <p:nvPr/>
        </p:nvSpPr>
        <p:spPr>
          <a:xfrm>
            <a:off x="502920" y="3749040"/>
            <a:ext cx="11247120" cy="731520"/>
          </a:xfrm>
          <a:prstGeom prst="rect">
            <a:avLst/>
          </a:prstGeom>
          <a:solidFill>
            <a:srgbClr val="FFFFFF"/>
          </a:solidFill>
          <a:ln w="6350">
            <a:solidFill>
              <a:srgbClr val="D6D1C4"/>
            </a:solidFill>
            <a:prstDash val="solid"/>
          </a:ln>
        </p:spPr>
      </p:sp>
      <p:sp>
        <p:nvSpPr>
          <p:cNvPr id="15" name="Text 13"/>
          <p:cNvSpPr/>
          <p:nvPr/>
        </p:nvSpPr>
        <p:spPr>
          <a:xfrm>
            <a:off x="685800" y="3886200"/>
            <a:ext cx="1188720" cy="502920"/>
          </a:xfrm>
          <a:prstGeom prst="rect">
            <a:avLst/>
          </a:prstGeom>
          <a:noFill/>
          <a:ln/>
        </p:spPr>
        <p:txBody>
          <a:bodyPr wrap="square" rtlCol="0" anchor="ctr"/>
          <a:lstStyle/>
          <a:p>
            <a:pPr indent="0" marL="0">
              <a:buNone/>
            </a:pPr>
            <a:r>
              <a:rPr lang="en-US" sz="1000" b="1" spc="200" kern="0" dirty="0">
                <a:solidFill>
                  <a:srgbClr val="CC785C"/>
                </a:solidFill>
                <a:latin typeface="Calibri" pitchFamily="34" charset="0"/>
                <a:ea typeface="Calibri" pitchFamily="34" charset="-122"/>
                <a:cs typeface="Calibri" pitchFamily="34" charset="-120"/>
              </a:rPr>
              <a:t>TIER 2</a:t>
            </a:r>
            <a:endParaRPr lang="en-US" sz="1000" dirty="0"/>
          </a:p>
        </p:txBody>
      </p:sp>
      <p:sp>
        <p:nvSpPr>
          <p:cNvPr id="16" name="Text 14"/>
          <p:cNvSpPr/>
          <p:nvPr/>
        </p:nvSpPr>
        <p:spPr>
          <a:xfrm>
            <a:off x="1965960" y="3886200"/>
            <a:ext cx="3017520" cy="502920"/>
          </a:xfrm>
          <a:prstGeom prst="rect">
            <a:avLst/>
          </a:prstGeom>
          <a:noFill/>
          <a:ln/>
        </p:spPr>
        <p:txBody>
          <a:bodyPr wrap="square" rtlCol="0" anchor="ctr"/>
          <a:lstStyle/>
          <a:p>
            <a:pPr indent="0" marL="0">
              <a:buNone/>
            </a:pPr>
            <a:r>
              <a:rPr lang="en-US" sz="1300" b="1" dirty="0">
                <a:solidFill>
                  <a:srgbClr val="1F1F1E"/>
                </a:solidFill>
                <a:latin typeface="Calibri" pitchFamily="34" charset="0"/>
                <a:ea typeface="Calibri" pitchFamily="34" charset="-122"/>
                <a:cs typeface="Calibri" pitchFamily="34" charset="-120"/>
              </a:rPr>
              <a:t>Write to tracking systems</a:t>
            </a:r>
            <a:endParaRPr lang="en-US" sz="1300" dirty="0"/>
          </a:p>
        </p:txBody>
      </p:sp>
      <p:sp>
        <p:nvSpPr>
          <p:cNvPr id="17" name="Text 15"/>
          <p:cNvSpPr/>
          <p:nvPr/>
        </p:nvSpPr>
        <p:spPr>
          <a:xfrm>
            <a:off x="5029200" y="3886200"/>
            <a:ext cx="3017520" cy="502920"/>
          </a:xfrm>
          <a:prstGeom prst="rect">
            <a:avLst/>
          </a:prstGeom>
          <a:noFill/>
          <a:ln/>
        </p:spPr>
        <p:txBody>
          <a:bodyPr wrap="square" rtlCol="0" anchor="ctr"/>
          <a:lstStyle/>
          <a:p>
            <a:pPr indent="0" marL="0">
              <a:buNone/>
            </a:pPr>
            <a:r>
              <a:rPr lang="en-US" sz="1100" i="1" dirty="0">
                <a:solidFill>
                  <a:srgbClr val="6B6760"/>
                </a:solidFill>
                <a:latin typeface="Calibri" pitchFamily="34" charset="0"/>
                <a:ea typeface="Calibri" pitchFamily="34" charset="-122"/>
                <a:cs typeface="Calibri" pitchFamily="34" charset="-120"/>
              </a:rPr>
              <a:t>Jira, GitHub Issues</a:t>
            </a:r>
            <a:endParaRPr lang="en-US" sz="1100" dirty="0"/>
          </a:p>
        </p:txBody>
      </p:sp>
      <p:sp>
        <p:nvSpPr>
          <p:cNvPr id="18" name="Text 16"/>
          <p:cNvSpPr/>
          <p:nvPr/>
        </p:nvSpPr>
        <p:spPr>
          <a:xfrm>
            <a:off x="8092440" y="3886200"/>
            <a:ext cx="1280160" cy="502920"/>
          </a:xfrm>
          <a:prstGeom prst="rect">
            <a:avLst/>
          </a:prstGeom>
          <a:noFill/>
          <a:ln/>
        </p:spPr>
        <p:txBody>
          <a:bodyPr wrap="square" rtlCol="0" anchor="ctr"/>
          <a:lstStyle/>
          <a:p>
            <a:pPr indent="0" marL="0">
              <a:buNone/>
            </a:pPr>
            <a:r>
              <a:rPr lang="en-US" sz="1150" b="1" dirty="0">
                <a:solidFill>
                  <a:srgbClr val="1F1F1E"/>
                </a:solidFill>
                <a:latin typeface="Calibri" pitchFamily="34" charset="0"/>
                <a:ea typeface="Calibri" pitchFamily="34" charset="-122"/>
                <a:cs typeface="Calibri" pitchFamily="34" charset="-120"/>
              </a:rPr>
              <a:t>Medium</a:t>
            </a:r>
            <a:endParaRPr lang="en-US" sz="1150" dirty="0"/>
          </a:p>
        </p:txBody>
      </p:sp>
      <p:sp>
        <p:nvSpPr>
          <p:cNvPr id="19" name="Text 17"/>
          <p:cNvSpPr/>
          <p:nvPr/>
        </p:nvSpPr>
        <p:spPr>
          <a:xfrm>
            <a:off x="9418320" y="3886200"/>
            <a:ext cx="2377440" cy="502920"/>
          </a:xfrm>
          <a:prstGeom prst="rect">
            <a:avLst/>
          </a:prstGeom>
          <a:noFill/>
          <a:ln/>
        </p:spPr>
        <p:txBody>
          <a:bodyPr wrap="square" rtlCol="0" anchor="ctr"/>
          <a:lstStyle/>
          <a:p>
            <a:pPr indent="0" marL="0">
              <a:buNone/>
            </a:pPr>
            <a:r>
              <a:rPr lang="en-US" sz="1050" dirty="0">
                <a:solidFill>
                  <a:srgbClr val="6B6760"/>
                </a:solidFill>
                <a:latin typeface="Calibri" pitchFamily="34" charset="0"/>
                <a:ea typeface="Calibri" pitchFamily="34" charset="-122"/>
                <a:cs typeface="Calibri" pitchFamily="34" charset="-120"/>
              </a:rPr>
              <a:t>Service owner + security</a:t>
            </a:r>
            <a:endParaRPr lang="en-US" sz="1050" dirty="0"/>
          </a:p>
        </p:txBody>
      </p:sp>
      <p:sp>
        <p:nvSpPr>
          <p:cNvPr id="20" name="Shape 18"/>
          <p:cNvSpPr/>
          <p:nvPr/>
        </p:nvSpPr>
        <p:spPr>
          <a:xfrm>
            <a:off x="502920" y="4526280"/>
            <a:ext cx="11247120" cy="731520"/>
          </a:xfrm>
          <a:prstGeom prst="rect">
            <a:avLst/>
          </a:prstGeom>
          <a:solidFill>
            <a:srgbClr val="FFFFFF"/>
          </a:solidFill>
          <a:ln w="6350">
            <a:solidFill>
              <a:srgbClr val="D6D1C4"/>
            </a:solidFill>
            <a:prstDash val="solid"/>
          </a:ln>
        </p:spPr>
      </p:sp>
      <p:sp>
        <p:nvSpPr>
          <p:cNvPr id="21" name="Text 19"/>
          <p:cNvSpPr/>
          <p:nvPr/>
        </p:nvSpPr>
        <p:spPr>
          <a:xfrm>
            <a:off x="685800" y="4663440"/>
            <a:ext cx="1188720" cy="502920"/>
          </a:xfrm>
          <a:prstGeom prst="rect">
            <a:avLst/>
          </a:prstGeom>
          <a:noFill/>
          <a:ln/>
        </p:spPr>
        <p:txBody>
          <a:bodyPr wrap="square" rtlCol="0" anchor="ctr"/>
          <a:lstStyle/>
          <a:p>
            <a:pPr indent="0" marL="0">
              <a:buNone/>
            </a:pPr>
            <a:r>
              <a:rPr lang="en-US" sz="1000" b="1" spc="200" kern="0" dirty="0">
                <a:solidFill>
                  <a:srgbClr val="CC785C"/>
                </a:solidFill>
                <a:latin typeface="Calibri" pitchFamily="34" charset="0"/>
                <a:ea typeface="Calibri" pitchFamily="34" charset="-122"/>
                <a:cs typeface="Calibri" pitchFamily="34" charset="-120"/>
              </a:rPr>
              <a:t>TIER 3</a:t>
            </a:r>
            <a:endParaRPr lang="en-US" sz="1000" dirty="0"/>
          </a:p>
        </p:txBody>
      </p:sp>
      <p:sp>
        <p:nvSpPr>
          <p:cNvPr id="22" name="Text 20"/>
          <p:cNvSpPr/>
          <p:nvPr/>
        </p:nvSpPr>
        <p:spPr>
          <a:xfrm>
            <a:off x="1965960" y="4663440"/>
            <a:ext cx="3017520" cy="502920"/>
          </a:xfrm>
          <a:prstGeom prst="rect">
            <a:avLst/>
          </a:prstGeom>
          <a:noFill/>
          <a:ln/>
        </p:spPr>
        <p:txBody>
          <a:bodyPr wrap="square" rtlCol="0" anchor="ctr"/>
          <a:lstStyle/>
          <a:p>
            <a:pPr indent="0" marL="0">
              <a:buNone/>
            </a:pPr>
            <a:r>
              <a:rPr lang="en-US" sz="1300" b="1" dirty="0">
                <a:solidFill>
                  <a:srgbClr val="1F1F1E"/>
                </a:solidFill>
                <a:latin typeface="Calibri" pitchFamily="34" charset="0"/>
                <a:ea typeface="Calibri" pitchFamily="34" charset="-122"/>
                <a:cs typeface="Calibri" pitchFamily="34" charset="-120"/>
              </a:rPr>
              <a:t>Write to production systems</a:t>
            </a:r>
            <a:endParaRPr lang="en-US" sz="1300" dirty="0"/>
          </a:p>
        </p:txBody>
      </p:sp>
      <p:sp>
        <p:nvSpPr>
          <p:cNvPr id="23" name="Text 21"/>
          <p:cNvSpPr/>
          <p:nvPr/>
        </p:nvSpPr>
        <p:spPr>
          <a:xfrm>
            <a:off x="5029200" y="4663440"/>
            <a:ext cx="3017520" cy="502920"/>
          </a:xfrm>
          <a:prstGeom prst="rect">
            <a:avLst/>
          </a:prstGeom>
          <a:noFill/>
          <a:ln/>
        </p:spPr>
        <p:txBody>
          <a:bodyPr wrap="square" rtlCol="0" anchor="ctr"/>
          <a:lstStyle/>
          <a:p>
            <a:pPr indent="0" marL="0">
              <a:buNone/>
            </a:pPr>
            <a:r>
              <a:rPr lang="en-US" sz="1100" i="1" dirty="0">
                <a:solidFill>
                  <a:srgbClr val="6B6760"/>
                </a:solidFill>
                <a:latin typeface="Calibri" pitchFamily="34" charset="0"/>
                <a:ea typeface="Calibri" pitchFamily="34" charset="-122"/>
                <a:cs typeface="Calibri" pitchFamily="34" charset="-120"/>
              </a:rPr>
              <a:t>Feature flag service, internal APIs</a:t>
            </a:r>
            <a:endParaRPr lang="en-US" sz="1100" dirty="0"/>
          </a:p>
        </p:txBody>
      </p:sp>
      <p:sp>
        <p:nvSpPr>
          <p:cNvPr id="24" name="Text 22"/>
          <p:cNvSpPr/>
          <p:nvPr/>
        </p:nvSpPr>
        <p:spPr>
          <a:xfrm>
            <a:off x="8092440" y="4663440"/>
            <a:ext cx="1280160" cy="502920"/>
          </a:xfrm>
          <a:prstGeom prst="rect">
            <a:avLst/>
          </a:prstGeom>
          <a:noFill/>
          <a:ln/>
        </p:spPr>
        <p:txBody>
          <a:bodyPr wrap="square" rtlCol="0" anchor="ctr"/>
          <a:lstStyle/>
          <a:p>
            <a:pPr indent="0" marL="0">
              <a:buNone/>
            </a:pPr>
            <a:r>
              <a:rPr lang="en-US" sz="1150" b="1" dirty="0">
                <a:solidFill>
                  <a:srgbClr val="1F1F1E"/>
                </a:solidFill>
                <a:latin typeface="Calibri" pitchFamily="34" charset="0"/>
                <a:ea typeface="Calibri" pitchFamily="34" charset="-122"/>
                <a:cs typeface="Calibri" pitchFamily="34" charset="-120"/>
              </a:rPr>
              <a:t>High</a:t>
            </a:r>
            <a:endParaRPr lang="en-US" sz="1150" dirty="0"/>
          </a:p>
        </p:txBody>
      </p:sp>
      <p:sp>
        <p:nvSpPr>
          <p:cNvPr id="25" name="Text 23"/>
          <p:cNvSpPr/>
          <p:nvPr/>
        </p:nvSpPr>
        <p:spPr>
          <a:xfrm>
            <a:off x="9418320" y="4663440"/>
            <a:ext cx="2377440" cy="502920"/>
          </a:xfrm>
          <a:prstGeom prst="rect">
            <a:avLst/>
          </a:prstGeom>
          <a:noFill/>
          <a:ln/>
        </p:spPr>
        <p:txBody>
          <a:bodyPr wrap="square" rtlCol="0" anchor="ctr"/>
          <a:lstStyle/>
          <a:p>
            <a:pPr indent="0" marL="0">
              <a:buNone/>
            </a:pPr>
            <a:r>
              <a:rPr lang="en-US" sz="1050" dirty="0">
                <a:solidFill>
                  <a:srgbClr val="6B6760"/>
                </a:solidFill>
                <a:latin typeface="Calibri" pitchFamily="34" charset="0"/>
                <a:ea typeface="Calibri" pitchFamily="34" charset="-122"/>
                <a:cs typeface="Calibri" pitchFamily="34" charset="-120"/>
              </a:rPr>
              <a:t>Security + change advisory board</a:t>
            </a:r>
            <a:endParaRPr lang="en-US" sz="1050" dirty="0"/>
          </a:p>
        </p:txBody>
      </p:sp>
      <p:sp>
        <p:nvSpPr>
          <p:cNvPr id="26" name="Shape 24"/>
          <p:cNvSpPr/>
          <p:nvPr/>
        </p:nvSpPr>
        <p:spPr>
          <a:xfrm>
            <a:off x="502920" y="5303520"/>
            <a:ext cx="11247120" cy="731520"/>
          </a:xfrm>
          <a:prstGeom prst="rect">
            <a:avLst/>
          </a:prstGeom>
          <a:solidFill>
            <a:srgbClr val="FFFFFF"/>
          </a:solidFill>
          <a:ln w="6350">
            <a:solidFill>
              <a:srgbClr val="D6D1C4"/>
            </a:solidFill>
            <a:prstDash val="solid"/>
          </a:ln>
        </p:spPr>
      </p:sp>
      <p:sp>
        <p:nvSpPr>
          <p:cNvPr id="27" name="Text 25"/>
          <p:cNvSpPr/>
          <p:nvPr/>
        </p:nvSpPr>
        <p:spPr>
          <a:xfrm>
            <a:off x="685800" y="5440680"/>
            <a:ext cx="1188720" cy="502920"/>
          </a:xfrm>
          <a:prstGeom prst="rect">
            <a:avLst/>
          </a:prstGeom>
          <a:noFill/>
          <a:ln/>
        </p:spPr>
        <p:txBody>
          <a:bodyPr wrap="square" rtlCol="0" anchor="ctr"/>
          <a:lstStyle/>
          <a:p>
            <a:pPr indent="0" marL="0">
              <a:buNone/>
            </a:pPr>
            <a:r>
              <a:rPr lang="en-US" sz="1000" b="1" spc="200" kern="0" dirty="0">
                <a:solidFill>
                  <a:srgbClr val="CC785C"/>
                </a:solidFill>
                <a:latin typeface="Calibri" pitchFamily="34" charset="0"/>
                <a:ea typeface="Calibri" pitchFamily="34" charset="-122"/>
                <a:cs typeface="Calibri" pitchFamily="34" charset="-120"/>
              </a:rPr>
              <a:t>TIER 4</a:t>
            </a:r>
            <a:endParaRPr lang="en-US" sz="1000" dirty="0"/>
          </a:p>
        </p:txBody>
      </p:sp>
      <p:sp>
        <p:nvSpPr>
          <p:cNvPr id="28" name="Text 26"/>
          <p:cNvSpPr/>
          <p:nvPr/>
        </p:nvSpPr>
        <p:spPr>
          <a:xfrm>
            <a:off x="1965960" y="5440680"/>
            <a:ext cx="3017520" cy="502920"/>
          </a:xfrm>
          <a:prstGeom prst="rect">
            <a:avLst/>
          </a:prstGeom>
          <a:noFill/>
          <a:ln/>
        </p:spPr>
        <p:txBody>
          <a:bodyPr wrap="square" rtlCol="0" anchor="ctr"/>
          <a:lstStyle/>
          <a:p>
            <a:pPr indent="0" marL="0">
              <a:buNone/>
            </a:pPr>
            <a:r>
              <a:rPr lang="en-US" sz="1300" b="1" dirty="0">
                <a:solidFill>
                  <a:srgbClr val="1F1F1E"/>
                </a:solidFill>
                <a:latin typeface="Calibri" pitchFamily="34" charset="0"/>
                <a:ea typeface="Calibri" pitchFamily="34" charset="-122"/>
                <a:cs typeface="Calibri" pitchFamily="34" charset="-120"/>
              </a:rPr>
              <a:t>Database or money-moving</a:t>
            </a:r>
            <a:endParaRPr lang="en-US" sz="1300" dirty="0"/>
          </a:p>
        </p:txBody>
      </p:sp>
      <p:sp>
        <p:nvSpPr>
          <p:cNvPr id="29" name="Text 27"/>
          <p:cNvSpPr/>
          <p:nvPr/>
        </p:nvSpPr>
        <p:spPr>
          <a:xfrm>
            <a:off x="5029200" y="5440680"/>
            <a:ext cx="3017520" cy="502920"/>
          </a:xfrm>
          <a:prstGeom prst="rect">
            <a:avLst/>
          </a:prstGeom>
          <a:noFill/>
          <a:ln/>
        </p:spPr>
        <p:txBody>
          <a:bodyPr wrap="square" rtlCol="0" anchor="ctr"/>
          <a:lstStyle/>
          <a:p>
            <a:pPr indent="0" marL="0">
              <a:buNone/>
            </a:pPr>
            <a:r>
              <a:rPr lang="en-US" sz="1100" i="1" dirty="0">
                <a:solidFill>
                  <a:srgbClr val="6B6760"/>
                </a:solidFill>
                <a:latin typeface="Calibri" pitchFamily="34" charset="0"/>
                <a:ea typeface="Calibri" pitchFamily="34" charset="-122"/>
                <a:cs typeface="Calibri" pitchFamily="34" charset="-120"/>
              </a:rPr>
              <a:t>Payment processor, customer DB</a:t>
            </a:r>
            <a:endParaRPr lang="en-US" sz="1100" dirty="0"/>
          </a:p>
        </p:txBody>
      </p:sp>
      <p:sp>
        <p:nvSpPr>
          <p:cNvPr id="30" name="Text 28"/>
          <p:cNvSpPr/>
          <p:nvPr/>
        </p:nvSpPr>
        <p:spPr>
          <a:xfrm>
            <a:off x="8092440" y="5440680"/>
            <a:ext cx="1280160" cy="502920"/>
          </a:xfrm>
          <a:prstGeom prst="rect">
            <a:avLst/>
          </a:prstGeom>
          <a:noFill/>
          <a:ln/>
        </p:spPr>
        <p:txBody>
          <a:bodyPr wrap="square" rtlCol="0" anchor="ctr"/>
          <a:lstStyle/>
          <a:p>
            <a:pPr indent="0" marL="0">
              <a:buNone/>
            </a:pPr>
            <a:r>
              <a:rPr lang="en-US" sz="1150" b="1" dirty="0">
                <a:solidFill>
                  <a:srgbClr val="1F1F1E"/>
                </a:solidFill>
                <a:latin typeface="Calibri" pitchFamily="34" charset="0"/>
                <a:ea typeface="Calibri" pitchFamily="34" charset="-122"/>
                <a:cs typeface="Calibri" pitchFamily="34" charset="-120"/>
              </a:rPr>
              <a:t>Not recommended</a:t>
            </a:r>
            <a:endParaRPr lang="en-US" sz="1150" dirty="0"/>
          </a:p>
        </p:txBody>
      </p:sp>
      <p:sp>
        <p:nvSpPr>
          <p:cNvPr id="31" name="Text 29"/>
          <p:cNvSpPr/>
          <p:nvPr/>
        </p:nvSpPr>
        <p:spPr>
          <a:xfrm>
            <a:off x="9418320" y="5440680"/>
            <a:ext cx="2377440" cy="502920"/>
          </a:xfrm>
          <a:prstGeom prst="rect">
            <a:avLst/>
          </a:prstGeom>
          <a:noFill/>
          <a:ln/>
        </p:spPr>
        <p:txBody>
          <a:bodyPr wrap="square" rtlCol="0" anchor="ctr"/>
          <a:lstStyle/>
          <a:p>
            <a:pPr indent="0" marL="0">
              <a:buNone/>
            </a:pPr>
            <a:r>
              <a:rPr lang="en-US" sz="1050" dirty="0">
                <a:solidFill>
                  <a:srgbClr val="6B6760"/>
                </a:solidFill>
                <a:latin typeface="Calibri" pitchFamily="34" charset="0"/>
                <a:ea typeface="Calibri" pitchFamily="34" charset="-122"/>
                <a:cs typeface="Calibri" pitchFamily="34" charset="-120"/>
              </a:rPr>
              <a:t>Out of scope for agent access</a:t>
            </a:r>
            <a:endParaRPr lang="en-US" sz="10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F1F1E"/>
        </a:solidFill>
      </p:bgPr>
    </p:bg>
    <p:spTree>
      <p:nvGrpSpPr>
        <p:cNvPr id="1" name=""/>
        <p:cNvGrpSpPr/>
        <p:nvPr/>
      </p:nvGrpSpPr>
      <p:grpSpPr>
        <a:xfrm>
          <a:off x="0" y="0"/>
          <a:ext cx="0" cy="0"/>
          <a:chOff x="0" y="0"/>
          <a:chExt cx="0" cy="0"/>
        </a:xfrm>
      </p:grpSpPr>
      <p:sp>
        <p:nvSpPr>
          <p:cNvPr id="2" name="Shape 0"/>
          <p:cNvSpPr/>
          <p:nvPr/>
        </p:nvSpPr>
        <p:spPr>
          <a:xfrm>
            <a:off x="0" y="0"/>
            <a:ext cx="12191695" cy="137160"/>
          </a:xfrm>
          <a:prstGeom prst="rect">
            <a:avLst/>
          </a:prstGeom>
          <a:solidFill>
            <a:srgbClr val="CC785C"/>
          </a:solidFill>
          <a:ln w="12700">
            <a:solidFill>
              <a:srgbClr val="CC785C"/>
            </a:solidFill>
            <a:prstDash val="solid"/>
          </a:ln>
        </p:spPr>
      </p:sp>
      <p:sp>
        <p:nvSpPr>
          <p:cNvPr id="3" name="Text 1"/>
          <p:cNvSpPr/>
          <p:nvPr/>
        </p:nvSpPr>
        <p:spPr>
          <a:xfrm>
            <a:off x="548640" y="548640"/>
            <a:ext cx="7315200" cy="365760"/>
          </a:xfrm>
          <a:prstGeom prst="rect">
            <a:avLst/>
          </a:prstGeom>
          <a:noFill/>
          <a:ln/>
        </p:spPr>
        <p:txBody>
          <a:bodyPr wrap="square" rtlCol="0" anchor="ctr"/>
          <a:lstStyle/>
          <a:p>
            <a:pPr indent="0" marL="0">
              <a:buNone/>
            </a:pPr>
            <a:r>
              <a:rPr lang="en-US" sz="1100" b="1" spc="300" kern="0" dirty="0">
                <a:solidFill>
                  <a:srgbClr val="CC785C"/>
                </a:solidFill>
                <a:latin typeface="Calibri" pitchFamily="34" charset="0"/>
                <a:ea typeface="Calibri" pitchFamily="34" charset="-122"/>
                <a:cs typeface="Calibri" pitchFamily="34" charset="-120"/>
              </a:rPr>
              <a:t>SUMMARY</a:t>
            </a:r>
            <a:endParaRPr lang="en-US" sz="1100" dirty="0"/>
          </a:p>
        </p:txBody>
      </p:sp>
      <p:sp>
        <p:nvSpPr>
          <p:cNvPr id="4" name="Text 2"/>
          <p:cNvSpPr/>
          <p:nvPr/>
        </p:nvSpPr>
        <p:spPr>
          <a:xfrm>
            <a:off x="548640" y="1188720"/>
            <a:ext cx="10972800" cy="1097280"/>
          </a:xfrm>
          <a:prstGeom prst="rect">
            <a:avLst/>
          </a:prstGeom>
          <a:noFill/>
          <a:ln/>
        </p:spPr>
        <p:txBody>
          <a:bodyPr wrap="square" rtlCol="0" anchor="ctr"/>
          <a:lstStyle/>
          <a:p>
            <a:pPr indent="0" marL="0">
              <a:buNone/>
            </a:pPr>
            <a:r>
              <a:rPr lang="en-US" sz="3600" dirty="0">
                <a:solidFill>
                  <a:srgbClr val="F0EEE6"/>
                </a:solidFill>
                <a:latin typeface="Georgia" pitchFamily="34" charset="0"/>
                <a:ea typeface="Georgia" pitchFamily="34" charset="-122"/>
                <a:cs typeface="Georgia" pitchFamily="34" charset="-120"/>
              </a:rPr>
              <a:t>The wiring is boring. That's the point.</a:t>
            </a:r>
            <a:endParaRPr lang="en-US" sz="3600" dirty="0"/>
          </a:p>
        </p:txBody>
      </p:sp>
      <p:sp>
        <p:nvSpPr>
          <p:cNvPr id="5" name="Text 3"/>
          <p:cNvSpPr/>
          <p:nvPr/>
        </p:nvSpPr>
        <p:spPr>
          <a:xfrm>
            <a:off x="548640" y="2834640"/>
            <a:ext cx="3017520" cy="411480"/>
          </a:xfrm>
          <a:prstGeom prst="rect">
            <a:avLst/>
          </a:prstGeom>
          <a:noFill/>
          <a:ln/>
        </p:spPr>
        <p:txBody>
          <a:bodyPr wrap="square" rtlCol="0" anchor="ctr"/>
          <a:lstStyle/>
          <a:p>
            <a:pPr indent="0" marL="0">
              <a:buNone/>
            </a:pPr>
            <a:r>
              <a:rPr lang="en-US" sz="1500" b="1" dirty="0">
                <a:solidFill>
                  <a:srgbClr val="CC785C"/>
                </a:solidFill>
                <a:latin typeface="Calibri" pitchFamily="34" charset="0"/>
                <a:ea typeface="Calibri" pitchFamily="34" charset="-122"/>
                <a:cs typeface="Calibri" pitchFamily="34" charset="-120"/>
              </a:rPr>
              <a:t>Architecture</a:t>
            </a:r>
            <a:endParaRPr lang="en-US" sz="1500" dirty="0"/>
          </a:p>
        </p:txBody>
      </p:sp>
      <p:sp>
        <p:nvSpPr>
          <p:cNvPr id="6" name="Text 4"/>
          <p:cNvSpPr/>
          <p:nvPr/>
        </p:nvSpPr>
        <p:spPr>
          <a:xfrm>
            <a:off x="3657600" y="2834640"/>
            <a:ext cx="8046720" cy="411480"/>
          </a:xfrm>
          <a:prstGeom prst="rect">
            <a:avLst/>
          </a:prstGeom>
          <a:noFill/>
          <a:ln/>
        </p:spPr>
        <p:txBody>
          <a:bodyPr wrap="square" rtlCol="0" anchor="ctr"/>
          <a:lstStyle/>
          <a:p>
            <a:pPr indent="0" marL="0">
              <a:lnSpc>
                <a:spcPct val="120000"/>
              </a:lnSpc>
              <a:buNone/>
            </a:pPr>
            <a:r>
              <a:rPr lang="en-US" sz="1400" dirty="0">
                <a:solidFill>
                  <a:srgbClr val="E8E4D8"/>
                </a:solidFill>
                <a:latin typeface="Calibri" pitchFamily="34" charset="0"/>
                <a:ea typeface="Calibri" pitchFamily="34" charset="-122"/>
                <a:cs typeface="Calibri" pitchFamily="34" charset="-120"/>
              </a:rPr>
              <a:t>Nothing exotic. TLS, SSO, SIEM, vault. Your existing controls apply.</a:t>
            </a:r>
            <a:endParaRPr lang="en-US" sz="1400" dirty="0"/>
          </a:p>
        </p:txBody>
      </p:sp>
      <p:sp>
        <p:nvSpPr>
          <p:cNvPr id="7" name="Text 5"/>
          <p:cNvSpPr/>
          <p:nvPr/>
        </p:nvSpPr>
        <p:spPr>
          <a:xfrm>
            <a:off x="548640" y="3566160"/>
            <a:ext cx="3017520" cy="411480"/>
          </a:xfrm>
          <a:prstGeom prst="rect">
            <a:avLst/>
          </a:prstGeom>
          <a:noFill/>
          <a:ln/>
        </p:spPr>
        <p:txBody>
          <a:bodyPr wrap="square" rtlCol="0" anchor="ctr"/>
          <a:lstStyle/>
          <a:p>
            <a:pPr indent="0" marL="0">
              <a:buNone/>
            </a:pPr>
            <a:r>
              <a:rPr lang="en-US" sz="1500" b="1" dirty="0">
                <a:solidFill>
                  <a:srgbClr val="CC785C"/>
                </a:solidFill>
                <a:latin typeface="Calibri" pitchFamily="34" charset="0"/>
                <a:ea typeface="Calibri" pitchFamily="34" charset="-122"/>
                <a:cs typeface="Calibri" pitchFamily="34" charset="-120"/>
              </a:rPr>
              <a:t>Governance</a:t>
            </a:r>
            <a:endParaRPr lang="en-US" sz="1500" dirty="0"/>
          </a:p>
        </p:txBody>
      </p:sp>
      <p:sp>
        <p:nvSpPr>
          <p:cNvPr id="8" name="Text 6"/>
          <p:cNvSpPr/>
          <p:nvPr/>
        </p:nvSpPr>
        <p:spPr>
          <a:xfrm>
            <a:off x="3657600" y="3566160"/>
            <a:ext cx="8046720" cy="411480"/>
          </a:xfrm>
          <a:prstGeom prst="rect">
            <a:avLst/>
          </a:prstGeom>
          <a:noFill/>
          <a:ln/>
        </p:spPr>
        <p:txBody>
          <a:bodyPr wrap="square" rtlCol="0" anchor="ctr"/>
          <a:lstStyle/>
          <a:p>
            <a:pPr indent="0" marL="0">
              <a:lnSpc>
                <a:spcPct val="120000"/>
              </a:lnSpc>
              <a:buNone/>
            </a:pPr>
            <a:r>
              <a:rPr lang="en-US" sz="1400" dirty="0">
                <a:solidFill>
                  <a:srgbClr val="E8E4D8"/>
                </a:solidFill>
                <a:latin typeface="Calibri" pitchFamily="34" charset="0"/>
                <a:ea typeface="Calibri" pitchFamily="34" charset="-122"/>
                <a:cs typeface="Calibri" pitchFamily="34" charset="-120"/>
              </a:rPr>
              <a:t>CLAUDE.md is a policy file, not a prompt. Owned by platform, reviewed in PR.</a:t>
            </a:r>
            <a:endParaRPr lang="en-US" sz="1400" dirty="0"/>
          </a:p>
        </p:txBody>
      </p:sp>
      <p:sp>
        <p:nvSpPr>
          <p:cNvPr id="9" name="Text 7"/>
          <p:cNvSpPr/>
          <p:nvPr/>
        </p:nvSpPr>
        <p:spPr>
          <a:xfrm>
            <a:off x="548640" y="4297680"/>
            <a:ext cx="3017520" cy="411480"/>
          </a:xfrm>
          <a:prstGeom prst="rect">
            <a:avLst/>
          </a:prstGeom>
          <a:noFill/>
          <a:ln/>
        </p:spPr>
        <p:txBody>
          <a:bodyPr wrap="square" rtlCol="0" anchor="ctr"/>
          <a:lstStyle/>
          <a:p>
            <a:pPr indent="0" marL="0">
              <a:buNone/>
            </a:pPr>
            <a:r>
              <a:rPr lang="en-US" sz="1500" b="1" dirty="0">
                <a:solidFill>
                  <a:srgbClr val="CC785C"/>
                </a:solidFill>
                <a:latin typeface="Calibri" pitchFamily="34" charset="0"/>
                <a:ea typeface="Calibri" pitchFamily="34" charset="-122"/>
                <a:cs typeface="Calibri" pitchFamily="34" charset="-120"/>
              </a:rPr>
              <a:t>Rollout</a:t>
            </a:r>
            <a:endParaRPr lang="en-US" sz="1500" dirty="0"/>
          </a:p>
        </p:txBody>
      </p:sp>
      <p:sp>
        <p:nvSpPr>
          <p:cNvPr id="10" name="Text 8"/>
          <p:cNvSpPr/>
          <p:nvPr/>
        </p:nvSpPr>
        <p:spPr>
          <a:xfrm>
            <a:off x="3657600" y="4297680"/>
            <a:ext cx="8046720" cy="411480"/>
          </a:xfrm>
          <a:prstGeom prst="rect">
            <a:avLst/>
          </a:prstGeom>
          <a:noFill/>
          <a:ln/>
        </p:spPr>
        <p:txBody>
          <a:bodyPr wrap="square" rtlCol="0" anchor="ctr"/>
          <a:lstStyle/>
          <a:p>
            <a:pPr indent="0" marL="0">
              <a:lnSpc>
                <a:spcPct val="120000"/>
              </a:lnSpc>
              <a:buNone/>
            </a:pPr>
            <a:r>
              <a:rPr lang="en-US" sz="1400" dirty="0">
                <a:solidFill>
                  <a:srgbClr val="E8E4D8"/>
                </a:solidFill>
                <a:latin typeface="Calibri" pitchFamily="34" charset="0"/>
                <a:ea typeface="Calibri" pitchFamily="34" charset="-122"/>
                <a:cs typeface="Calibri" pitchFamily="34" charset="-120"/>
              </a:rPr>
              <a:t>Three phases. Each phase is reversible. Measure the right things at each gate.</a:t>
            </a:r>
            <a:endParaRPr lang="en-US" sz="1400" dirty="0"/>
          </a:p>
        </p:txBody>
      </p:sp>
      <p:sp>
        <p:nvSpPr>
          <p:cNvPr id="11" name="Text 9"/>
          <p:cNvSpPr/>
          <p:nvPr/>
        </p:nvSpPr>
        <p:spPr>
          <a:xfrm>
            <a:off x="548640" y="5029200"/>
            <a:ext cx="3017520" cy="411480"/>
          </a:xfrm>
          <a:prstGeom prst="rect">
            <a:avLst/>
          </a:prstGeom>
          <a:noFill/>
          <a:ln/>
        </p:spPr>
        <p:txBody>
          <a:bodyPr wrap="square" rtlCol="0" anchor="ctr"/>
          <a:lstStyle/>
          <a:p>
            <a:pPr indent="0" marL="0">
              <a:buNone/>
            </a:pPr>
            <a:r>
              <a:rPr lang="en-US" sz="1500" b="1" dirty="0">
                <a:solidFill>
                  <a:srgbClr val="CC785C"/>
                </a:solidFill>
                <a:latin typeface="Calibri" pitchFamily="34" charset="0"/>
                <a:ea typeface="Calibri" pitchFamily="34" charset="-122"/>
                <a:cs typeface="Calibri" pitchFamily="34" charset="-120"/>
              </a:rPr>
              <a:t>Failure modes</a:t>
            </a:r>
            <a:endParaRPr lang="en-US" sz="1500" dirty="0"/>
          </a:p>
        </p:txBody>
      </p:sp>
      <p:sp>
        <p:nvSpPr>
          <p:cNvPr id="12" name="Text 10"/>
          <p:cNvSpPr/>
          <p:nvPr/>
        </p:nvSpPr>
        <p:spPr>
          <a:xfrm>
            <a:off x="3657600" y="5029200"/>
            <a:ext cx="8046720" cy="411480"/>
          </a:xfrm>
          <a:prstGeom prst="rect">
            <a:avLst/>
          </a:prstGeom>
          <a:noFill/>
          <a:ln/>
        </p:spPr>
        <p:txBody>
          <a:bodyPr wrap="square" rtlCol="0" anchor="ctr"/>
          <a:lstStyle/>
          <a:p>
            <a:pPr indent="0" marL="0">
              <a:lnSpc>
                <a:spcPct val="120000"/>
              </a:lnSpc>
              <a:buNone/>
            </a:pPr>
            <a:r>
              <a:rPr lang="en-US" sz="1400" dirty="0">
                <a:solidFill>
                  <a:srgbClr val="E8E4D8"/>
                </a:solidFill>
                <a:latin typeface="Calibri" pitchFamily="34" charset="0"/>
                <a:ea typeface="Calibri" pitchFamily="34" charset="-122"/>
                <a:cs typeface="Calibri" pitchFamily="34" charset="-120"/>
              </a:rPr>
              <a:t>Named and mitigated. No one's hand-waving.</a:t>
            </a:r>
            <a:endParaRPr lang="en-US" sz="1400" dirty="0"/>
          </a:p>
        </p:txBody>
      </p:sp>
      <p:sp>
        <p:nvSpPr>
          <p:cNvPr id="13" name="Shape 11"/>
          <p:cNvSpPr/>
          <p:nvPr/>
        </p:nvSpPr>
        <p:spPr>
          <a:xfrm>
            <a:off x="548640" y="6126480"/>
            <a:ext cx="2011680" cy="0"/>
          </a:xfrm>
          <a:prstGeom prst="line">
            <a:avLst/>
          </a:prstGeom>
          <a:noFill/>
          <a:ln w="25400">
            <a:solidFill>
              <a:srgbClr val="CC785C"/>
            </a:solidFill>
            <a:prstDash val="solid"/>
          </a:ln>
        </p:spPr>
      </p:sp>
      <p:sp>
        <p:nvSpPr>
          <p:cNvPr id="14" name="Text 12"/>
          <p:cNvSpPr/>
          <p:nvPr/>
        </p:nvSpPr>
        <p:spPr>
          <a:xfrm>
            <a:off x="548640" y="6263640"/>
            <a:ext cx="10972800" cy="365760"/>
          </a:xfrm>
          <a:prstGeom prst="rect">
            <a:avLst/>
          </a:prstGeom>
          <a:noFill/>
          <a:ln/>
        </p:spPr>
        <p:txBody>
          <a:bodyPr wrap="square" rtlCol="0" anchor="ctr"/>
          <a:lstStyle/>
          <a:p>
            <a:pPr indent="0" marL="0">
              <a:buNone/>
            </a:pPr>
            <a:r>
              <a:rPr lang="en-US" sz="1300" i="1" dirty="0">
                <a:solidFill>
                  <a:srgbClr val="E8E4D8"/>
                </a:solidFill>
                <a:latin typeface="Calibri" pitchFamily="34" charset="0"/>
                <a:ea typeface="Calibri" pitchFamily="34" charset="-122"/>
                <a:cs typeface="Calibri" pitchFamily="34" charset="-120"/>
              </a:rPr>
              <a:t>Happy to pull any of these apart in Q&amp;A.</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2026-04-14T15:02:41Z</dcterms:created>
  <dcterms:modified xsi:type="dcterms:W3CDTF">2026-04-14T15:02:41Z</dcterms:modified>
</cp:coreProperties>
</file>